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 projet comme une organisation commune : l’objectif est que chacun puisse la comprendre et l’appliquer. Annoncer le déroulé : la journée, les rôles, les templates, la rotation, la charge de travail et la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structure du planning ne change pas. On distingue simplement plus clairement les deux activités : 3 heures en réception et 4 heures en sortant / Working on, avec une journée spécifique à 4 heures de réception et 3 heures de sortant. Les horaires et le jour concerné sont ceux du planning de chacun.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la complémentarité : une tâche bien créée en réception, c’est un rappel plus simple en sortant. Le référent distribue et équilibre ; le suppléant prend le relais en son absence.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appel est qualifié avec le template correspondant. Le but n’est pas d’ajouter du travail, mais d’éviter les allers-retours pour récupérer une information manquante.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les champs un à un, puis l’exemple fictif. Comparer avec une tâche trop vague : l’agent sortant devrait tout redemander.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templates ont exactement les mêmes champs. La différence se joue sur la catégorie, qui doit correspondre au traitement applicable dans le processus existant.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Huit champs, regroupés ici pour être retenus plus facilement : identité, contact, entreprise, suivi. Plus le dossier est complet, plus la reprise est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éléments essentiels : la demande du client et l’action concrète à réaliser. Montrer la différence entre la description d’un problème et une tâche exploitable.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Dérouler le cycle étape par étape (bouton « Étape suivante »). Le dispatch est fait manuellement par le référent pour commencer ; l’automatisation sera envisagée dans un second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règles calmement : elles servent à garder une charge maîtrisée, à respecter les délais et à limiter les demandes en attente. Signaler tôt une difficulté permet d’ajuster.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 distinguer ce qui s’applique dès maintenant et ce qui arrivera plus tard (automatisation du dispatch, agenda connecté).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 message, puis reprendre les trois réflexes à retenir.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la discussion. Les boutons permettent de revenir directement sur une diapositive pour répondre à une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E30613"/>
          </a:solidFill>
          <a:ln/>
        </p:spPr>
      </p:sp>
      <p:sp>
        <p:nvSpPr>
          <p:cNvPr id="3" name="Text 1"/>
          <p:cNvSpPr/>
          <p:nvPr/>
        </p:nvSpPr>
        <p:spPr>
          <a:xfrm>
            <a:off x="10728655" y="6400800"/>
            <a:ext cx="1188720" cy="274320"/>
          </a:xfrm>
          <a:prstGeom prst="rect">
            <a:avLst/>
          </a:prstGeom>
          <a:noFill/>
          <a:ln/>
        </p:spPr>
        <p:txBody>
          <a:bodyPr wrap="square" rtlCol="0" anchor="ctr"/>
          <a:lstStyle/>
          <a:p>
            <a:pPr algn="r" indent="0" marL="0">
              <a:buNone/>
            </a:pPr>
            <a:r>
              <a:rPr lang="en-US" sz="1100" b="1" dirty="0">
                <a:solidFill>
                  <a:srgbClr val="6B6B6B"/>
                </a:solidFill>
                <a:latin typeface="Arial" pitchFamily="34" charset="0"/>
                <a:ea typeface="Arial" pitchFamily="34" charset="-122"/>
                <a:cs typeface="Arial" pitchFamily="34" charset="-120"/>
              </a:rPr>
              <a:t>1 / 13</a:t>
            </a:r>
            <a:endParaRPr lang="en-US" sz="1100" dirty="0"/>
          </a:p>
        </p:txBody>
      </p:sp>
      <p:sp>
        <p:nvSpPr>
          <p:cNvPr id="5" name="Shape 2"/>
          <p:cNvSpPr/>
          <p:nvPr/>
        </p:nvSpPr>
        <p:spPr>
          <a:xfrm>
            <a:off x="8229600" y="0"/>
            <a:ext cx="1463040" cy="6858000"/>
          </a:xfrm>
          <a:prstGeom prst="parallelogram">
            <a:avLst/>
          </a:prstGeom>
          <a:solidFill>
            <a:srgbClr val="E30613">
              <a:alpha val="50000"/>
            </a:srgbClr>
          </a:solidFill>
          <a:ln/>
        </p:spPr>
      </p:sp>
      <p:sp>
        <p:nvSpPr>
          <p:cNvPr id="6" name="Shape 3"/>
          <p:cNvSpPr/>
          <p:nvPr/>
        </p:nvSpPr>
        <p:spPr>
          <a:xfrm>
            <a:off x="9006840" y="0"/>
            <a:ext cx="1463040" cy="6858000"/>
          </a:xfrm>
          <a:prstGeom prst="parallelogram">
            <a:avLst/>
          </a:prstGeom>
          <a:solidFill>
            <a:srgbClr val="E30613">
              <a:alpha val="62000"/>
            </a:srgbClr>
          </a:solidFill>
          <a:ln/>
        </p:spPr>
      </p:sp>
      <p:sp>
        <p:nvSpPr>
          <p:cNvPr id="7" name="Shape 4"/>
          <p:cNvSpPr/>
          <p:nvPr/>
        </p:nvSpPr>
        <p:spPr>
          <a:xfrm>
            <a:off x="9784080" y="0"/>
            <a:ext cx="1463040" cy="6858000"/>
          </a:xfrm>
          <a:prstGeom prst="parallelogram">
            <a:avLst/>
          </a:prstGeom>
          <a:solidFill>
            <a:srgbClr val="E30613">
              <a:alpha val="74000"/>
            </a:srgbClr>
          </a:solidFill>
          <a:ln/>
        </p:spPr>
      </p:sp>
      <p:sp>
        <p:nvSpPr>
          <p:cNvPr id="8" name="Shape 5"/>
          <p:cNvSpPr/>
          <p:nvPr/>
        </p:nvSpPr>
        <p:spPr>
          <a:xfrm>
            <a:off x="10561320" y="0"/>
            <a:ext cx="1463040" cy="6858000"/>
          </a:xfrm>
          <a:prstGeom prst="parallelogram">
            <a:avLst/>
          </a:prstGeom>
          <a:solidFill>
            <a:srgbClr val="E30613">
              <a:alpha val="86000"/>
            </a:srgbClr>
          </a:solidFill>
          <a:ln/>
        </p:spPr>
      </p:sp>
      <p:sp>
        <p:nvSpPr>
          <p:cNvPr id="9" name="Shape 6"/>
          <p:cNvSpPr/>
          <p:nvPr/>
        </p:nvSpPr>
        <p:spPr>
          <a:xfrm>
            <a:off x="11338560" y="0"/>
            <a:ext cx="1463040" cy="6858000"/>
          </a:xfrm>
          <a:prstGeom prst="parallelogram">
            <a:avLst/>
          </a:prstGeom>
          <a:solidFill>
            <a:srgbClr val="E30613">
              <a:alpha val="98000"/>
            </a:srgbClr>
          </a:solidFill>
          <a:ln/>
        </p:spPr>
      </p:sp>
      <p:sp>
        <p:nvSpPr>
          <p:cNvPr id="10" name="Text 7"/>
          <p:cNvSpPr/>
          <p:nvPr/>
        </p:nvSpPr>
        <p:spPr>
          <a:xfrm>
            <a:off x="914400" y="868680"/>
            <a:ext cx="7315200" cy="320040"/>
          </a:xfrm>
          <a:prstGeom prst="rect">
            <a:avLst/>
          </a:prstGeom>
          <a:noFill/>
          <a:ln/>
        </p:spPr>
        <p:txBody>
          <a:bodyPr wrap="square" rtlCol="0" anchor="ctr"/>
          <a:lstStyle/>
          <a:p>
            <a:pPr indent="0" marL="0">
              <a:buNone/>
            </a:pPr>
            <a:r>
              <a:rPr lang="en-US" sz="1300" b="1" spc="200" kern="0" dirty="0">
                <a:solidFill>
                  <a:srgbClr val="E30613"/>
                </a:solidFill>
                <a:latin typeface="Arial" pitchFamily="34" charset="0"/>
                <a:ea typeface="Arial" pitchFamily="34" charset="-122"/>
                <a:cs typeface="Arial" pitchFamily="34" charset="-120"/>
              </a:rPr>
              <a:t>RÉUNION D’ÉQUIPE · SERVICE MOVERS</a:t>
            </a:r>
            <a:endParaRPr lang="en-US" sz="1300" dirty="0"/>
          </a:p>
        </p:txBody>
      </p:sp>
      <p:sp>
        <p:nvSpPr>
          <p:cNvPr id="11" name="Text 8"/>
          <p:cNvSpPr/>
          <p:nvPr/>
        </p:nvSpPr>
        <p:spPr>
          <a:xfrm>
            <a:off x="914400" y="1234440"/>
            <a:ext cx="7680960" cy="2286000"/>
          </a:xfrm>
          <a:prstGeom prst="rect">
            <a:avLst/>
          </a:prstGeom>
          <a:noFill/>
          <a:ln/>
        </p:spPr>
        <p:txBody>
          <a:bodyPr wrap="square" rtlCol="0" anchor="ctr"/>
          <a:lstStyle/>
          <a:p>
            <a:pPr indent="0" marL="0">
              <a:buNone/>
            </a:pPr>
            <a:r>
              <a:rPr lang="en-US" sz="5400" b="1" dirty="0">
                <a:solidFill>
                  <a:srgbClr val="FFFFFF"/>
                </a:solidFill>
                <a:latin typeface="Arial" pitchFamily="34" charset="0"/>
                <a:ea typeface="Arial" pitchFamily="34" charset="-122"/>
                <a:cs typeface="Arial" pitchFamily="34" charset="-120"/>
              </a:rPr>
              <a:t>Nouvelle organisation </a:t>
            </a:r>
            <a:pPr indent="0" marL="0">
              <a:buNone/>
            </a:pPr>
            <a:r>
              <a:rPr lang="en-US" sz="5400" b="1" dirty="0">
                <a:solidFill>
                  <a:srgbClr val="E30613"/>
                </a:solidFill>
                <a:latin typeface="Arial" pitchFamily="34" charset="0"/>
                <a:ea typeface="Arial" pitchFamily="34" charset="-122"/>
                <a:cs typeface="Arial" pitchFamily="34" charset="-120"/>
              </a:rPr>
              <a:t>Movers</a:t>
            </a:r>
            <a:endParaRPr lang="en-US" sz="5400" dirty="0"/>
          </a:p>
        </p:txBody>
      </p:sp>
      <p:sp>
        <p:nvSpPr>
          <p:cNvPr id="12" name="Text 9"/>
          <p:cNvSpPr/>
          <p:nvPr/>
        </p:nvSpPr>
        <p:spPr>
          <a:xfrm>
            <a:off x="914400" y="3611880"/>
            <a:ext cx="7132320" cy="822960"/>
          </a:xfrm>
          <a:prstGeom prst="rect">
            <a:avLst/>
          </a:prstGeom>
          <a:noFill/>
          <a:ln/>
        </p:spPr>
        <p:txBody>
          <a:bodyPr wrap="square" rtlCol="0" anchor="ctr"/>
          <a:lstStyle/>
          <a:p>
            <a:pPr indent="0" marL="0">
              <a:buNone/>
            </a:pPr>
            <a:r>
              <a:rPr lang="en-US" sz="2000" dirty="0">
                <a:solidFill>
                  <a:srgbClr val="D6D6D6"/>
                </a:solidFill>
                <a:latin typeface="Arial" pitchFamily="34" charset="0"/>
                <a:ea typeface="Arial" pitchFamily="34" charset="-122"/>
                <a:cs typeface="Arial" pitchFamily="34" charset="-120"/>
              </a:rPr>
              <a:t>Un fonctionnement plus clair, des tâches mieux structurées et une meilleure visibilité pour tous.</a:t>
            </a:r>
            <a:endParaRPr lang="en-US" sz="2000" dirty="0"/>
          </a:p>
        </p:txBody>
      </p:sp>
      <p:sp>
        <p:nvSpPr>
          <p:cNvPr id="13" name="Shape 10"/>
          <p:cNvSpPr/>
          <p:nvPr/>
        </p:nvSpPr>
        <p:spPr>
          <a:xfrm>
            <a:off x="914400" y="4526280"/>
            <a:ext cx="2377440" cy="731520"/>
          </a:xfrm>
          <a:prstGeom prst="roundRect">
            <a:avLst>
              <a:gd name="adj" fmla="val 15000"/>
            </a:avLst>
          </a:prstGeom>
          <a:solidFill>
            <a:srgbClr val="242424"/>
          </a:solidFill>
          <a:ln/>
        </p:spPr>
      </p:sp>
      <p:sp>
        <p:nvSpPr>
          <p:cNvPr id="14" name="Shape 11"/>
          <p:cNvSpPr/>
          <p:nvPr/>
        </p:nvSpPr>
        <p:spPr>
          <a:xfrm>
            <a:off x="1078992" y="4754880"/>
            <a:ext cx="73152" cy="274320"/>
          </a:xfrm>
          <a:prstGeom prst="rect">
            <a:avLst/>
          </a:prstGeom>
          <a:solidFill>
            <a:srgbClr val="E30613"/>
          </a:solidFill>
          <a:ln/>
        </p:spPr>
      </p:sp>
      <p:sp>
        <p:nvSpPr>
          <p:cNvPr id="15" name="Text 12"/>
          <p:cNvSpPr/>
          <p:nvPr/>
        </p:nvSpPr>
        <p:spPr>
          <a:xfrm>
            <a:off x="1234440" y="4526280"/>
            <a:ext cx="2011680" cy="7315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Un fonctionnement plus clair</a:t>
            </a:r>
            <a:endParaRPr lang="en-US" sz="1300" dirty="0"/>
          </a:p>
        </p:txBody>
      </p:sp>
      <p:sp>
        <p:nvSpPr>
          <p:cNvPr id="16" name="Shape 13"/>
          <p:cNvSpPr/>
          <p:nvPr/>
        </p:nvSpPr>
        <p:spPr>
          <a:xfrm>
            <a:off x="3429000" y="4526280"/>
            <a:ext cx="2377440" cy="731520"/>
          </a:xfrm>
          <a:prstGeom prst="roundRect">
            <a:avLst>
              <a:gd name="adj" fmla="val 15000"/>
            </a:avLst>
          </a:prstGeom>
          <a:solidFill>
            <a:srgbClr val="242424"/>
          </a:solidFill>
          <a:ln/>
        </p:spPr>
      </p:sp>
      <p:sp>
        <p:nvSpPr>
          <p:cNvPr id="17" name="Shape 14"/>
          <p:cNvSpPr/>
          <p:nvPr/>
        </p:nvSpPr>
        <p:spPr>
          <a:xfrm>
            <a:off x="3593592" y="4754880"/>
            <a:ext cx="73152" cy="274320"/>
          </a:xfrm>
          <a:prstGeom prst="rect">
            <a:avLst/>
          </a:prstGeom>
          <a:solidFill>
            <a:srgbClr val="E30613"/>
          </a:solidFill>
          <a:ln/>
        </p:spPr>
      </p:sp>
      <p:sp>
        <p:nvSpPr>
          <p:cNvPr id="18" name="Text 15"/>
          <p:cNvSpPr/>
          <p:nvPr/>
        </p:nvSpPr>
        <p:spPr>
          <a:xfrm>
            <a:off x="3749040" y="4526280"/>
            <a:ext cx="2011680" cy="7315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Des tâches mieux structurées</a:t>
            </a:r>
            <a:endParaRPr lang="en-US" sz="1300" dirty="0"/>
          </a:p>
        </p:txBody>
      </p:sp>
      <p:sp>
        <p:nvSpPr>
          <p:cNvPr id="19" name="Shape 16"/>
          <p:cNvSpPr/>
          <p:nvPr/>
        </p:nvSpPr>
        <p:spPr>
          <a:xfrm>
            <a:off x="5943600" y="4526280"/>
            <a:ext cx="2377440" cy="731520"/>
          </a:xfrm>
          <a:prstGeom prst="roundRect">
            <a:avLst>
              <a:gd name="adj" fmla="val 15000"/>
            </a:avLst>
          </a:prstGeom>
          <a:solidFill>
            <a:srgbClr val="242424"/>
          </a:solidFill>
          <a:ln/>
        </p:spPr>
      </p:sp>
      <p:sp>
        <p:nvSpPr>
          <p:cNvPr id="20" name="Shape 17"/>
          <p:cNvSpPr/>
          <p:nvPr/>
        </p:nvSpPr>
        <p:spPr>
          <a:xfrm>
            <a:off x="6108192" y="4754880"/>
            <a:ext cx="73152" cy="274320"/>
          </a:xfrm>
          <a:prstGeom prst="rect">
            <a:avLst/>
          </a:prstGeom>
          <a:solidFill>
            <a:srgbClr val="E30613"/>
          </a:solidFill>
          <a:ln/>
        </p:spPr>
      </p:sp>
      <p:sp>
        <p:nvSpPr>
          <p:cNvPr id="21" name="Text 18"/>
          <p:cNvSpPr/>
          <p:nvPr/>
        </p:nvSpPr>
        <p:spPr>
          <a:xfrm>
            <a:off x="6263640" y="4526280"/>
            <a:ext cx="2011680" cy="7315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Une meilleure visibilité pour tous</a:t>
            </a:r>
            <a:endParaRPr lang="en-US" sz="1300" dirty="0"/>
          </a:p>
        </p:txBody>
      </p:sp>
      <p:sp>
        <p:nvSpPr>
          <p:cNvPr id="22" name="Text 19"/>
          <p:cNvSpPr/>
          <p:nvPr/>
        </p:nvSpPr>
        <p:spPr>
          <a:xfrm>
            <a:off x="914400" y="5577840"/>
            <a:ext cx="7315200" cy="365760"/>
          </a:xfrm>
          <a:prstGeom prst="rect">
            <a:avLst/>
          </a:prstGeom>
          <a:noFill/>
          <a:ln/>
        </p:spPr>
        <p:txBody>
          <a:bodyPr wrap="square" rtlCol="0" anchor="ctr"/>
          <a:lstStyle/>
          <a:p>
            <a:pPr indent="0" marL="0">
              <a:buNone/>
            </a:pPr>
            <a:r>
              <a:rPr lang="en-US" sz="1300" dirty="0">
                <a:solidFill>
                  <a:srgbClr val="A8A8A8"/>
                </a:solidFill>
                <a:latin typeface="Arial" pitchFamily="34" charset="0"/>
                <a:ea typeface="Arial" pitchFamily="34" charset="-122"/>
                <a:cs typeface="Arial" pitchFamily="34" charset="-120"/>
              </a:rPr>
              <a:t>Une organisation commune, que toute l’équipe peut comprendre et appliquer.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E30613"/>
          </a:solidFill>
          <a:ln/>
        </p:spPr>
      </p:sp>
      <p:sp>
        <p:nvSpPr>
          <p:cNvPr id="3" name="Text 1"/>
          <p:cNvSpPr/>
          <p:nvPr/>
        </p:nvSpPr>
        <p:spPr>
          <a:xfrm>
            <a:off x="10728655" y="6400800"/>
            <a:ext cx="1188720" cy="274320"/>
          </a:xfrm>
          <a:prstGeom prst="rect">
            <a:avLst/>
          </a:prstGeom>
          <a:noFill/>
          <a:ln/>
        </p:spPr>
        <p:txBody>
          <a:bodyPr wrap="square" rtlCol="0" anchor="ctr"/>
          <a:lstStyle/>
          <a:p>
            <a:pPr algn="r" indent="0" marL="0">
              <a:buNone/>
            </a:pPr>
            <a:r>
              <a:rPr lang="en-US" sz="1100" b="1" dirty="0">
                <a:solidFill>
                  <a:srgbClr val="6B6B6B"/>
                </a:solidFill>
                <a:latin typeface="Arial" pitchFamily="34" charset="0"/>
                <a:ea typeface="Arial" pitchFamily="34" charset="-122"/>
                <a:cs typeface="Arial" pitchFamily="34" charset="-120"/>
              </a:rPr>
              <a:t>2 / 13</a:t>
            </a:r>
            <a:endParaRPr lang="en-US" sz="1100" dirty="0"/>
          </a:p>
        </p:txBody>
      </p:sp>
      <p:sp>
        <p:nvSpPr>
          <p:cNvPr id="5" name="Text 2"/>
          <p:cNvSpPr/>
          <p:nvPr/>
        </p:nvSpPr>
        <p:spPr>
          <a:xfrm>
            <a:off x="685800" y="411480"/>
            <a:ext cx="10820095" cy="274320"/>
          </a:xfrm>
          <a:prstGeom prst="rect">
            <a:avLst/>
          </a:prstGeom>
          <a:noFill/>
          <a:ln/>
        </p:spPr>
        <p:txBody>
          <a:bodyPr wrap="square" rtlCol="0" anchor="ctr"/>
          <a:lstStyle/>
          <a:p>
            <a:pPr indent="0" marL="0">
              <a:buNone/>
            </a:pPr>
            <a:r>
              <a:rPr lang="en-US" sz="1200" b="1" spc="200" kern="0" dirty="0">
                <a:solidFill>
                  <a:srgbClr val="E30613"/>
                </a:solidFill>
                <a:latin typeface="Arial" pitchFamily="34" charset="0"/>
                <a:ea typeface="Arial" pitchFamily="34" charset="-122"/>
                <a:cs typeface="Arial" pitchFamily="34" charset="-120"/>
              </a:rPr>
              <a:t>LE PLANNING</a:t>
            </a:r>
            <a:endParaRPr lang="en-US" sz="1200" dirty="0"/>
          </a:p>
        </p:txBody>
      </p:sp>
      <p:sp>
        <p:nvSpPr>
          <p:cNvPr id="6" name="Text 3"/>
          <p:cNvSpPr/>
          <p:nvPr/>
        </p:nvSpPr>
        <p:spPr>
          <a:xfrm>
            <a:off x="685800" y="685800"/>
            <a:ext cx="10820095" cy="685800"/>
          </a:xfrm>
          <a:prstGeom prst="rect">
            <a:avLst/>
          </a:prstGeom>
          <a:noFill/>
          <a:ln/>
        </p:spPr>
        <p:txBody>
          <a:bodyPr wrap="square" rtlCol="0" anchor="ctr"/>
          <a:lstStyle/>
          <a:p>
            <a:pPr indent="0" marL="0">
              <a:buNone/>
            </a:pPr>
            <a:r>
              <a:rPr lang="en-US" sz="3200" b="1" dirty="0">
                <a:solidFill>
                  <a:srgbClr val="111111"/>
                </a:solidFill>
                <a:latin typeface="Arial" pitchFamily="34" charset="0"/>
                <a:ea typeface="Arial" pitchFamily="34" charset="-122"/>
                <a:cs typeface="Arial" pitchFamily="34" charset="-120"/>
              </a:rPr>
              <a:t>Comment va fonctionner notre journée ?</a:t>
            </a:r>
            <a:endParaRPr lang="en-US" sz="3200" dirty="0"/>
          </a:p>
        </p:txBody>
      </p:sp>
      <p:sp>
        <p:nvSpPr>
          <p:cNvPr id="7" name="Text 4"/>
          <p:cNvSpPr/>
          <p:nvPr/>
        </p:nvSpPr>
        <p:spPr>
          <a:xfrm>
            <a:off x="685800" y="1463040"/>
            <a:ext cx="10820095" cy="548640"/>
          </a:xfrm>
          <a:prstGeom prst="rect">
            <a:avLst/>
          </a:prstGeom>
          <a:noFill/>
          <a:ln/>
        </p:spPr>
        <p:txBody>
          <a:bodyPr wrap="square" rtlCol="0" anchor="ctr"/>
          <a:lstStyle/>
          <a:p>
            <a:pPr indent="0" marL="0">
              <a:buNone/>
            </a:pPr>
            <a:r>
              <a:rPr lang="en-US" sz="1700" dirty="0">
                <a:solidFill>
                  <a:srgbClr val="242424"/>
                </a:solidFill>
                <a:latin typeface="Arial" pitchFamily="34" charset="0"/>
                <a:ea typeface="Arial" pitchFamily="34" charset="-122"/>
                <a:cs typeface="Arial" pitchFamily="34" charset="-120"/>
              </a:rPr>
              <a:t>La structure du planning reste la même qu’avant. Ce qui change : une séparation plus claire entre les deux activités.</a:t>
            </a:r>
            <a:endParaRPr lang="en-US" sz="1700" dirty="0"/>
          </a:p>
        </p:txBody>
      </p:sp>
      <p:sp>
        <p:nvSpPr>
          <p:cNvPr id="8" name="Text 5"/>
          <p:cNvSpPr/>
          <p:nvPr/>
        </p:nvSpPr>
        <p:spPr>
          <a:xfrm>
            <a:off x="685800" y="2194560"/>
            <a:ext cx="2103120" cy="640080"/>
          </a:xfrm>
          <a:prstGeom prst="rect">
            <a:avLst/>
          </a:prstGeom>
          <a:noFill/>
          <a:ln/>
        </p:spPr>
        <p:txBody>
          <a:bodyPr wrap="square" rtlCol="0" anchor="ctr"/>
          <a:lstStyle/>
          <a:p>
            <a:pPr indent="0" marL="0">
              <a:buNone/>
            </a:pPr>
            <a:r>
              <a:rPr lang="en-US" sz="1400" b="1" dirty="0">
                <a:solidFill>
                  <a:srgbClr val="111111"/>
                </a:solidFill>
                <a:latin typeface="Arial" pitchFamily="34" charset="0"/>
                <a:ea typeface="Arial" pitchFamily="34" charset="-122"/>
                <a:cs typeface="Arial" pitchFamily="34" charset="-120"/>
              </a:rPr>
              <a:t>Journée habituelle</a:t>
            </a:r>
            <a:endParaRPr lang="en-US" sz="1400" dirty="0"/>
          </a:p>
        </p:txBody>
      </p:sp>
      <p:sp>
        <p:nvSpPr>
          <p:cNvPr id="9" name="Shape 6"/>
          <p:cNvSpPr/>
          <p:nvPr/>
        </p:nvSpPr>
        <p:spPr>
          <a:xfrm>
            <a:off x="2834640" y="2194560"/>
            <a:ext cx="3696658" cy="640080"/>
          </a:xfrm>
          <a:prstGeom prst="roundRect">
            <a:avLst>
              <a:gd name="adj" fmla="val 17143"/>
            </a:avLst>
          </a:prstGeom>
          <a:solidFill>
            <a:srgbClr val="FFFFFF"/>
          </a:solidFill>
          <a:ln w="25400">
            <a:solidFill>
              <a:srgbClr val="111111"/>
            </a:solidFill>
            <a:prstDash val="solid"/>
          </a:ln>
        </p:spPr>
      </p:sp>
      <p:sp>
        <p:nvSpPr>
          <p:cNvPr id="10" name="Text 7"/>
          <p:cNvSpPr/>
          <p:nvPr/>
        </p:nvSpPr>
        <p:spPr>
          <a:xfrm>
            <a:off x="3017520" y="2194560"/>
            <a:ext cx="3422338" cy="640080"/>
          </a:xfrm>
          <a:prstGeom prst="rect">
            <a:avLst/>
          </a:prstGeom>
          <a:noFill/>
          <a:ln/>
        </p:spPr>
        <p:txBody>
          <a:bodyPr wrap="square" rtlCol="0" anchor="ctr"/>
          <a:lstStyle/>
          <a:p>
            <a:pPr indent="0" marL="0">
              <a:buNone/>
            </a:pPr>
            <a:r>
              <a:rPr lang="en-US" sz="2400" b="1" dirty="0">
                <a:solidFill>
                  <a:srgbClr val="111111"/>
                </a:solidFill>
                <a:latin typeface="Arial" pitchFamily="34" charset="0"/>
                <a:ea typeface="Arial" pitchFamily="34" charset="-122"/>
                <a:cs typeface="Arial" pitchFamily="34" charset="-120"/>
              </a:rPr>
              <a:t>3 h   </a:t>
            </a:r>
            <a:pPr indent="0" marL="0">
              <a:buNone/>
            </a:pPr>
            <a:r>
              <a:rPr lang="en-US" sz="1400" b="1" dirty="0">
                <a:solidFill>
                  <a:srgbClr val="111111"/>
                </a:solidFill>
                <a:latin typeface="Arial" pitchFamily="34" charset="0"/>
                <a:ea typeface="Arial" pitchFamily="34" charset="-122"/>
                <a:cs typeface="Arial" pitchFamily="34" charset="-120"/>
              </a:rPr>
              <a:t>Réception · Entrant</a:t>
            </a:r>
            <a:endParaRPr lang="en-US" sz="2400" dirty="0"/>
          </a:p>
        </p:txBody>
      </p:sp>
      <p:sp>
        <p:nvSpPr>
          <p:cNvPr id="11" name="Shape 8"/>
          <p:cNvSpPr/>
          <p:nvPr/>
        </p:nvSpPr>
        <p:spPr>
          <a:xfrm>
            <a:off x="6577018" y="2194560"/>
            <a:ext cx="4928877" cy="640080"/>
          </a:xfrm>
          <a:prstGeom prst="roundRect">
            <a:avLst>
              <a:gd name="adj" fmla="val 17143"/>
            </a:avLst>
          </a:prstGeom>
          <a:solidFill>
            <a:srgbClr val="111111"/>
          </a:solidFill>
          <a:ln/>
        </p:spPr>
      </p:sp>
      <p:sp>
        <p:nvSpPr>
          <p:cNvPr id="12" name="Text 9"/>
          <p:cNvSpPr/>
          <p:nvPr/>
        </p:nvSpPr>
        <p:spPr>
          <a:xfrm>
            <a:off x="6759898" y="2194560"/>
            <a:ext cx="4654557" cy="640080"/>
          </a:xfrm>
          <a:prstGeom prst="rect">
            <a:avLst/>
          </a:prstGeom>
          <a:noFill/>
          <a:ln/>
        </p:spPr>
        <p:txBody>
          <a:bodyPr wrap="square" rtlCol="0" anchor="ctr"/>
          <a:lstStyle/>
          <a:p>
            <a:pPr indent="0" marL="0">
              <a:buNone/>
            </a:pPr>
            <a:r>
              <a:rPr lang="en-US" sz="2400" b="1" dirty="0">
                <a:solidFill>
                  <a:srgbClr val="E30613"/>
                </a:solidFill>
                <a:latin typeface="Arial" pitchFamily="34" charset="0"/>
                <a:ea typeface="Arial" pitchFamily="34" charset="-122"/>
                <a:cs typeface="Arial" pitchFamily="34" charset="-120"/>
              </a:rPr>
              <a:t>4 h   </a:t>
            </a:r>
            <a:pPr indent="0" marL="0">
              <a:buNone/>
            </a:pPr>
            <a:r>
              <a:rPr lang="en-US" sz="1400" b="1" dirty="0">
                <a:solidFill>
                  <a:srgbClr val="FFFFFF"/>
                </a:solidFill>
                <a:latin typeface="Arial" pitchFamily="34" charset="0"/>
                <a:ea typeface="Arial" pitchFamily="34" charset="-122"/>
                <a:cs typeface="Arial" pitchFamily="34" charset="-120"/>
              </a:rPr>
              <a:t>Sortant · Working on</a:t>
            </a:r>
            <a:endParaRPr lang="en-US" sz="2400" dirty="0"/>
          </a:p>
        </p:txBody>
      </p:sp>
      <p:sp>
        <p:nvSpPr>
          <p:cNvPr id="13" name="Text 10"/>
          <p:cNvSpPr/>
          <p:nvPr/>
        </p:nvSpPr>
        <p:spPr>
          <a:xfrm>
            <a:off x="685800" y="2971800"/>
            <a:ext cx="2103120" cy="640080"/>
          </a:xfrm>
          <a:prstGeom prst="rect">
            <a:avLst/>
          </a:prstGeom>
          <a:noFill/>
          <a:ln/>
        </p:spPr>
        <p:txBody>
          <a:bodyPr wrap="square" rtlCol="0" anchor="ctr"/>
          <a:lstStyle/>
          <a:p>
            <a:pPr indent="0" marL="0">
              <a:buNone/>
            </a:pPr>
            <a:r>
              <a:rPr lang="en-US" sz="1400" b="1" dirty="0">
                <a:solidFill>
                  <a:srgbClr val="E30613"/>
                </a:solidFill>
                <a:latin typeface="Arial" pitchFamily="34" charset="0"/>
                <a:ea typeface="Arial" pitchFamily="34" charset="-122"/>
                <a:cs typeface="Arial" pitchFamily="34" charset="-120"/>
              </a:rPr>
              <a:t>Une journée spécifique</a:t>
            </a:r>
            <a:endParaRPr lang="en-US" sz="1400" dirty="0"/>
          </a:p>
        </p:txBody>
      </p:sp>
      <p:sp>
        <p:nvSpPr>
          <p:cNvPr id="14" name="Shape 11"/>
          <p:cNvSpPr/>
          <p:nvPr/>
        </p:nvSpPr>
        <p:spPr>
          <a:xfrm>
            <a:off x="2834640" y="2971800"/>
            <a:ext cx="4928877" cy="640080"/>
          </a:xfrm>
          <a:prstGeom prst="roundRect">
            <a:avLst>
              <a:gd name="adj" fmla="val 17143"/>
            </a:avLst>
          </a:prstGeom>
          <a:solidFill>
            <a:srgbClr val="FFFFFF"/>
          </a:solidFill>
          <a:ln w="25400">
            <a:solidFill>
              <a:srgbClr val="111111"/>
            </a:solidFill>
            <a:prstDash val="solid"/>
          </a:ln>
        </p:spPr>
      </p:sp>
      <p:sp>
        <p:nvSpPr>
          <p:cNvPr id="15" name="Text 12"/>
          <p:cNvSpPr/>
          <p:nvPr/>
        </p:nvSpPr>
        <p:spPr>
          <a:xfrm>
            <a:off x="3017520" y="2971800"/>
            <a:ext cx="4654557" cy="640080"/>
          </a:xfrm>
          <a:prstGeom prst="rect">
            <a:avLst/>
          </a:prstGeom>
          <a:noFill/>
          <a:ln/>
        </p:spPr>
        <p:txBody>
          <a:bodyPr wrap="square" rtlCol="0" anchor="ctr"/>
          <a:lstStyle/>
          <a:p>
            <a:pPr indent="0" marL="0">
              <a:buNone/>
            </a:pPr>
            <a:r>
              <a:rPr lang="en-US" sz="2400" b="1" dirty="0">
                <a:solidFill>
                  <a:srgbClr val="111111"/>
                </a:solidFill>
                <a:latin typeface="Arial" pitchFamily="34" charset="0"/>
                <a:ea typeface="Arial" pitchFamily="34" charset="-122"/>
                <a:cs typeface="Arial" pitchFamily="34" charset="-120"/>
              </a:rPr>
              <a:t>4 h   </a:t>
            </a:r>
            <a:pPr indent="0" marL="0">
              <a:buNone/>
            </a:pPr>
            <a:r>
              <a:rPr lang="en-US" sz="1400" b="1" dirty="0">
                <a:solidFill>
                  <a:srgbClr val="111111"/>
                </a:solidFill>
                <a:latin typeface="Arial" pitchFamily="34" charset="0"/>
                <a:ea typeface="Arial" pitchFamily="34" charset="-122"/>
                <a:cs typeface="Arial" pitchFamily="34" charset="-120"/>
              </a:rPr>
              <a:t>Réception · Entrant</a:t>
            </a:r>
            <a:endParaRPr lang="en-US" sz="2400" dirty="0"/>
          </a:p>
        </p:txBody>
      </p:sp>
      <p:sp>
        <p:nvSpPr>
          <p:cNvPr id="16" name="Shape 13"/>
          <p:cNvSpPr/>
          <p:nvPr/>
        </p:nvSpPr>
        <p:spPr>
          <a:xfrm>
            <a:off x="7809237" y="2971800"/>
            <a:ext cx="3696658" cy="640080"/>
          </a:xfrm>
          <a:prstGeom prst="roundRect">
            <a:avLst>
              <a:gd name="adj" fmla="val 17143"/>
            </a:avLst>
          </a:prstGeom>
          <a:solidFill>
            <a:srgbClr val="111111"/>
          </a:solidFill>
          <a:ln/>
        </p:spPr>
      </p:sp>
      <p:sp>
        <p:nvSpPr>
          <p:cNvPr id="17" name="Text 14"/>
          <p:cNvSpPr/>
          <p:nvPr/>
        </p:nvSpPr>
        <p:spPr>
          <a:xfrm>
            <a:off x="7992117" y="2971800"/>
            <a:ext cx="3422338" cy="640080"/>
          </a:xfrm>
          <a:prstGeom prst="rect">
            <a:avLst/>
          </a:prstGeom>
          <a:noFill/>
          <a:ln/>
        </p:spPr>
        <p:txBody>
          <a:bodyPr wrap="square" rtlCol="0" anchor="ctr"/>
          <a:lstStyle/>
          <a:p>
            <a:pPr indent="0" marL="0">
              <a:buNone/>
            </a:pPr>
            <a:r>
              <a:rPr lang="en-US" sz="2400" b="1" dirty="0">
                <a:solidFill>
                  <a:srgbClr val="E30613"/>
                </a:solidFill>
                <a:latin typeface="Arial" pitchFamily="34" charset="0"/>
                <a:ea typeface="Arial" pitchFamily="34" charset="-122"/>
                <a:cs typeface="Arial" pitchFamily="34" charset="-120"/>
              </a:rPr>
              <a:t>3 h   </a:t>
            </a:r>
            <a:pPr indent="0" marL="0">
              <a:buNone/>
            </a:pPr>
            <a:r>
              <a:rPr lang="en-US" sz="1400" b="1" dirty="0">
                <a:solidFill>
                  <a:srgbClr val="FFFFFF"/>
                </a:solidFill>
                <a:latin typeface="Arial" pitchFamily="34" charset="0"/>
                <a:ea typeface="Arial" pitchFamily="34" charset="-122"/>
                <a:cs typeface="Arial" pitchFamily="34" charset="-120"/>
              </a:rPr>
              <a:t>Sortant · Working on</a:t>
            </a:r>
            <a:endParaRPr lang="en-US" sz="2400" dirty="0"/>
          </a:p>
        </p:txBody>
      </p:sp>
      <p:sp>
        <p:nvSpPr>
          <p:cNvPr id="18" name="Text 15"/>
          <p:cNvSpPr/>
          <p:nvPr/>
        </p:nvSpPr>
        <p:spPr>
          <a:xfrm>
            <a:off x="2834640" y="3749040"/>
            <a:ext cx="8671255" cy="320040"/>
          </a:xfrm>
          <a:prstGeom prst="rect">
            <a:avLst/>
          </a:prstGeom>
          <a:noFill/>
          <a:ln/>
        </p:spPr>
        <p:txBody>
          <a:bodyPr wrap="square" rtlCol="0" anchor="ctr"/>
          <a:lstStyle/>
          <a:p>
            <a:pPr indent="0" marL="0">
              <a:buNone/>
            </a:pPr>
            <a:r>
              <a:rPr lang="en-US" sz="1200" i="1" dirty="0">
                <a:solidFill>
                  <a:srgbClr val="6B6B6B"/>
                </a:solidFill>
                <a:latin typeface="Arial" pitchFamily="34" charset="0"/>
                <a:ea typeface="Arial" pitchFamily="34" charset="-122"/>
                <a:cs typeface="Arial" pitchFamily="34" charset="-120"/>
              </a:rPr>
              <a:t>Les horaires précis et le jour concerné sont indiqués dans votre planning.</a:t>
            </a:r>
            <a:endParaRPr lang="en-US" sz="1200" dirty="0"/>
          </a:p>
        </p:txBody>
      </p:sp>
      <p:sp>
        <p:nvSpPr>
          <p:cNvPr id="19" name="Shape 16"/>
          <p:cNvSpPr/>
          <p:nvPr/>
        </p:nvSpPr>
        <p:spPr>
          <a:xfrm>
            <a:off x="685800" y="4343400"/>
            <a:ext cx="5318608" cy="1783080"/>
          </a:xfrm>
          <a:prstGeom prst="roundRect">
            <a:avLst>
              <a:gd name="adj" fmla="val 6154"/>
            </a:avLst>
          </a:prstGeom>
          <a:solidFill>
            <a:srgbClr val="FFFFFF"/>
          </a:solidFill>
          <a:ln/>
        </p:spPr>
      </p:sp>
      <p:sp>
        <p:nvSpPr>
          <p:cNvPr id="20" name="Shape 17"/>
          <p:cNvSpPr/>
          <p:nvPr/>
        </p:nvSpPr>
        <p:spPr>
          <a:xfrm>
            <a:off x="685800" y="4343400"/>
            <a:ext cx="5318608" cy="73152"/>
          </a:xfrm>
          <a:prstGeom prst="rect">
            <a:avLst/>
          </a:prstGeom>
          <a:solidFill>
            <a:srgbClr val="111111"/>
          </a:solidFill>
          <a:ln/>
        </p:spPr>
      </p:sp>
      <p:sp>
        <p:nvSpPr>
          <p:cNvPr id="21" name="Text 18"/>
          <p:cNvSpPr/>
          <p:nvPr/>
        </p:nvSpPr>
        <p:spPr>
          <a:xfrm>
            <a:off x="960120" y="4526280"/>
            <a:ext cx="4769968" cy="411480"/>
          </a:xfrm>
          <a:prstGeom prst="rect">
            <a:avLst/>
          </a:prstGeom>
          <a:noFill/>
          <a:ln/>
        </p:spPr>
        <p:txBody>
          <a:bodyPr wrap="square" rtlCol="0" anchor="ctr"/>
          <a:lstStyle/>
          <a:p>
            <a:pPr indent="0" marL="0">
              <a:buNone/>
            </a:pPr>
            <a:r>
              <a:rPr lang="en-US" sz="1900" b="1" dirty="0">
                <a:solidFill>
                  <a:srgbClr val="111111"/>
                </a:solidFill>
                <a:latin typeface="Arial" pitchFamily="34" charset="0"/>
                <a:ea typeface="Arial" pitchFamily="34" charset="-122"/>
                <a:cs typeface="Arial" pitchFamily="34" charset="-120"/>
              </a:rPr>
              <a:t>En réception</a:t>
            </a:r>
            <a:endParaRPr lang="en-US" sz="1900" dirty="0"/>
          </a:p>
        </p:txBody>
      </p:sp>
      <p:sp>
        <p:nvSpPr>
          <p:cNvPr id="22" name="Shape 19"/>
          <p:cNvSpPr/>
          <p:nvPr/>
        </p:nvSpPr>
        <p:spPr>
          <a:xfrm>
            <a:off x="960120" y="5065776"/>
            <a:ext cx="256032" cy="256032"/>
          </a:xfrm>
          <a:prstGeom prst="ellipse">
            <a:avLst/>
          </a:prstGeom>
          <a:solidFill>
            <a:srgbClr val="111111"/>
          </a:solidFill>
          <a:ln/>
        </p:spPr>
      </p:sp>
      <p:sp>
        <p:nvSpPr>
          <p:cNvPr id="23" name="Text 20"/>
          <p:cNvSpPr/>
          <p:nvPr/>
        </p:nvSpPr>
        <p:spPr>
          <a:xfrm>
            <a:off x="960120" y="5065776"/>
            <a:ext cx="256032" cy="256032"/>
          </a:xfrm>
          <a:prstGeom prst="rect">
            <a:avLst/>
          </a:prstGeom>
          <a:noFill/>
          <a:ln/>
        </p:spPr>
        <p:txBody>
          <a:bodyPr wrap="square" rtlCol="0" anchor="ctr"/>
          <a:lstStyle/>
          <a:p>
            <a:pPr algn="ctr" indent="0" marL="0">
              <a:buNone/>
            </a:pPr>
            <a:r>
              <a:rPr lang="en-US" sz="952" b="1" dirty="0">
                <a:solidFill>
                  <a:srgbClr val="FFFFFF"/>
                </a:solidFill>
                <a:latin typeface="Arial" pitchFamily="34" charset="0"/>
                <a:ea typeface="Arial" pitchFamily="34" charset="-122"/>
                <a:cs typeface="Arial" pitchFamily="34" charset="-120"/>
              </a:rPr>
              <a:t>1</a:t>
            </a:r>
            <a:endParaRPr lang="en-US" sz="952" dirty="0"/>
          </a:p>
        </p:txBody>
      </p:sp>
      <p:sp>
        <p:nvSpPr>
          <p:cNvPr id="24" name="Text 21"/>
          <p:cNvSpPr/>
          <p:nvPr/>
        </p:nvSpPr>
        <p:spPr>
          <a:xfrm>
            <a:off x="1325880" y="5029200"/>
            <a:ext cx="4404208" cy="329184"/>
          </a:xfrm>
          <a:prstGeom prst="rect">
            <a:avLst/>
          </a:prstGeom>
          <a:noFill/>
          <a:ln/>
        </p:spPr>
        <p:txBody>
          <a:bodyPr wrap="square" rtlCol="0" anchor="ctr"/>
          <a:lstStyle/>
          <a:p>
            <a:pPr indent="0" marL="0">
              <a:buNone/>
            </a:pPr>
            <a:r>
              <a:rPr lang="en-US" sz="1400" b="1" dirty="0">
                <a:solidFill>
                  <a:srgbClr val="111111"/>
                </a:solidFill>
                <a:latin typeface="Arial" pitchFamily="34" charset="0"/>
                <a:ea typeface="Arial" pitchFamily="34" charset="-122"/>
                <a:cs typeface="Arial" pitchFamily="34" charset="-120"/>
              </a:rPr>
              <a:t>On décroche</a:t>
            </a:r>
            <a:endParaRPr lang="en-US" sz="1400" dirty="0"/>
          </a:p>
        </p:txBody>
      </p:sp>
      <p:sp>
        <p:nvSpPr>
          <p:cNvPr id="25" name="Shape 22"/>
          <p:cNvSpPr/>
          <p:nvPr/>
        </p:nvSpPr>
        <p:spPr>
          <a:xfrm>
            <a:off x="960120" y="5413248"/>
            <a:ext cx="256032" cy="256032"/>
          </a:xfrm>
          <a:prstGeom prst="ellipse">
            <a:avLst/>
          </a:prstGeom>
          <a:solidFill>
            <a:srgbClr val="111111"/>
          </a:solidFill>
          <a:ln/>
        </p:spPr>
      </p:sp>
      <p:sp>
        <p:nvSpPr>
          <p:cNvPr id="26" name="Text 23"/>
          <p:cNvSpPr/>
          <p:nvPr/>
        </p:nvSpPr>
        <p:spPr>
          <a:xfrm>
            <a:off x="960120" y="5413248"/>
            <a:ext cx="256032" cy="256032"/>
          </a:xfrm>
          <a:prstGeom prst="rect">
            <a:avLst/>
          </a:prstGeom>
          <a:noFill/>
          <a:ln/>
        </p:spPr>
        <p:txBody>
          <a:bodyPr wrap="square" rtlCol="0" anchor="ctr"/>
          <a:lstStyle/>
          <a:p>
            <a:pPr algn="ctr" indent="0" marL="0">
              <a:buNone/>
            </a:pPr>
            <a:r>
              <a:rPr lang="en-US" sz="952" b="1" dirty="0">
                <a:solidFill>
                  <a:srgbClr val="FFFFFF"/>
                </a:solidFill>
                <a:latin typeface="Arial" pitchFamily="34" charset="0"/>
                <a:ea typeface="Arial" pitchFamily="34" charset="-122"/>
                <a:cs typeface="Arial" pitchFamily="34" charset="-120"/>
              </a:rPr>
              <a:t>2</a:t>
            </a:r>
            <a:endParaRPr lang="en-US" sz="952" dirty="0"/>
          </a:p>
        </p:txBody>
      </p:sp>
      <p:sp>
        <p:nvSpPr>
          <p:cNvPr id="27" name="Text 24"/>
          <p:cNvSpPr/>
          <p:nvPr/>
        </p:nvSpPr>
        <p:spPr>
          <a:xfrm>
            <a:off x="1325880" y="5376672"/>
            <a:ext cx="4404208" cy="329184"/>
          </a:xfrm>
          <a:prstGeom prst="rect">
            <a:avLst/>
          </a:prstGeom>
          <a:noFill/>
          <a:ln/>
        </p:spPr>
        <p:txBody>
          <a:bodyPr wrap="square" rtlCol="0" anchor="ctr"/>
          <a:lstStyle/>
          <a:p>
            <a:pPr indent="0" marL="0">
              <a:buNone/>
            </a:pPr>
            <a:r>
              <a:rPr lang="en-US" sz="1400" b="1" dirty="0">
                <a:solidFill>
                  <a:srgbClr val="111111"/>
                </a:solidFill>
                <a:latin typeface="Arial" pitchFamily="34" charset="0"/>
                <a:ea typeface="Arial" pitchFamily="34" charset="-122"/>
                <a:cs typeface="Arial" pitchFamily="34" charset="-120"/>
              </a:rPr>
              <a:t>On identifie le besoin</a:t>
            </a:r>
            <a:endParaRPr lang="en-US" sz="1400" dirty="0"/>
          </a:p>
        </p:txBody>
      </p:sp>
      <p:sp>
        <p:nvSpPr>
          <p:cNvPr id="28" name="Shape 25"/>
          <p:cNvSpPr/>
          <p:nvPr/>
        </p:nvSpPr>
        <p:spPr>
          <a:xfrm>
            <a:off x="960120" y="5760720"/>
            <a:ext cx="256032" cy="256032"/>
          </a:xfrm>
          <a:prstGeom prst="ellipse">
            <a:avLst/>
          </a:prstGeom>
          <a:solidFill>
            <a:srgbClr val="111111"/>
          </a:solidFill>
          <a:ln/>
        </p:spPr>
      </p:sp>
      <p:sp>
        <p:nvSpPr>
          <p:cNvPr id="29" name="Text 26"/>
          <p:cNvSpPr/>
          <p:nvPr/>
        </p:nvSpPr>
        <p:spPr>
          <a:xfrm>
            <a:off x="960120" y="5760720"/>
            <a:ext cx="256032" cy="256032"/>
          </a:xfrm>
          <a:prstGeom prst="rect">
            <a:avLst/>
          </a:prstGeom>
          <a:noFill/>
          <a:ln/>
        </p:spPr>
        <p:txBody>
          <a:bodyPr wrap="square" rtlCol="0" anchor="ctr"/>
          <a:lstStyle/>
          <a:p>
            <a:pPr algn="ctr" indent="0" marL="0">
              <a:buNone/>
            </a:pPr>
            <a:r>
              <a:rPr lang="en-US" sz="952" b="1" dirty="0">
                <a:solidFill>
                  <a:srgbClr val="FFFFFF"/>
                </a:solidFill>
                <a:latin typeface="Arial" pitchFamily="34" charset="0"/>
                <a:ea typeface="Arial" pitchFamily="34" charset="-122"/>
                <a:cs typeface="Arial" pitchFamily="34" charset="-120"/>
              </a:rPr>
              <a:t>3</a:t>
            </a:r>
            <a:endParaRPr lang="en-US" sz="952" dirty="0"/>
          </a:p>
        </p:txBody>
      </p:sp>
      <p:sp>
        <p:nvSpPr>
          <p:cNvPr id="30" name="Text 27"/>
          <p:cNvSpPr/>
          <p:nvPr/>
        </p:nvSpPr>
        <p:spPr>
          <a:xfrm>
            <a:off x="1325880" y="5724144"/>
            <a:ext cx="4404208" cy="329184"/>
          </a:xfrm>
          <a:prstGeom prst="rect">
            <a:avLst/>
          </a:prstGeom>
          <a:noFill/>
          <a:ln/>
        </p:spPr>
        <p:txBody>
          <a:bodyPr wrap="square" rtlCol="0" anchor="ctr"/>
          <a:lstStyle/>
          <a:p>
            <a:pPr indent="0" marL="0">
              <a:buNone/>
            </a:pPr>
            <a:r>
              <a:rPr lang="en-US" sz="1400" b="1" dirty="0">
                <a:solidFill>
                  <a:srgbClr val="111111"/>
                </a:solidFill>
                <a:latin typeface="Arial" pitchFamily="34" charset="0"/>
                <a:ea typeface="Arial" pitchFamily="34" charset="-122"/>
                <a:cs typeface="Arial" pitchFamily="34" charset="-120"/>
              </a:rPr>
              <a:t>On crée une tâche complète</a:t>
            </a:r>
            <a:endParaRPr lang="en-US" sz="1400" dirty="0"/>
          </a:p>
        </p:txBody>
      </p:sp>
      <p:sp>
        <p:nvSpPr>
          <p:cNvPr id="31" name="Shape 28"/>
          <p:cNvSpPr/>
          <p:nvPr/>
        </p:nvSpPr>
        <p:spPr>
          <a:xfrm>
            <a:off x="6187288" y="4343400"/>
            <a:ext cx="5318608" cy="1783080"/>
          </a:xfrm>
          <a:prstGeom prst="roundRect">
            <a:avLst>
              <a:gd name="adj" fmla="val 6154"/>
            </a:avLst>
          </a:prstGeom>
          <a:solidFill>
            <a:srgbClr val="FFFFFF"/>
          </a:solidFill>
          <a:ln/>
        </p:spPr>
      </p:sp>
      <p:sp>
        <p:nvSpPr>
          <p:cNvPr id="32" name="Shape 29"/>
          <p:cNvSpPr/>
          <p:nvPr/>
        </p:nvSpPr>
        <p:spPr>
          <a:xfrm>
            <a:off x="6187288" y="4343400"/>
            <a:ext cx="5318608" cy="73152"/>
          </a:xfrm>
          <a:prstGeom prst="rect">
            <a:avLst/>
          </a:prstGeom>
          <a:solidFill>
            <a:srgbClr val="E30613"/>
          </a:solidFill>
          <a:ln/>
        </p:spPr>
      </p:sp>
      <p:sp>
        <p:nvSpPr>
          <p:cNvPr id="33" name="Text 30"/>
          <p:cNvSpPr/>
          <p:nvPr/>
        </p:nvSpPr>
        <p:spPr>
          <a:xfrm>
            <a:off x="6461608" y="4526280"/>
            <a:ext cx="4769968" cy="411480"/>
          </a:xfrm>
          <a:prstGeom prst="rect">
            <a:avLst/>
          </a:prstGeom>
          <a:noFill/>
          <a:ln/>
        </p:spPr>
        <p:txBody>
          <a:bodyPr wrap="square" rtlCol="0" anchor="ctr"/>
          <a:lstStyle/>
          <a:p>
            <a:pPr indent="0" marL="0">
              <a:buNone/>
            </a:pPr>
            <a:r>
              <a:rPr lang="en-US" sz="1900" b="1" dirty="0">
                <a:solidFill>
                  <a:srgbClr val="111111"/>
                </a:solidFill>
                <a:latin typeface="Arial" pitchFamily="34" charset="0"/>
                <a:ea typeface="Arial" pitchFamily="34" charset="-122"/>
                <a:cs typeface="Arial" pitchFamily="34" charset="-120"/>
              </a:rPr>
              <a:t>En sortant</a:t>
            </a:r>
            <a:endParaRPr lang="en-US" sz="1900" dirty="0"/>
          </a:p>
        </p:txBody>
      </p:sp>
      <p:sp>
        <p:nvSpPr>
          <p:cNvPr id="34" name="Shape 31"/>
          <p:cNvSpPr/>
          <p:nvPr/>
        </p:nvSpPr>
        <p:spPr>
          <a:xfrm>
            <a:off x="6461608" y="5065776"/>
            <a:ext cx="256032" cy="256032"/>
          </a:xfrm>
          <a:prstGeom prst="ellipse">
            <a:avLst/>
          </a:prstGeom>
          <a:solidFill>
            <a:srgbClr val="E30613"/>
          </a:solidFill>
          <a:ln/>
        </p:spPr>
      </p:sp>
      <p:sp>
        <p:nvSpPr>
          <p:cNvPr id="35" name="Text 32"/>
          <p:cNvSpPr/>
          <p:nvPr/>
        </p:nvSpPr>
        <p:spPr>
          <a:xfrm>
            <a:off x="6461608" y="5065776"/>
            <a:ext cx="256032" cy="256032"/>
          </a:xfrm>
          <a:prstGeom prst="rect">
            <a:avLst/>
          </a:prstGeom>
          <a:noFill/>
          <a:ln/>
        </p:spPr>
        <p:txBody>
          <a:bodyPr wrap="square" rtlCol="0" anchor="ctr"/>
          <a:lstStyle/>
          <a:p>
            <a:pPr algn="ctr" indent="0" marL="0">
              <a:buNone/>
            </a:pPr>
            <a:r>
              <a:rPr lang="en-US" sz="952" b="1" dirty="0">
                <a:solidFill>
                  <a:srgbClr val="FFFFFF"/>
                </a:solidFill>
                <a:latin typeface="Arial" pitchFamily="34" charset="0"/>
                <a:ea typeface="Arial" pitchFamily="34" charset="-122"/>
                <a:cs typeface="Arial" pitchFamily="34" charset="-120"/>
              </a:rPr>
              <a:t>1</a:t>
            </a:r>
            <a:endParaRPr lang="en-US" sz="952" dirty="0"/>
          </a:p>
        </p:txBody>
      </p:sp>
      <p:sp>
        <p:nvSpPr>
          <p:cNvPr id="36" name="Text 33"/>
          <p:cNvSpPr/>
          <p:nvPr/>
        </p:nvSpPr>
        <p:spPr>
          <a:xfrm>
            <a:off x="6827368" y="5029200"/>
            <a:ext cx="4404208" cy="329184"/>
          </a:xfrm>
          <a:prstGeom prst="rect">
            <a:avLst/>
          </a:prstGeom>
          <a:noFill/>
          <a:ln/>
        </p:spPr>
        <p:txBody>
          <a:bodyPr wrap="square" rtlCol="0" anchor="ctr"/>
          <a:lstStyle/>
          <a:p>
            <a:pPr indent="0" marL="0">
              <a:buNone/>
            </a:pPr>
            <a:r>
              <a:rPr lang="en-US" sz="1400" b="1" dirty="0">
                <a:solidFill>
                  <a:srgbClr val="111111"/>
                </a:solidFill>
                <a:latin typeface="Arial" pitchFamily="34" charset="0"/>
                <a:ea typeface="Arial" pitchFamily="34" charset="-122"/>
                <a:cs typeface="Arial" pitchFamily="34" charset="-120"/>
              </a:rPr>
              <a:t>On traite les tâches attribuées</a:t>
            </a:r>
            <a:endParaRPr lang="en-US" sz="1400" dirty="0"/>
          </a:p>
        </p:txBody>
      </p:sp>
      <p:sp>
        <p:nvSpPr>
          <p:cNvPr id="37" name="Shape 34"/>
          <p:cNvSpPr/>
          <p:nvPr/>
        </p:nvSpPr>
        <p:spPr>
          <a:xfrm>
            <a:off x="6461608" y="5413248"/>
            <a:ext cx="256032" cy="256032"/>
          </a:xfrm>
          <a:prstGeom prst="ellipse">
            <a:avLst/>
          </a:prstGeom>
          <a:solidFill>
            <a:srgbClr val="E30613"/>
          </a:solidFill>
          <a:ln/>
        </p:spPr>
      </p:sp>
      <p:sp>
        <p:nvSpPr>
          <p:cNvPr id="38" name="Text 35"/>
          <p:cNvSpPr/>
          <p:nvPr/>
        </p:nvSpPr>
        <p:spPr>
          <a:xfrm>
            <a:off x="6461608" y="5413248"/>
            <a:ext cx="256032" cy="256032"/>
          </a:xfrm>
          <a:prstGeom prst="rect">
            <a:avLst/>
          </a:prstGeom>
          <a:noFill/>
          <a:ln/>
        </p:spPr>
        <p:txBody>
          <a:bodyPr wrap="square" rtlCol="0" anchor="ctr"/>
          <a:lstStyle/>
          <a:p>
            <a:pPr algn="ctr" indent="0" marL="0">
              <a:buNone/>
            </a:pPr>
            <a:r>
              <a:rPr lang="en-US" sz="952" b="1" dirty="0">
                <a:solidFill>
                  <a:srgbClr val="FFFFFF"/>
                </a:solidFill>
                <a:latin typeface="Arial" pitchFamily="34" charset="0"/>
                <a:ea typeface="Arial" pitchFamily="34" charset="-122"/>
                <a:cs typeface="Arial" pitchFamily="34" charset="-120"/>
              </a:rPr>
              <a:t>2</a:t>
            </a:r>
            <a:endParaRPr lang="en-US" sz="952" dirty="0"/>
          </a:p>
        </p:txBody>
      </p:sp>
      <p:sp>
        <p:nvSpPr>
          <p:cNvPr id="39" name="Text 36"/>
          <p:cNvSpPr/>
          <p:nvPr/>
        </p:nvSpPr>
        <p:spPr>
          <a:xfrm>
            <a:off x="6827368" y="5376672"/>
            <a:ext cx="4404208" cy="329184"/>
          </a:xfrm>
          <a:prstGeom prst="rect">
            <a:avLst/>
          </a:prstGeom>
          <a:noFill/>
          <a:ln/>
        </p:spPr>
        <p:txBody>
          <a:bodyPr wrap="square" rtlCol="0" anchor="ctr"/>
          <a:lstStyle/>
          <a:p>
            <a:pPr indent="0" marL="0">
              <a:buNone/>
            </a:pPr>
            <a:r>
              <a:rPr lang="en-US" sz="1400" b="1" dirty="0">
                <a:solidFill>
                  <a:srgbClr val="111111"/>
                </a:solidFill>
                <a:latin typeface="Arial" pitchFamily="34" charset="0"/>
                <a:ea typeface="Arial" pitchFamily="34" charset="-122"/>
                <a:cs typeface="Arial" pitchFamily="34" charset="-120"/>
              </a:rPr>
              <a:t>On réalise les rendez-vous téléphoniques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E30613"/>
          </a:solidFill>
          <a:ln/>
        </p:spPr>
      </p:sp>
      <p:sp>
        <p:nvSpPr>
          <p:cNvPr id="3" name="Text 1"/>
          <p:cNvSpPr/>
          <p:nvPr/>
        </p:nvSpPr>
        <p:spPr>
          <a:xfrm>
            <a:off x="10728655" y="6400800"/>
            <a:ext cx="1188720" cy="274320"/>
          </a:xfrm>
          <a:prstGeom prst="rect">
            <a:avLst/>
          </a:prstGeom>
          <a:noFill/>
          <a:ln/>
        </p:spPr>
        <p:txBody>
          <a:bodyPr wrap="square" rtlCol="0" anchor="ctr"/>
          <a:lstStyle/>
          <a:p>
            <a:pPr algn="r" indent="0" marL="0">
              <a:buNone/>
            </a:pPr>
            <a:r>
              <a:rPr lang="en-US" sz="1100" b="1" dirty="0">
                <a:solidFill>
                  <a:srgbClr val="6B6B6B"/>
                </a:solidFill>
                <a:latin typeface="Arial" pitchFamily="34" charset="0"/>
                <a:ea typeface="Arial" pitchFamily="34" charset="-122"/>
                <a:cs typeface="Arial" pitchFamily="34" charset="-120"/>
              </a:rPr>
              <a:t>3 / 13</a:t>
            </a:r>
            <a:endParaRPr lang="en-US" sz="1100" dirty="0"/>
          </a:p>
        </p:txBody>
      </p:sp>
      <p:sp>
        <p:nvSpPr>
          <p:cNvPr id="5" name="Text 2"/>
          <p:cNvSpPr/>
          <p:nvPr/>
        </p:nvSpPr>
        <p:spPr>
          <a:xfrm>
            <a:off x="685800" y="411480"/>
            <a:ext cx="10820095" cy="274320"/>
          </a:xfrm>
          <a:prstGeom prst="rect">
            <a:avLst/>
          </a:prstGeom>
          <a:noFill/>
          <a:ln/>
        </p:spPr>
        <p:txBody>
          <a:bodyPr wrap="square" rtlCol="0" anchor="ctr"/>
          <a:lstStyle/>
          <a:p>
            <a:pPr indent="0" marL="0">
              <a:buNone/>
            </a:pPr>
            <a:r>
              <a:rPr lang="en-US" sz="1200" b="1" spc="200" kern="0" dirty="0">
                <a:solidFill>
                  <a:srgbClr val="E30613"/>
                </a:solidFill>
                <a:latin typeface="Arial" pitchFamily="34" charset="0"/>
                <a:ea typeface="Arial" pitchFamily="34" charset="-122"/>
                <a:cs typeface="Arial" pitchFamily="34" charset="-120"/>
              </a:rPr>
              <a:t>LES RÔLES</a:t>
            </a:r>
            <a:endParaRPr lang="en-US" sz="1200" dirty="0"/>
          </a:p>
        </p:txBody>
      </p:sp>
      <p:sp>
        <p:nvSpPr>
          <p:cNvPr id="6" name="Text 3"/>
          <p:cNvSpPr/>
          <p:nvPr/>
        </p:nvSpPr>
        <p:spPr>
          <a:xfrm>
            <a:off x="685800" y="685800"/>
            <a:ext cx="10820095" cy="685800"/>
          </a:xfrm>
          <a:prstGeom prst="rect">
            <a:avLst/>
          </a:prstGeom>
          <a:noFill/>
          <a:ln/>
        </p:spPr>
        <p:txBody>
          <a:bodyPr wrap="square" rtlCol="0" anchor="ctr"/>
          <a:lstStyle/>
          <a:p>
            <a:pPr indent="0" marL="0">
              <a:buNone/>
            </a:pPr>
            <a:r>
              <a:rPr lang="en-US" sz="3200" b="1" dirty="0">
                <a:solidFill>
                  <a:srgbClr val="111111"/>
                </a:solidFill>
                <a:latin typeface="Arial" pitchFamily="34" charset="0"/>
                <a:ea typeface="Arial" pitchFamily="34" charset="-122"/>
                <a:cs typeface="Arial" pitchFamily="34" charset="-120"/>
              </a:rPr>
              <a:t>Qui fait quoi ?</a:t>
            </a:r>
            <a:endParaRPr lang="en-US" sz="3200" dirty="0"/>
          </a:p>
        </p:txBody>
      </p:sp>
      <p:sp>
        <p:nvSpPr>
          <p:cNvPr id="7" name="Shape 4"/>
          <p:cNvSpPr/>
          <p:nvPr/>
        </p:nvSpPr>
        <p:spPr>
          <a:xfrm>
            <a:off x="685800" y="1600200"/>
            <a:ext cx="2834640" cy="3429000"/>
          </a:xfrm>
          <a:prstGeom prst="roundRect">
            <a:avLst>
              <a:gd name="adj" fmla="val 3871"/>
            </a:avLst>
          </a:prstGeom>
          <a:solidFill>
            <a:srgbClr val="111111"/>
          </a:solidFill>
          <a:ln/>
        </p:spPr>
      </p:sp>
      <p:sp>
        <p:nvSpPr>
          <p:cNvPr id="8" name="Text 5"/>
          <p:cNvSpPr/>
          <p:nvPr/>
        </p:nvSpPr>
        <p:spPr>
          <a:xfrm>
            <a:off x="914400" y="1783080"/>
            <a:ext cx="2377440" cy="41148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2 standardistes</a:t>
            </a:r>
            <a:endParaRPr lang="en-US" sz="1900" dirty="0"/>
          </a:p>
        </p:txBody>
      </p:sp>
      <p:sp>
        <p:nvSpPr>
          <p:cNvPr id="9" name="Text 6"/>
          <p:cNvSpPr/>
          <p:nvPr/>
        </p:nvSpPr>
        <p:spPr>
          <a:xfrm>
            <a:off x="914400" y="2194560"/>
            <a:ext cx="2377440" cy="274320"/>
          </a:xfrm>
          <a:prstGeom prst="rect">
            <a:avLst/>
          </a:prstGeom>
          <a:noFill/>
          <a:ln/>
        </p:spPr>
        <p:txBody>
          <a:bodyPr wrap="square" rtlCol="0" anchor="ctr"/>
          <a:lstStyle/>
          <a:p>
            <a:pPr indent="0" marL="0">
              <a:buNone/>
            </a:pPr>
            <a:r>
              <a:rPr lang="en-US" sz="1100" b="1" spc="150" kern="0" dirty="0">
                <a:solidFill>
                  <a:srgbClr val="E30613"/>
                </a:solidFill>
                <a:latin typeface="Arial" pitchFamily="34" charset="0"/>
                <a:ea typeface="Arial" pitchFamily="34" charset="-122"/>
                <a:cs typeface="Arial" pitchFamily="34" charset="-120"/>
              </a:rPr>
              <a:t>ENTRANT</a:t>
            </a:r>
            <a:endParaRPr lang="en-US" sz="1100" dirty="0"/>
          </a:p>
        </p:txBody>
      </p:sp>
      <p:sp>
        <p:nvSpPr>
          <p:cNvPr id="10" name="Text 7"/>
          <p:cNvSpPr/>
          <p:nvPr/>
        </p:nvSpPr>
        <p:spPr>
          <a:xfrm>
            <a:off x="868680" y="2560320"/>
            <a:ext cx="2514600" cy="2377440"/>
          </a:xfrm>
          <a:prstGeom prst="rect">
            <a:avLst/>
          </a:prstGeom>
          <a:noFill/>
          <a:ln/>
        </p:spPr>
        <p:txBody>
          <a:bodyPr wrap="square" rtlCol="0" anchor="t"/>
          <a:lstStyle/>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Réceptionner les appels</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Identifier la demande</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Récupérer les informations nécessaires</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Utiliser le bon template</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Créer une tâche claire et exploitable dans le CRM</a:t>
            </a:r>
            <a:endParaRPr lang="en-US" sz="1300" dirty="0"/>
          </a:p>
        </p:txBody>
      </p:sp>
      <p:sp>
        <p:nvSpPr>
          <p:cNvPr id="11" name="Shape 8"/>
          <p:cNvSpPr/>
          <p:nvPr/>
        </p:nvSpPr>
        <p:spPr>
          <a:xfrm>
            <a:off x="3682898" y="1600200"/>
            <a:ext cx="2834640" cy="3429000"/>
          </a:xfrm>
          <a:prstGeom prst="roundRect">
            <a:avLst>
              <a:gd name="adj" fmla="val 3871"/>
            </a:avLst>
          </a:prstGeom>
          <a:solidFill>
            <a:srgbClr val="111111"/>
          </a:solidFill>
          <a:ln/>
        </p:spPr>
      </p:sp>
      <p:sp>
        <p:nvSpPr>
          <p:cNvPr id="12" name="Text 9"/>
          <p:cNvSpPr/>
          <p:nvPr/>
        </p:nvSpPr>
        <p:spPr>
          <a:xfrm>
            <a:off x="3911498" y="1783080"/>
            <a:ext cx="2377440" cy="41148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2 agents sortants</a:t>
            </a:r>
            <a:endParaRPr lang="en-US" sz="1900" dirty="0"/>
          </a:p>
        </p:txBody>
      </p:sp>
      <p:sp>
        <p:nvSpPr>
          <p:cNvPr id="13" name="Text 10"/>
          <p:cNvSpPr/>
          <p:nvPr/>
        </p:nvSpPr>
        <p:spPr>
          <a:xfrm>
            <a:off x="3911498" y="2194560"/>
            <a:ext cx="2377440" cy="274320"/>
          </a:xfrm>
          <a:prstGeom prst="rect">
            <a:avLst/>
          </a:prstGeom>
          <a:noFill/>
          <a:ln/>
        </p:spPr>
        <p:txBody>
          <a:bodyPr wrap="square" rtlCol="0" anchor="ctr"/>
          <a:lstStyle/>
          <a:p>
            <a:pPr indent="0" marL="0">
              <a:buNone/>
            </a:pPr>
            <a:r>
              <a:rPr lang="en-US" sz="1100" b="1" spc="150" kern="0" dirty="0">
                <a:solidFill>
                  <a:srgbClr val="E30613"/>
                </a:solidFill>
                <a:latin typeface="Arial" pitchFamily="34" charset="0"/>
                <a:ea typeface="Arial" pitchFamily="34" charset="-122"/>
                <a:cs typeface="Arial" pitchFamily="34" charset="-120"/>
              </a:rPr>
              <a:t>WORKING ON</a:t>
            </a:r>
            <a:endParaRPr lang="en-US" sz="1100" dirty="0"/>
          </a:p>
        </p:txBody>
      </p:sp>
      <p:sp>
        <p:nvSpPr>
          <p:cNvPr id="14" name="Text 11"/>
          <p:cNvSpPr/>
          <p:nvPr/>
        </p:nvSpPr>
        <p:spPr>
          <a:xfrm>
            <a:off x="3865778" y="2560320"/>
            <a:ext cx="2514600" cy="2377440"/>
          </a:xfrm>
          <a:prstGeom prst="rect">
            <a:avLst/>
          </a:prstGeom>
          <a:noFill/>
          <a:ln/>
        </p:spPr>
        <p:txBody>
          <a:bodyPr wrap="square" rtlCol="0" anchor="t"/>
          <a:lstStyle/>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Traiter les tâches attribuées</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Réaliser les appels sortants</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Effectuer les rendez-vous téléphoniques</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Mettre à jour les dossiers</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Respecter les processus et délais habituels</a:t>
            </a:r>
            <a:endParaRPr lang="en-US" sz="1300" dirty="0"/>
          </a:p>
        </p:txBody>
      </p:sp>
      <p:sp>
        <p:nvSpPr>
          <p:cNvPr id="15" name="Shape 12"/>
          <p:cNvSpPr/>
          <p:nvPr/>
        </p:nvSpPr>
        <p:spPr>
          <a:xfrm>
            <a:off x="6679997" y="1600200"/>
            <a:ext cx="2331720" cy="3429000"/>
          </a:xfrm>
          <a:prstGeom prst="roundRect">
            <a:avLst>
              <a:gd name="adj" fmla="val 4706"/>
            </a:avLst>
          </a:prstGeom>
          <a:solidFill>
            <a:srgbClr val="FFFFFF"/>
          </a:solidFill>
          <a:ln/>
        </p:spPr>
      </p:sp>
      <p:sp>
        <p:nvSpPr>
          <p:cNvPr id="16" name="Text 13"/>
          <p:cNvSpPr/>
          <p:nvPr/>
        </p:nvSpPr>
        <p:spPr>
          <a:xfrm>
            <a:off x="6908597" y="1783080"/>
            <a:ext cx="1874520" cy="411480"/>
          </a:xfrm>
          <a:prstGeom prst="rect">
            <a:avLst/>
          </a:prstGeom>
          <a:noFill/>
          <a:ln/>
        </p:spPr>
        <p:txBody>
          <a:bodyPr wrap="square" rtlCol="0" anchor="ctr"/>
          <a:lstStyle/>
          <a:p>
            <a:pPr indent="0" marL="0">
              <a:buNone/>
            </a:pPr>
            <a:r>
              <a:rPr lang="en-US" sz="1900" b="1" dirty="0">
                <a:solidFill>
                  <a:srgbClr val="111111"/>
                </a:solidFill>
                <a:latin typeface="Arial" pitchFamily="34" charset="0"/>
                <a:ea typeface="Arial" pitchFamily="34" charset="-122"/>
                <a:cs typeface="Arial" pitchFamily="34" charset="-120"/>
              </a:rPr>
              <a:t>Le référent</a:t>
            </a:r>
            <a:endParaRPr lang="en-US" sz="1900" dirty="0"/>
          </a:p>
        </p:txBody>
      </p:sp>
      <p:sp>
        <p:nvSpPr>
          <p:cNvPr id="17" name="Text 14"/>
          <p:cNvSpPr/>
          <p:nvPr/>
        </p:nvSpPr>
        <p:spPr>
          <a:xfrm>
            <a:off x="6908597" y="2194560"/>
            <a:ext cx="1874520" cy="274320"/>
          </a:xfrm>
          <a:prstGeom prst="rect">
            <a:avLst/>
          </a:prstGeom>
          <a:noFill/>
          <a:ln/>
        </p:spPr>
        <p:txBody>
          <a:bodyPr wrap="square" rtlCol="0" anchor="ctr"/>
          <a:lstStyle/>
          <a:p>
            <a:pPr indent="0" marL="0">
              <a:buNone/>
            </a:pPr>
            <a:r>
              <a:rPr lang="en-US" sz="1100" b="1" spc="150" kern="0" dirty="0">
                <a:solidFill>
                  <a:srgbClr val="E30613"/>
                </a:solidFill>
                <a:latin typeface="Arial" pitchFamily="34" charset="0"/>
                <a:ea typeface="Arial" pitchFamily="34" charset="-122"/>
                <a:cs typeface="Arial" pitchFamily="34" charset="-120"/>
              </a:rPr>
              <a:t>DISPATCH</a:t>
            </a:r>
            <a:endParaRPr lang="en-US" sz="1100" dirty="0"/>
          </a:p>
        </p:txBody>
      </p:sp>
      <p:sp>
        <p:nvSpPr>
          <p:cNvPr id="18" name="Text 15"/>
          <p:cNvSpPr/>
          <p:nvPr/>
        </p:nvSpPr>
        <p:spPr>
          <a:xfrm>
            <a:off x="6862877" y="2560320"/>
            <a:ext cx="2011680" cy="2377440"/>
          </a:xfrm>
          <a:prstGeom prst="rect">
            <a:avLst/>
          </a:prstGeom>
          <a:noFill/>
          <a:ln/>
        </p:spPr>
        <p:txBody>
          <a:bodyPr wrap="square" rtlCol="0" anchor="t"/>
          <a:lstStyle/>
          <a:p>
            <a:pPr marL="342900" indent="-342900">
              <a:spcAft>
                <a:spcPts val="600"/>
              </a:spcAft>
              <a:buSzPct val="100000"/>
              <a:buChar char="✓"/>
            </a:pPr>
            <a:r>
              <a:rPr lang="en-US" sz="1300" dirty="0">
                <a:solidFill>
                  <a:srgbClr val="111111"/>
                </a:solidFill>
                <a:latin typeface="Arial" pitchFamily="34" charset="0"/>
                <a:ea typeface="Arial" pitchFamily="34" charset="-122"/>
                <a:cs typeface="Arial" pitchFamily="34" charset="-120"/>
              </a:rPr>
              <a:t>Distribuer les tâches</a:t>
            </a:r>
            <a:endParaRPr lang="en-US" sz="1300" dirty="0"/>
          </a:p>
          <a:p>
            <a:pPr marL="342900" indent="-342900">
              <a:spcAft>
                <a:spcPts val="600"/>
              </a:spcAft>
              <a:buSzPct val="100000"/>
              <a:buChar char="✓"/>
            </a:pPr>
            <a:r>
              <a:rPr lang="en-US" sz="1300" dirty="0">
                <a:solidFill>
                  <a:srgbClr val="111111"/>
                </a:solidFill>
                <a:latin typeface="Arial" pitchFamily="34" charset="0"/>
                <a:ea typeface="Arial" pitchFamily="34" charset="-122"/>
                <a:cs typeface="Arial" pitchFamily="34" charset="-120"/>
              </a:rPr>
              <a:t>Suivre l’équilibre de la charge de travail</a:t>
            </a:r>
            <a:endParaRPr lang="en-US" sz="1300" dirty="0"/>
          </a:p>
          <a:p>
            <a:pPr marL="342900" indent="-342900">
              <a:spcAft>
                <a:spcPts val="600"/>
              </a:spcAft>
              <a:buSzPct val="100000"/>
              <a:buChar char="✓"/>
            </a:pPr>
            <a:r>
              <a:rPr lang="en-US" sz="1300" dirty="0">
                <a:solidFill>
                  <a:srgbClr val="111111"/>
                </a:solidFill>
                <a:latin typeface="Arial" pitchFamily="34" charset="0"/>
                <a:ea typeface="Arial" pitchFamily="34" charset="-122"/>
                <a:cs typeface="Arial" pitchFamily="34" charset="-120"/>
              </a:rPr>
              <a:t>Ajuster la rotation lorsque cela est nécessaire</a:t>
            </a:r>
            <a:endParaRPr lang="en-US" sz="1300" dirty="0"/>
          </a:p>
        </p:txBody>
      </p:sp>
      <p:sp>
        <p:nvSpPr>
          <p:cNvPr id="19" name="Shape 16"/>
          <p:cNvSpPr/>
          <p:nvPr/>
        </p:nvSpPr>
        <p:spPr>
          <a:xfrm>
            <a:off x="9174175" y="1600200"/>
            <a:ext cx="2331720" cy="3429000"/>
          </a:xfrm>
          <a:prstGeom prst="roundRect">
            <a:avLst>
              <a:gd name="adj" fmla="val 4706"/>
            </a:avLst>
          </a:prstGeom>
          <a:solidFill>
            <a:srgbClr val="FFFFFF"/>
          </a:solidFill>
          <a:ln/>
        </p:spPr>
      </p:sp>
      <p:sp>
        <p:nvSpPr>
          <p:cNvPr id="20" name="Text 17"/>
          <p:cNvSpPr/>
          <p:nvPr/>
        </p:nvSpPr>
        <p:spPr>
          <a:xfrm>
            <a:off x="9402775" y="1783080"/>
            <a:ext cx="1874520" cy="411480"/>
          </a:xfrm>
          <a:prstGeom prst="rect">
            <a:avLst/>
          </a:prstGeom>
          <a:noFill/>
          <a:ln/>
        </p:spPr>
        <p:txBody>
          <a:bodyPr wrap="square" rtlCol="0" anchor="ctr"/>
          <a:lstStyle/>
          <a:p>
            <a:pPr indent="0" marL="0">
              <a:buNone/>
            </a:pPr>
            <a:r>
              <a:rPr lang="en-US" sz="1900" b="1" dirty="0">
                <a:solidFill>
                  <a:srgbClr val="111111"/>
                </a:solidFill>
                <a:latin typeface="Arial" pitchFamily="34" charset="0"/>
                <a:ea typeface="Arial" pitchFamily="34" charset="-122"/>
                <a:cs typeface="Arial" pitchFamily="34" charset="-120"/>
              </a:rPr>
              <a:t>Le suppléant</a:t>
            </a:r>
            <a:endParaRPr lang="en-US" sz="1900" dirty="0"/>
          </a:p>
        </p:txBody>
      </p:sp>
      <p:sp>
        <p:nvSpPr>
          <p:cNvPr id="21" name="Text 18"/>
          <p:cNvSpPr/>
          <p:nvPr/>
        </p:nvSpPr>
        <p:spPr>
          <a:xfrm>
            <a:off x="9402775" y="2194560"/>
            <a:ext cx="1874520" cy="274320"/>
          </a:xfrm>
          <a:prstGeom prst="rect">
            <a:avLst/>
          </a:prstGeom>
          <a:noFill/>
          <a:ln/>
        </p:spPr>
        <p:txBody>
          <a:bodyPr wrap="square" rtlCol="0" anchor="ctr"/>
          <a:lstStyle/>
          <a:p>
            <a:pPr indent="0" marL="0">
              <a:buNone/>
            </a:pPr>
            <a:r>
              <a:rPr lang="en-US" sz="1100" b="1" spc="150" kern="0" dirty="0">
                <a:solidFill>
                  <a:srgbClr val="E30613"/>
                </a:solidFill>
                <a:latin typeface="Arial" pitchFamily="34" charset="0"/>
                <a:ea typeface="Arial" pitchFamily="34" charset="-122"/>
                <a:cs typeface="Arial" pitchFamily="34" charset="-120"/>
              </a:rPr>
              <a:t>RELAIS</a:t>
            </a:r>
            <a:endParaRPr lang="en-US" sz="1100" dirty="0"/>
          </a:p>
        </p:txBody>
      </p:sp>
      <p:sp>
        <p:nvSpPr>
          <p:cNvPr id="22" name="Text 19"/>
          <p:cNvSpPr/>
          <p:nvPr/>
        </p:nvSpPr>
        <p:spPr>
          <a:xfrm>
            <a:off x="9357055" y="2560320"/>
            <a:ext cx="2011680" cy="2377440"/>
          </a:xfrm>
          <a:prstGeom prst="rect">
            <a:avLst/>
          </a:prstGeom>
          <a:noFill/>
          <a:ln/>
        </p:spPr>
        <p:txBody>
          <a:bodyPr wrap="square" rtlCol="0" anchor="t"/>
          <a:lstStyle/>
          <a:p>
            <a:pPr marL="342900" indent="-342900">
              <a:spcAft>
                <a:spcPts val="600"/>
              </a:spcAft>
              <a:buSzPct val="100000"/>
              <a:buChar char="✓"/>
            </a:pPr>
            <a:r>
              <a:rPr lang="en-US" sz="1300" dirty="0">
                <a:solidFill>
                  <a:srgbClr val="111111"/>
                </a:solidFill>
                <a:latin typeface="Arial" pitchFamily="34" charset="0"/>
                <a:ea typeface="Arial" pitchFamily="34" charset="-122"/>
                <a:cs typeface="Arial" pitchFamily="34" charset="-120"/>
              </a:rPr>
              <a:t>Assurer le dispatch lorsque le référent est absent</a:t>
            </a:r>
            <a:endParaRPr lang="en-US" sz="1300" dirty="0"/>
          </a:p>
        </p:txBody>
      </p:sp>
      <p:sp>
        <p:nvSpPr>
          <p:cNvPr id="23" name="Shape 20"/>
          <p:cNvSpPr/>
          <p:nvPr/>
        </p:nvSpPr>
        <p:spPr>
          <a:xfrm>
            <a:off x="685800" y="5440680"/>
            <a:ext cx="10820095" cy="685800"/>
          </a:xfrm>
          <a:prstGeom prst="roundRect">
            <a:avLst>
              <a:gd name="adj" fmla="val 16000"/>
            </a:avLst>
          </a:prstGeom>
          <a:solidFill>
            <a:srgbClr val="FFFFFF"/>
          </a:solidFill>
          <a:ln/>
        </p:spPr>
      </p:sp>
      <p:sp>
        <p:nvSpPr>
          <p:cNvPr id="24" name="Shape 21"/>
          <p:cNvSpPr/>
          <p:nvPr/>
        </p:nvSpPr>
        <p:spPr>
          <a:xfrm>
            <a:off x="685800" y="5440680"/>
            <a:ext cx="73152" cy="685800"/>
          </a:xfrm>
          <a:prstGeom prst="rect">
            <a:avLst/>
          </a:prstGeom>
          <a:solidFill>
            <a:srgbClr val="111111"/>
          </a:solidFill>
          <a:ln/>
        </p:spPr>
      </p:sp>
      <p:sp>
        <p:nvSpPr>
          <p:cNvPr id="25" name="Text 22"/>
          <p:cNvSpPr/>
          <p:nvPr/>
        </p:nvSpPr>
        <p:spPr>
          <a:xfrm>
            <a:off x="960120" y="5440680"/>
            <a:ext cx="10362895" cy="685800"/>
          </a:xfrm>
          <a:prstGeom prst="rect">
            <a:avLst/>
          </a:prstGeom>
          <a:noFill/>
          <a:ln/>
        </p:spPr>
        <p:txBody>
          <a:bodyPr wrap="square" rtlCol="0" anchor="ctr"/>
          <a:lstStyle/>
          <a:p>
            <a:pPr indent="0" marL="0">
              <a:buNone/>
            </a:pPr>
            <a:r>
              <a:rPr lang="en-US" sz="1600" b="1" dirty="0">
                <a:solidFill>
                  <a:srgbClr val="111111"/>
                </a:solidFill>
                <a:latin typeface="Arial" pitchFamily="34" charset="0"/>
                <a:ea typeface="Arial" pitchFamily="34" charset="-122"/>
                <a:cs typeface="Arial" pitchFamily="34" charset="-120"/>
              </a:rPr>
              <a:t>Chacun contribue au bon fonctionnement du service : la qualité des informations transmises facilite le travail de toute l’équipe.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E30613"/>
          </a:solidFill>
          <a:ln/>
        </p:spPr>
      </p:sp>
      <p:sp>
        <p:nvSpPr>
          <p:cNvPr id="3" name="Text 1"/>
          <p:cNvSpPr/>
          <p:nvPr/>
        </p:nvSpPr>
        <p:spPr>
          <a:xfrm>
            <a:off x="10728655" y="6400800"/>
            <a:ext cx="1188720" cy="274320"/>
          </a:xfrm>
          <a:prstGeom prst="rect">
            <a:avLst/>
          </a:prstGeom>
          <a:noFill/>
          <a:ln/>
        </p:spPr>
        <p:txBody>
          <a:bodyPr wrap="square" rtlCol="0" anchor="ctr"/>
          <a:lstStyle/>
          <a:p>
            <a:pPr algn="r" indent="0" marL="0">
              <a:buNone/>
            </a:pPr>
            <a:r>
              <a:rPr lang="en-US" sz="1100" b="1" dirty="0">
                <a:solidFill>
                  <a:srgbClr val="6B6B6B"/>
                </a:solidFill>
                <a:latin typeface="Arial" pitchFamily="34" charset="0"/>
                <a:ea typeface="Arial" pitchFamily="34" charset="-122"/>
                <a:cs typeface="Arial" pitchFamily="34" charset="-120"/>
              </a:rPr>
              <a:t>4 / 13</a:t>
            </a:r>
            <a:endParaRPr lang="en-US" sz="1100" dirty="0"/>
          </a:p>
        </p:txBody>
      </p:sp>
      <p:sp>
        <p:nvSpPr>
          <p:cNvPr id="5" name="Text 2"/>
          <p:cNvSpPr/>
          <p:nvPr/>
        </p:nvSpPr>
        <p:spPr>
          <a:xfrm>
            <a:off x="685800" y="411480"/>
            <a:ext cx="10820095" cy="274320"/>
          </a:xfrm>
          <a:prstGeom prst="rect">
            <a:avLst/>
          </a:prstGeom>
          <a:noFill/>
          <a:ln/>
        </p:spPr>
        <p:txBody>
          <a:bodyPr wrap="square" rtlCol="0" anchor="ctr"/>
          <a:lstStyle/>
          <a:p>
            <a:pPr indent="0" marL="0">
              <a:buNone/>
            </a:pPr>
            <a:r>
              <a:rPr lang="en-US" sz="1200" b="1" spc="200" kern="0" dirty="0">
                <a:solidFill>
                  <a:srgbClr val="E30613"/>
                </a:solidFill>
                <a:latin typeface="Arial" pitchFamily="34" charset="0"/>
                <a:ea typeface="Arial" pitchFamily="34" charset="-122"/>
                <a:cs typeface="Arial" pitchFamily="34" charset="-120"/>
              </a:rPr>
              <a:t>LES TEMPLATES</a:t>
            </a:r>
            <a:endParaRPr lang="en-US" sz="1200" dirty="0"/>
          </a:p>
        </p:txBody>
      </p:sp>
      <p:sp>
        <p:nvSpPr>
          <p:cNvPr id="6" name="Text 3"/>
          <p:cNvSpPr/>
          <p:nvPr/>
        </p:nvSpPr>
        <p:spPr>
          <a:xfrm>
            <a:off x="685800" y="685800"/>
            <a:ext cx="10820095" cy="6858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Les cinq templates : le bon réflexe</a:t>
            </a:r>
            <a:endParaRPr lang="en-US" sz="3200" dirty="0"/>
          </a:p>
        </p:txBody>
      </p:sp>
      <p:sp>
        <p:nvSpPr>
          <p:cNvPr id="7" name="Text 4"/>
          <p:cNvSpPr/>
          <p:nvPr/>
        </p:nvSpPr>
        <p:spPr>
          <a:xfrm>
            <a:off x="685800" y="1463040"/>
            <a:ext cx="10820095" cy="457200"/>
          </a:xfrm>
          <a:prstGeom prst="rect">
            <a:avLst/>
          </a:prstGeom>
          <a:noFill/>
          <a:ln/>
        </p:spPr>
        <p:txBody>
          <a:bodyPr wrap="square" rtlCol="0" anchor="ctr"/>
          <a:lstStyle/>
          <a:p>
            <a:pPr indent="0" marL="0">
              <a:buNone/>
            </a:pPr>
            <a:r>
              <a:rPr lang="en-US" sz="1800" dirty="0">
                <a:solidFill>
                  <a:srgbClr val="FFFFFF"/>
                </a:solidFill>
                <a:latin typeface="Arial" pitchFamily="34" charset="0"/>
                <a:ea typeface="Arial" pitchFamily="34" charset="-122"/>
                <a:cs typeface="Arial" pitchFamily="34" charset="-120"/>
              </a:rPr>
              <a:t>Chaque appel est qualifié avec le template qui correspond à la demande.</a:t>
            </a:r>
            <a:endParaRPr lang="en-US" sz="1800" dirty="0"/>
          </a:p>
        </p:txBody>
      </p:sp>
      <p:sp>
        <p:nvSpPr>
          <p:cNvPr id="8" name="Shape 5"/>
          <p:cNvSpPr/>
          <p:nvPr/>
        </p:nvSpPr>
        <p:spPr>
          <a:xfrm>
            <a:off x="685800" y="2103120"/>
            <a:ext cx="2017715" cy="1920240"/>
          </a:xfrm>
          <a:prstGeom prst="roundRect">
            <a:avLst>
              <a:gd name="adj" fmla="val 5714"/>
            </a:avLst>
          </a:prstGeom>
          <a:solidFill>
            <a:srgbClr val="E30613"/>
          </a:solidFill>
          <a:ln/>
        </p:spPr>
      </p:sp>
      <p:sp>
        <p:nvSpPr>
          <p:cNvPr id="9" name="Text 6"/>
          <p:cNvSpPr/>
          <p:nvPr/>
        </p:nvSpPr>
        <p:spPr>
          <a:xfrm>
            <a:off x="1971995" y="2148840"/>
            <a:ext cx="594360" cy="640080"/>
          </a:xfrm>
          <a:prstGeom prst="rect">
            <a:avLst/>
          </a:prstGeom>
          <a:noFill/>
          <a:ln/>
        </p:spPr>
        <p:txBody>
          <a:bodyPr wrap="square" rtlCol="0" anchor="ctr"/>
          <a:lstStyle/>
          <a:p>
            <a:pPr algn="r" indent="0" marL="0">
              <a:buNone/>
            </a:pPr>
            <a:r>
              <a:rPr lang="en-US" sz="3600" b="1" dirty="0">
                <a:solidFill>
                  <a:srgbClr val="F28A90"/>
                </a:solidFill>
                <a:latin typeface="Arial" pitchFamily="34" charset="0"/>
                <a:ea typeface="Arial" pitchFamily="34" charset="-122"/>
                <a:cs typeface="Arial" pitchFamily="34" charset="-120"/>
              </a:rPr>
              <a:t>1</a:t>
            </a:r>
            <a:endParaRPr lang="en-US" sz="3600" dirty="0"/>
          </a:p>
        </p:txBody>
      </p:sp>
      <p:sp>
        <p:nvSpPr>
          <p:cNvPr id="10" name="Text 7"/>
          <p:cNvSpPr/>
          <p:nvPr/>
        </p:nvSpPr>
        <p:spPr>
          <a:xfrm>
            <a:off x="868680" y="2743200"/>
            <a:ext cx="1743395" cy="822960"/>
          </a:xfrm>
          <a:prstGeom prst="rect">
            <a:avLst/>
          </a:prstGeom>
          <a:noFill/>
          <a:ln/>
        </p:spPr>
        <p:txBody>
          <a:bodyPr wrap="square" rtlCol="0" anchor="t"/>
          <a:lstStyle/>
          <a:p>
            <a:pPr indent="0" marL="0">
              <a:buNone/>
            </a:pPr>
            <a:r>
              <a:rPr lang="en-US" sz="1500" b="1" dirty="0">
                <a:solidFill>
                  <a:srgbClr val="FFFFFF"/>
                </a:solidFill>
                <a:latin typeface="Arial" pitchFamily="34" charset="0"/>
                <a:ea typeface="Arial" pitchFamily="34" charset="-122"/>
                <a:cs typeface="Arial" pitchFamily="34" charset="-120"/>
              </a:rPr>
              <a:t>PRIO — Movers / Déménagement</a:t>
            </a:r>
            <a:endParaRPr lang="en-US" sz="1500" dirty="0"/>
          </a:p>
        </p:txBody>
      </p:sp>
      <p:sp>
        <p:nvSpPr>
          <p:cNvPr id="11" name="Text 8"/>
          <p:cNvSpPr/>
          <p:nvPr/>
        </p:nvSpPr>
        <p:spPr>
          <a:xfrm>
            <a:off x="868680" y="3566160"/>
            <a:ext cx="1743395" cy="32004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7 champs</a:t>
            </a:r>
            <a:endParaRPr lang="en-US" sz="1100" dirty="0"/>
          </a:p>
        </p:txBody>
      </p:sp>
      <p:sp>
        <p:nvSpPr>
          <p:cNvPr id="12" name="Shape 9"/>
          <p:cNvSpPr/>
          <p:nvPr/>
        </p:nvSpPr>
        <p:spPr>
          <a:xfrm>
            <a:off x="2886395" y="2103120"/>
            <a:ext cx="2017715" cy="1920240"/>
          </a:xfrm>
          <a:prstGeom prst="roundRect">
            <a:avLst>
              <a:gd name="adj" fmla="val 5714"/>
            </a:avLst>
          </a:prstGeom>
          <a:solidFill>
            <a:srgbClr val="242424"/>
          </a:solidFill>
          <a:ln/>
        </p:spPr>
      </p:sp>
      <p:sp>
        <p:nvSpPr>
          <p:cNvPr id="13" name="Text 10"/>
          <p:cNvSpPr/>
          <p:nvPr/>
        </p:nvSpPr>
        <p:spPr>
          <a:xfrm>
            <a:off x="4172590" y="2148840"/>
            <a:ext cx="594360" cy="640080"/>
          </a:xfrm>
          <a:prstGeom prst="rect">
            <a:avLst/>
          </a:prstGeom>
          <a:noFill/>
          <a:ln/>
        </p:spPr>
        <p:txBody>
          <a:bodyPr wrap="square" rtlCol="0" anchor="ctr"/>
          <a:lstStyle/>
          <a:p>
            <a:pPr algn="r" indent="0" marL="0">
              <a:buNone/>
            </a:pPr>
            <a:r>
              <a:rPr lang="en-US" sz="3600" b="1" dirty="0">
                <a:solidFill>
                  <a:srgbClr val="4A4A4A"/>
                </a:solidFill>
                <a:latin typeface="Arial" pitchFamily="34" charset="0"/>
                <a:ea typeface="Arial" pitchFamily="34" charset="-122"/>
                <a:cs typeface="Arial" pitchFamily="34" charset="-120"/>
              </a:rPr>
              <a:t>2</a:t>
            </a:r>
            <a:endParaRPr lang="en-US" sz="3600" dirty="0"/>
          </a:p>
        </p:txBody>
      </p:sp>
      <p:sp>
        <p:nvSpPr>
          <p:cNvPr id="14" name="Text 11"/>
          <p:cNvSpPr/>
          <p:nvPr/>
        </p:nvSpPr>
        <p:spPr>
          <a:xfrm>
            <a:off x="3069275" y="2743200"/>
            <a:ext cx="1743395" cy="822960"/>
          </a:xfrm>
          <a:prstGeom prst="rect">
            <a:avLst/>
          </a:prstGeom>
          <a:noFill/>
          <a:ln/>
        </p:spPr>
        <p:txBody>
          <a:bodyPr wrap="square" rtlCol="0" anchor="t"/>
          <a:lstStyle/>
          <a:p>
            <a:pPr indent="0" marL="0">
              <a:buNone/>
            </a:pPr>
            <a:r>
              <a:rPr lang="en-US" sz="1500" b="1" dirty="0">
                <a:solidFill>
                  <a:srgbClr val="FFFFFF"/>
                </a:solidFill>
                <a:latin typeface="Arial" pitchFamily="34" charset="0"/>
                <a:ea typeface="Arial" pitchFamily="34" charset="-122"/>
                <a:cs typeface="Arial" pitchFamily="34" charset="-120"/>
              </a:rPr>
              <a:t>Movers — Résiliation</a:t>
            </a:r>
            <a:endParaRPr lang="en-US" sz="1500" dirty="0"/>
          </a:p>
        </p:txBody>
      </p:sp>
      <p:sp>
        <p:nvSpPr>
          <p:cNvPr id="15" name="Text 12"/>
          <p:cNvSpPr/>
          <p:nvPr/>
        </p:nvSpPr>
        <p:spPr>
          <a:xfrm>
            <a:off x="3069275" y="3566160"/>
            <a:ext cx="1743395" cy="320040"/>
          </a:xfrm>
          <a:prstGeom prst="rect">
            <a:avLst/>
          </a:prstGeom>
          <a:noFill/>
          <a:ln/>
        </p:spPr>
        <p:txBody>
          <a:bodyPr wrap="square" rtlCol="0" anchor="ctr"/>
          <a:lstStyle/>
          <a:p>
            <a:pPr indent="0" marL="0">
              <a:buNone/>
            </a:pPr>
            <a:r>
              <a:rPr lang="en-US" sz="1100" dirty="0">
                <a:solidFill>
                  <a:srgbClr val="BBBBBB"/>
                </a:solidFill>
                <a:latin typeface="Arial" pitchFamily="34" charset="0"/>
                <a:ea typeface="Arial" pitchFamily="34" charset="-122"/>
                <a:cs typeface="Arial" pitchFamily="34" charset="-120"/>
              </a:rPr>
              <a:t>7 champs</a:t>
            </a:r>
            <a:endParaRPr lang="en-US" sz="1100" dirty="0"/>
          </a:p>
        </p:txBody>
      </p:sp>
      <p:sp>
        <p:nvSpPr>
          <p:cNvPr id="16" name="Shape 13"/>
          <p:cNvSpPr/>
          <p:nvPr/>
        </p:nvSpPr>
        <p:spPr>
          <a:xfrm>
            <a:off x="5086990" y="2103120"/>
            <a:ext cx="2017715" cy="1920240"/>
          </a:xfrm>
          <a:prstGeom prst="roundRect">
            <a:avLst>
              <a:gd name="adj" fmla="val 5714"/>
            </a:avLst>
          </a:prstGeom>
          <a:solidFill>
            <a:srgbClr val="242424"/>
          </a:solidFill>
          <a:ln/>
        </p:spPr>
      </p:sp>
      <p:sp>
        <p:nvSpPr>
          <p:cNvPr id="17" name="Text 14"/>
          <p:cNvSpPr/>
          <p:nvPr/>
        </p:nvSpPr>
        <p:spPr>
          <a:xfrm>
            <a:off x="6373185" y="2148840"/>
            <a:ext cx="594360" cy="640080"/>
          </a:xfrm>
          <a:prstGeom prst="rect">
            <a:avLst/>
          </a:prstGeom>
          <a:noFill/>
          <a:ln/>
        </p:spPr>
        <p:txBody>
          <a:bodyPr wrap="square" rtlCol="0" anchor="ctr"/>
          <a:lstStyle/>
          <a:p>
            <a:pPr algn="r" indent="0" marL="0">
              <a:buNone/>
            </a:pPr>
            <a:r>
              <a:rPr lang="en-US" sz="3600" b="1" dirty="0">
                <a:solidFill>
                  <a:srgbClr val="4A4A4A"/>
                </a:solidFill>
                <a:latin typeface="Arial" pitchFamily="34" charset="0"/>
                <a:ea typeface="Arial" pitchFamily="34" charset="-122"/>
                <a:cs typeface="Arial" pitchFamily="34" charset="-120"/>
              </a:rPr>
              <a:t>3</a:t>
            </a:r>
            <a:endParaRPr lang="en-US" sz="3600" dirty="0"/>
          </a:p>
        </p:txBody>
      </p:sp>
      <p:sp>
        <p:nvSpPr>
          <p:cNvPr id="18" name="Text 15"/>
          <p:cNvSpPr/>
          <p:nvPr/>
        </p:nvSpPr>
        <p:spPr>
          <a:xfrm>
            <a:off x="5269870" y="2743200"/>
            <a:ext cx="1743395" cy="822960"/>
          </a:xfrm>
          <a:prstGeom prst="rect">
            <a:avLst/>
          </a:prstGeom>
          <a:noFill/>
          <a:ln/>
        </p:spPr>
        <p:txBody>
          <a:bodyPr wrap="square" rtlCol="0" anchor="t"/>
          <a:lstStyle/>
          <a:p>
            <a:pPr indent="0" marL="0">
              <a:buNone/>
            </a:pPr>
            <a:r>
              <a:rPr lang="en-US" sz="1500" b="1" dirty="0">
                <a:solidFill>
                  <a:srgbClr val="FFFFFF"/>
                </a:solidFill>
                <a:latin typeface="Arial" pitchFamily="34" charset="0"/>
                <a:ea typeface="Arial" pitchFamily="34" charset="-122"/>
                <a:cs typeface="Arial" pitchFamily="34" charset="-120"/>
              </a:rPr>
              <a:t>Movers — Résiliation Exception</a:t>
            </a:r>
            <a:endParaRPr lang="en-US" sz="1500" dirty="0"/>
          </a:p>
        </p:txBody>
      </p:sp>
      <p:sp>
        <p:nvSpPr>
          <p:cNvPr id="19" name="Text 16"/>
          <p:cNvSpPr/>
          <p:nvPr/>
        </p:nvSpPr>
        <p:spPr>
          <a:xfrm>
            <a:off x="5269870" y="3566160"/>
            <a:ext cx="1743395" cy="320040"/>
          </a:xfrm>
          <a:prstGeom prst="rect">
            <a:avLst/>
          </a:prstGeom>
          <a:noFill/>
          <a:ln/>
        </p:spPr>
        <p:txBody>
          <a:bodyPr wrap="square" rtlCol="0" anchor="ctr"/>
          <a:lstStyle/>
          <a:p>
            <a:pPr indent="0" marL="0">
              <a:buNone/>
            </a:pPr>
            <a:r>
              <a:rPr lang="en-US" sz="1100" dirty="0">
                <a:solidFill>
                  <a:srgbClr val="BBBBBB"/>
                </a:solidFill>
                <a:latin typeface="Arial" pitchFamily="34" charset="0"/>
                <a:ea typeface="Arial" pitchFamily="34" charset="-122"/>
                <a:cs typeface="Arial" pitchFamily="34" charset="-120"/>
              </a:rPr>
              <a:t>7 champs</a:t>
            </a:r>
            <a:endParaRPr lang="en-US" sz="1100" dirty="0"/>
          </a:p>
        </p:txBody>
      </p:sp>
      <p:sp>
        <p:nvSpPr>
          <p:cNvPr id="20" name="Shape 17"/>
          <p:cNvSpPr/>
          <p:nvPr/>
        </p:nvSpPr>
        <p:spPr>
          <a:xfrm>
            <a:off x="7287585" y="2103120"/>
            <a:ext cx="2017715" cy="1920240"/>
          </a:xfrm>
          <a:prstGeom prst="roundRect">
            <a:avLst>
              <a:gd name="adj" fmla="val 5714"/>
            </a:avLst>
          </a:prstGeom>
          <a:solidFill>
            <a:srgbClr val="242424"/>
          </a:solidFill>
          <a:ln/>
        </p:spPr>
      </p:sp>
      <p:sp>
        <p:nvSpPr>
          <p:cNvPr id="21" name="Text 18"/>
          <p:cNvSpPr/>
          <p:nvPr/>
        </p:nvSpPr>
        <p:spPr>
          <a:xfrm>
            <a:off x="8573780" y="2148840"/>
            <a:ext cx="594360" cy="640080"/>
          </a:xfrm>
          <a:prstGeom prst="rect">
            <a:avLst/>
          </a:prstGeom>
          <a:noFill/>
          <a:ln/>
        </p:spPr>
        <p:txBody>
          <a:bodyPr wrap="square" rtlCol="0" anchor="ctr"/>
          <a:lstStyle/>
          <a:p>
            <a:pPr algn="r" indent="0" marL="0">
              <a:buNone/>
            </a:pPr>
            <a:r>
              <a:rPr lang="en-US" sz="3600" b="1" dirty="0">
                <a:solidFill>
                  <a:srgbClr val="4A4A4A"/>
                </a:solidFill>
                <a:latin typeface="Arial" pitchFamily="34" charset="0"/>
                <a:ea typeface="Arial" pitchFamily="34" charset="-122"/>
                <a:cs typeface="Arial" pitchFamily="34" charset="-120"/>
              </a:rPr>
              <a:t>4</a:t>
            </a:r>
            <a:endParaRPr lang="en-US" sz="3600" dirty="0"/>
          </a:p>
        </p:txBody>
      </p:sp>
      <p:sp>
        <p:nvSpPr>
          <p:cNvPr id="22" name="Text 19"/>
          <p:cNvSpPr/>
          <p:nvPr/>
        </p:nvSpPr>
        <p:spPr>
          <a:xfrm>
            <a:off x="7470465" y="2743200"/>
            <a:ext cx="1743395" cy="822960"/>
          </a:xfrm>
          <a:prstGeom prst="rect">
            <a:avLst/>
          </a:prstGeom>
          <a:noFill/>
          <a:ln/>
        </p:spPr>
        <p:txBody>
          <a:bodyPr wrap="square" rtlCol="0" anchor="t"/>
          <a:lstStyle/>
          <a:p>
            <a:pPr indent="0" marL="0">
              <a:buNone/>
            </a:pPr>
            <a:r>
              <a:rPr lang="en-US" sz="1500" b="1" dirty="0">
                <a:solidFill>
                  <a:srgbClr val="FFFFFF"/>
                </a:solidFill>
                <a:latin typeface="Arial" pitchFamily="34" charset="0"/>
                <a:ea typeface="Arial" pitchFamily="34" charset="-122"/>
                <a:cs typeface="Arial" pitchFamily="34" charset="-120"/>
              </a:rPr>
              <a:t>Movers — Takeovers</a:t>
            </a:r>
            <a:endParaRPr lang="en-US" sz="1500" dirty="0"/>
          </a:p>
        </p:txBody>
      </p:sp>
      <p:sp>
        <p:nvSpPr>
          <p:cNvPr id="23" name="Text 20"/>
          <p:cNvSpPr/>
          <p:nvPr/>
        </p:nvSpPr>
        <p:spPr>
          <a:xfrm>
            <a:off x="7470465" y="3566160"/>
            <a:ext cx="1743395" cy="320040"/>
          </a:xfrm>
          <a:prstGeom prst="rect">
            <a:avLst/>
          </a:prstGeom>
          <a:noFill/>
          <a:ln/>
        </p:spPr>
        <p:txBody>
          <a:bodyPr wrap="square" rtlCol="0" anchor="ctr"/>
          <a:lstStyle/>
          <a:p>
            <a:pPr indent="0" marL="0">
              <a:buNone/>
            </a:pPr>
            <a:r>
              <a:rPr lang="en-US" sz="1100" dirty="0">
                <a:solidFill>
                  <a:srgbClr val="BBBBBB"/>
                </a:solidFill>
                <a:latin typeface="Arial" pitchFamily="34" charset="0"/>
                <a:ea typeface="Arial" pitchFamily="34" charset="-122"/>
                <a:cs typeface="Arial" pitchFamily="34" charset="-120"/>
              </a:rPr>
              <a:t>8 champs</a:t>
            </a:r>
            <a:endParaRPr lang="en-US" sz="1100" dirty="0"/>
          </a:p>
        </p:txBody>
      </p:sp>
      <p:sp>
        <p:nvSpPr>
          <p:cNvPr id="24" name="Shape 21"/>
          <p:cNvSpPr/>
          <p:nvPr/>
        </p:nvSpPr>
        <p:spPr>
          <a:xfrm>
            <a:off x="9488180" y="2103120"/>
            <a:ext cx="2017715" cy="1920240"/>
          </a:xfrm>
          <a:prstGeom prst="roundRect">
            <a:avLst>
              <a:gd name="adj" fmla="val 5714"/>
            </a:avLst>
          </a:prstGeom>
          <a:solidFill>
            <a:srgbClr val="242424"/>
          </a:solidFill>
          <a:ln/>
        </p:spPr>
      </p:sp>
      <p:sp>
        <p:nvSpPr>
          <p:cNvPr id="25" name="Text 22"/>
          <p:cNvSpPr/>
          <p:nvPr/>
        </p:nvSpPr>
        <p:spPr>
          <a:xfrm>
            <a:off x="10774375" y="2148840"/>
            <a:ext cx="594360" cy="640080"/>
          </a:xfrm>
          <a:prstGeom prst="rect">
            <a:avLst/>
          </a:prstGeom>
          <a:noFill/>
          <a:ln/>
        </p:spPr>
        <p:txBody>
          <a:bodyPr wrap="square" rtlCol="0" anchor="ctr"/>
          <a:lstStyle/>
          <a:p>
            <a:pPr algn="r" indent="0" marL="0">
              <a:buNone/>
            </a:pPr>
            <a:r>
              <a:rPr lang="en-US" sz="3600" b="1" dirty="0">
                <a:solidFill>
                  <a:srgbClr val="4A4A4A"/>
                </a:solidFill>
                <a:latin typeface="Arial" pitchFamily="34" charset="0"/>
                <a:ea typeface="Arial" pitchFamily="34" charset="-122"/>
                <a:cs typeface="Arial" pitchFamily="34" charset="-120"/>
              </a:rPr>
              <a:t>5</a:t>
            </a:r>
            <a:endParaRPr lang="en-US" sz="3600" dirty="0"/>
          </a:p>
        </p:txBody>
      </p:sp>
      <p:sp>
        <p:nvSpPr>
          <p:cNvPr id="26" name="Text 23"/>
          <p:cNvSpPr/>
          <p:nvPr/>
        </p:nvSpPr>
        <p:spPr>
          <a:xfrm>
            <a:off x="9671060" y="2743200"/>
            <a:ext cx="1743395" cy="822960"/>
          </a:xfrm>
          <a:prstGeom prst="rect">
            <a:avLst/>
          </a:prstGeom>
          <a:noFill/>
          <a:ln/>
        </p:spPr>
        <p:txBody>
          <a:bodyPr wrap="square" rtlCol="0" anchor="t"/>
          <a:lstStyle/>
          <a:p>
            <a:pPr indent="0" marL="0">
              <a:buNone/>
            </a:pPr>
            <a:r>
              <a:rPr lang="en-US" sz="1500" b="1" dirty="0">
                <a:solidFill>
                  <a:srgbClr val="FFFFFF"/>
                </a:solidFill>
                <a:latin typeface="Arial" pitchFamily="34" charset="0"/>
                <a:ea typeface="Arial" pitchFamily="34" charset="-122"/>
                <a:cs typeface="Arial" pitchFamily="34" charset="-120"/>
              </a:rPr>
              <a:t>Movers — Administratif</a:t>
            </a:r>
            <a:endParaRPr lang="en-US" sz="1500" dirty="0"/>
          </a:p>
        </p:txBody>
      </p:sp>
      <p:sp>
        <p:nvSpPr>
          <p:cNvPr id="27" name="Text 24"/>
          <p:cNvSpPr/>
          <p:nvPr/>
        </p:nvSpPr>
        <p:spPr>
          <a:xfrm>
            <a:off x="9671060" y="3566160"/>
            <a:ext cx="1743395" cy="320040"/>
          </a:xfrm>
          <a:prstGeom prst="rect">
            <a:avLst/>
          </a:prstGeom>
          <a:noFill/>
          <a:ln/>
        </p:spPr>
        <p:txBody>
          <a:bodyPr wrap="square" rtlCol="0" anchor="ctr"/>
          <a:lstStyle/>
          <a:p>
            <a:pPr indent="0" marL="0">
              <a:buNone/>
            </a:pPr>
            <a:r>
              <a:rPr lang="en-US" sz="1100" dirty="0">
                <a:solidFill>
                  <a:srgbClr val="BBBBBB"/>
                </a:solidFill>
                <a:latin typeface="Arial" pitchFamily="34" charset="0"/>
                <a:ea typeface="Arial" pitchFamily="34" charset="-122"/>
                <a:cs typeface="Arial" pitchFamily="34" charset="-120"/>
              </a:rPr>
              <a:t>7 champs</a:t>
            </a:r>
            <a:endParaRPr lang="en-US" sz="1100" dirty="0"/>
          </a:p>
        </p:txBody>
      </p:sp>
      <p:sp>
        <p:nvSpPr>
          <p:cNvPr id="28" name="Text 25"/>
          <p:cNvSpPr/>
          <p:nvPr/>
        </p:nvSpPr>
        <p:spPr>
          <a:xfrm>
            <a:off x="685800" y="4389120"/>
            <a:ext cx="10820095" cy="320040"/>
          </a:xfrm>
          <a:prstGeom prst="rect">
            <a:avLst/>
          </a:prstGeom>
          <a:noFill/>
          <a:ln/>
        </p:spPr>
        <p:txBody>
          <a:bodyPr wrap="square" rtlCol="0" anchor="ctr"/>
          <a:lstStyle/>
          <a:p>
            <a:pPr indent="0" marL="0">
              <a:buNone/>
            </a:pPr>
            <a:r>
              <a:rPr lang="en-US" sz="1200" b="1" spc="200" kern="0" dirty="0">
                <a:solidFill>
                  <a:srgbClr val="E30613"/>
                </a:solidFill>
                <a:latin typeface="Arial" pitchFamily="34" charset="0"/>
                <a:ea typeface="Arial" pitchFamily="34" charset="-122"/>
                <a:cs typeface="Arial" pitchFamily="34" charset="-120"/>
              </a:rPr>
              <a:t>POURQUOI DES TEMPLATES ?</a:t>
            </a:r>
            <a:endParaRPr lang="en-US" sz="1200" dirty="0"/>
          </a:p>
        </p:txBody>
      </p:sp>
      <p:sp>
        <p:nvSpPr>
          <p:cNvPr id="29" name="Shape 26"/>
          <p:cNvSpPr/>
          <p:nvPr/>
        </p:nvSpPr>
        <p:spPr>
          <a:xfrm>
            <a:off x="685800" y="4800600"/>
            <a:ext cx="2533574" cy="36576"/>
          </a:xfrm>
          <a:prstGeom prst="rect">
            <a:avLst/>
          </a:prstGeom>
          <a:solidFill>
            <a:srgbClr val="E30613"/>
          </a:solidFill>
          <a:ln/>
        </p:spPr>
      </p:sp>
      <p:sp>
        <p:nvSpPr>
          <p:cNvPr id="30" name="Text 27"/>
          <p:cNvSpPr/>
          <p:nvPr/>
        </p:nvSpPr>
        <p:spPr>
          <a:xfrm>
            <a:off x="685800" y="4937760"/>
            <a:ext cx="2533574" cy="822960"/>
          </a:xfrm>
          <a:prstGeom prst="rect">
            <a:avLst/>
          </a:prstGeom>
          <a:noFill/>
          <a:ln/>
        </p:spPr>
        <p:txBody>
          <a:bodyPr wrap="square" rtlCol="0" anchor="t"/>
          <a:lstStyle/>
          <a:p>
            <a:pPr indent="0" marL="0">
              <a:buNone/>
            </a:pPr>
            <a:r>
              <a:rPr lang="en-US" sz="1400" dirty="0">
                <a:solidFill>
                  <a:srgbClr val="FFFFFF"/>
                </a:solidFill>
                <a:latin typeface="Arial" pitchFamily="34" charset="0"/>
                <a:ea typeface="Arial" pitchFamily="34" charset="-122"/>
                <a:cs typeface="Arial" pitchFamily="34" charset="-120"/>
              </a:rPr>
              <a:t>Ne pas oublier d’informations importantes</a:t>
            </a:r>
            <a:endParaRPr lang="en-US" sz="1400" dirty="0"/>
          </a:p>
        </p:txBody>
      </p:sp>
      <p:sp>
        <p:nvSpPr>
          <p:cNvPr id="31" name="Shape 28"/>
          <p:cNvSpPr/>
          <p:nvPr/>
        </p:nvSpPr>
        <p:spPr>
          <a:xfrm>
            <a:off x="3447974" y="4800600"/>
            <a:ext cx="2533574" cy="36576"/>
          </a:xfrm>
          <a:prstGeom prst="rect">
            <a:avLst/>
          </a:prstGeom>
          <a:solidFill>
            <a:srgbClr val="E30613"/>
          </a:solidFill>
          <a:ln/>
        </p:spPr>
      </p:sp>
      <p:sp>
        <p:nvSpPr>
          <p:cNvPr id="32" name="Text 29"/>
          <p:cNvSpPr/>
          <p:nvPr/>
        </p:nvSpPr>
        <p:spPr>
          <a:xfrm>
            <a:off x="3447974" y="4937760"/>
            <a:ext cx="2533574" cy="822960"/>
          </a:xfrm>
          <a:prstGeom prst="rect">
            <a:avLst/>
          </a:prstGeom>
          <a:noFill/>
          <a:ln/>
        </p:spPr>
        <p:txBody>
          <a:bodyPr wrap="square" rtlCol="0" anchor="t"/>
          <a:lstStyle/>
          <a:p>
            <a:pPr indent="0" marL="0">
              <a:buNone/>
            </a:pPr>
            <a:r>
              <a:rPr lang="en-US" sz="1400" dirty="0">
                <a:solidFill>
                  <a:srgbClr val="FFFFFF"/>
                </a:solidFill>
                <a:latin typeface="Arial" pitchFamily="34" charset="0"/>
                <a:ea typeface="Arial" pitchFamily="34" charset="-122"/>
                <a:cs typeface="Arial" pitchFamily="34" charset="-120"/>
              </a:rPr>
              <a:t>Éviter les demandes incomplètes</a:t>
            </a:r>
            <a:endParaRPr lang="en-US" sz="1400" dirty="0"/>
          </a:p>
        </p:txBody>
      </p:sp>
      <p:sp>
        <p:nvSpPr>
          <p:cNvPr id="33" name="Shape 30"/>
          <p:cNvSpPr/>
          <p:nvPr/>
        </p:nvSpPr>
        <p:spPr>
          <a:xfrm>
            <a:off x="6210148" y="4800600"/>
            <a:ext cx="2533574" cy="36576"/>
          </a:xfrm>
          <a:prstGeom prst="rect">
            <a:avLst/>
          </a:prstGeom>
          <a:solidFill>
            <a:srgbClr val="E30613"/>
          </a:solidFill>
          <a:ln/>
        </p:spPr>
      </p:sp>
      <p:sp>
        <p:nvSpPr>
          <p:cNvPr id="34" name="Text 31"/>
          <p:cNvSpPr/>
          <p:nvPr/>
        </p:nvSpPr>
        <p:spPr>
          <a:xfrm>
            <a:off x="6210148" y="4937760"/>
            <a:ext cx="2533574" cy="822960"/>
          </a:xfrm>
          <a:prstGeom prst="rect">
            <a:avLst/>
          </a:prstGeom>
          <a:noFill/>
          <a:ln/>
        </p:spPr>
        <p:txBody>
          <a:bodyPr wrap="square" rtlCol="0" anchor="t"/>
          <a:lstStyle/>
          <a:p>
            <a:pPr indent="0" marL="0">
              <a:buNone/>
            </a:pPr>
            <a:r>
              <a:rPr lang="en-US" sz="1400" dirty="0">
                <a:solidFill>
                  <a:srgbClr val="FFFFFF"/>
                </a:solidFill>
                <a:latin typeface="Arial" pitchFamily="34" charset="0"/>
                <a:ea typeface="Arial" pitchFamily="34" charset="-122"/>
                <a:cs typeface="Arial" pitchFamily="34" charset="-120"/>
              </a:rPr>
              <a:t>Faciliter la compréhension du dossier par l’agent qui le reprend</a:t>
            </a:r>
            <a:endParaRPr lang="en-US" sz="1400" dirty="0"/>
          </a:p>
        </p:txBody>
      </p:sp>
      <p:sp>
        <p:nvSpPr>
          <p:cNvPr id="35" name="Shape 32"/>
          <p:cNvSpPr/>
          <p:nvPr/>
        </p:nvSpPr>
        <p:spPr>
          <a:xfrm>
            <a:off x="8972321" y="4800600"/>
            <a:ext cx="2533574" cy="36576"/>
          </a:xfrm>
          <a:prstGeom prst="rect">
            <a:avLst/>
          </a:prstGeom>
          <a:solidFill>
            <a:srgbClr val="E30613"/>
          </a:solidFill>
          <a:ln/>
        </p:spPr>
      </p:sp>
      <p:sp>
        <p:nvSpPr>
          <p:cNvPr id="36" name="Text 33"/>
          <p:cNvSpPr/>
          <p:nvPr/>
        </p:nvSpPr>
        <p:spPr>
          <a:xfrm>
            <a:off x="8972321" y="4937760"/>
            <a:ext cx="2533574" cy="822960"/>
          </a:xfrm>
          <a:prstGeom prst="rect">
            <a:avLst/>
          </a:prstGeom>
          <a:noFill/>
          <a:ln/>
        </p:spPr>
        <p:txBody>
          <a:bodyPr wrap="square" rtlCol="0" anchor="t"/>
          <a:lstStyle/>
          <a:p>
            <a:pPr indent="0" marL="0">
              <a:buNone/>
            </a:pPr>
            <a:r>
              <a:rPr lang="en-US" sz="1400" dirty="0">
                <a:solidFill>
                  <a:srgbClr val="FFFFFF"/>
                </a:solidFill>
                <a:latin typeface="Arial" pitchFamily="34" charset="0"/>
                <a:ea typeface="Arial" pitchFamily="34" charset="-122"/>
                <a:cs typeface="Arial" pitchFamily="34" charset="-120"/>
              </a:rPr>
              <a:t>Limiter les échanges pour récupérer les informations manquantes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E30613"/>
          </a:solidFill>
          <a:ln/>
        </p:spPr>
      </p:sp>
      <p:sp>
        <p:nvSpPr>
          <p:cNvPr id="3" name="Text 1"/>
          <p:cNvSpPr/>
          <p:nvPr/>
        </p:nvSpPr>
        <p:spPr>
          <a:xfrm>
            <a:off x="10728655" y="6400800"/>
            <a:ext cx="1188720" cy="274320"/>
          </a:xfrm>
          <a:prstGeom prst="rect">
            <a:avLst/>
          </a:prstGeom>
          <a:noFill/>
          <a:ln/>
        </p:spPr>
        <p:txBody>
          <a:bodyPr wrap="square" rtlCol="0" anchor="ctr"/>
          <a:lstStyle/>
          <a:p>
            <a:pPr algn="r" indent="0" marL="0">
              <a:buNone/>
            </a:pPr>
            <a:r>
              <a:rPr lang="en-US" sz="1100" b="1" dirty="0">
                <a:solidFill>
                  <a:srgbClr val="6B6B6B"/>
                </a:solidFill>
                <a:latin typeface="Arial" pitchFamily="34" charset="0"/>
                <a:ea typeface="Arial" pitchFamily="34" charset="-122"/>
                <a:cs typeface="Arial" pitchFamily="34" charset="-120"/>
              </a:rPr>
              <a:t>5 / 13</a:t>
            </a:r>
            <a:endParaRPr lang="en-US" sz="1100" dirty="0"/>
          </a:p>
        </p:txBody>
      </p:sp>
      <p:sp>
        <p:nvSpPr>
          <p:cNvPr id="5" name="Text 2"/>
          <p:cNvSpPr/>
          <p:nvPr/>
        </p:nvSpPr>
        <p:spPr>
          <a:xfrm>
            <a:off x="685800" y="411480"/>
            <a:ext cx="10820095" cy="274320"/>
          </a:xfrm>
          <a:prstGeom prst="rect">
            <a:avLst/>
          </a:prstGeom>
          <a:noFill/>
          <a:ln/>
        </p:spPr>
        <p:txBody>
          <a:bodyPr wrap="square" rtlCol="0" anchor="ctr"/>
          <a:lstStyle/>
          <a:p>
            <a:pPr indent="0" marL="0">
              <a:buNone/>
            </a:pPr>
            <a:r>
              <a:rPr lang="en-US" sz="1200" b="1" spc="200" kern="0" dirty="0">
                <a:solidFill>
                  <a:srgbClr val="E30613"/>
                </a:solidFill>
                <a:latin typeface="Arial" pitchFamily="34" charset="0"/>
                <a:ea typeface="Arial" pitchFamily="34" charset="-122"/>
                <a:cs typeface="Arial" pitchFamily="34" charset="-120"/>
              </a:rPr>
              <a:t>TEMPLATE 1</a:t>
            </a:r>
            <a:endParaRPr lang="en-US" sz="1200" dirty="0"/>
          </a:p>
        </p:txBody>
      </p:sp>
      <p:sp>
        <p:nvSpPr>
          <p:cNvPr id="6" name="Text 3"/>
          <p:cNvSpPr/>
          <p:nvPr/>
        </p:nvSpPr>
        <p:spPr>
          <a:xfrm>
            <a:off x="685800" y="685800"/>
            <a:ext cx="10820095" cy="685800"/>
          </a:xfrm>
          <a:prstGeom prst="rect">
            <a:avLst/>
          </a:prstGeom>
          <a:noFill/>
          <a:ln/>
        </p:spPr>
        <p:txBody>
          <a:bodyPr wrap="square" rtlCol="0" anchor="ctr"/>
          <a:lstStyle/>
          <a:p>
            <a:pPr indent="0" marL="0">
              <a:buNone/>
            </a:pPr>
            <a:r>
              <a:rPr lang="en-US" sz="3200" b="1" dirty="0">
                <a:solidFill>
                  <a:srgbClr val="111111"/>
                </a:solidFill>
                <a:latin typeface="Arial" pitchFamily="34" charset="0"/>
                <a:ea typeface="Arial" pitchFamily="34" charset="-122"/>
                <a:cs typeface="Arial" pitchFamily="34" charset="-120"/>
              </a:rPr>
              <a:t>PRIO — Movers / Déménagement</a:t>
            </a:r>
            <a:endParaRPr lang="en-US" sz="3200" dirty="0"/>
          </a:p>
        </p:txBody>
      </p:sp>
      <p:sp>
        <p:nvSpPr>
          <p:cNvPr id="7" name="Shape 4"/>
          <p:cNvSpPr/>
          <p:nvPr/>
        </p:nvSpPr>
        <p:spPr>
          <a:xfrm>
            <a:off x="685800" y="1600200"/>
            <a:ext cx="4572000" cy="3931920"/>
          </a:xfrm>
          <a:prstGeom prst="roundRect">
            <a:avLst>
              <a:gd name="adj" fmla="val 2791"/>
            </a:avLst>
          </a:prstGeom>
          <a:solidFill>
            <a:srgbClr val="FFFFFF"/>
          </a:solidFill>
          <a:ln/>
        </p:spPr>
      </p:sp>
      <p:sp>
        <p:nvSpPr>
          <p:cNvPr id="8" name="Shape 5"/>
          <p:cNvSpPr/>
          <p:nvPr/>
        </p:nvSpPr>
        <p:spPr>
          <a:xfrm>
            <a:off x="685800" y="1600200"/>
            <a:ext cx="4572000" cy="548640"/>
          </a:xfrm>
          <a:prstGeom prst="rect">
            <a:avLst/>
          </a:prstGeom>
          <a:solidFill>
            <a:srgbClr val="111111"/>
          </a:solidFill>
          <a:ln/>
        </p:spPr>
      </p:sp>
      <p:sp>
        <p:nvSpPr>
          <p:cNvPr id="9" name="Shape 6"/>
          <p:cNvSpPr/>
          <p:nvPr/>
        </p:nvSpPr>
        <p:spPr>
          <a:xfrm>
            <a:off x="868680" y="1709928"/>
            <a:ext cx="329184" cy="329184"/>
          </a:xfrm>
          <a:prstGeom prst="ellipse">
            <a:avLst/>
          </a:prstGeom>
          <a:solidFill>
            <a:srgbClr val="E30613"/>
          </a:solidFill>
          <a:ln/>
        </p:spPr>
      </p:sp>
      <p:sp>
        <p:nvSpPr>
          <p:cNvPr id="10" name="Text 7"/>
          <p:cNvSpPr/>
          <p:nvPr/>
        </p:nvSpPr>
        <p:spPr>
          <a:xfrm>
            <a:off x="868680" y="1709928"/>
            <a:ext cx="329184" cy="329184"/>
          </a:xfrm>
          <a:prstGeom prst="rect">
            <a:avLst/>
          </a:prstGeom>
          <a:noFill/>
          <a:ln/>
        </p:spPr>
        <p:txBody>
          <a:bodyPr wrap="square" rtlCol="0" anchor="ctr"/>
          <a:lstStyle/>
          <a:p>
            <a:pPr algn="ctr" indent="0" marL="0">
              <a:buNone/>
            </a:pPr>
            <a:r>
              <a:rPr lang="en-US" sz="1224" b="1" dirty="0">
                <a:solidFill>
                  <a:srgbClr val="FFFFFF"/>
                </a:solidFill>
                <a:latin typeface="Arial" pitchFamily="34" charset="0"/>
                <a:ea typeface="Arial" pitchFamily="34" charset="-122"/>
                <a:cs typeface="Arial" pitchFamily="34" charset="-120"/>
              </a:rPr>
              <a:t>1</a:t>
            </a:r>
            <a:endParaRPr lang="en-US" sz="1224" dirty="0"/>
          </a:p>
        </p:txBody>
      </p:sp>
      <p:sp>
        <p:nvSpPr>
          <p:cNvPr id="11" name="Text 8"/>
          <p:cNvSpPr/>
          <p:nvPr/>
        </p:nvSpPr>
        <p:spPr>
          <a:xfrm>
            <a:off x="1325880" y="1600200"/>
            <a:ext cx="3840480" cy="5486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PRIO — Movers / Déménagement</a:t>
            </a:r>
            <a:endParaRPr lang="en-US" sz="1600" dirty="0"/>
          </a:p>
        </p:txBody>
      </p:sp>
      <p:sp>
        <p:nvSpPr>
          <p:cNvPr id="12" name="Shape 9"/>
          <p:cNvSpPr/>
          <p:nvPr/>
        </p:nvSpPr>
        <p:spPr>
          <a:xfrm>
            <a:off x="914400" y="2377440"/>
            <a:ext cx="182880" cy="182880"/>
          </a:xfrm>
          <a:prstGeom prst="roundRect">
            <a:avLst>
              <a:gd name="adj" fmla="val 15000"/>
            </a:avLst>
          </a:prstGeom>
          <a:solidFill>
            <a:srgbClr val="FFFFFF"/>
          </a:solidFill>
          <a:ln w="22225">
            <a:solidFill>
              <a:srgbClr val="E30613"/>
            </a:solidFill>
            <a:prstDash val="solid"/>
          </a:ln>
        </p:spPr>
      </p:sp>
      <p:sp>
        <p:nvSpPr>
          <p:cNvPr id="13" name="Text 10"/>
          <p:cNvSpPr/>
          <p:nvPr/>
        </p:nvSpPr>
        <p:spPr>
          <a:xfrm>
            <a:off x="1234440" y="2240280"/>
            <a:ext cx="3840480" cy="457200"/>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Nom interlocuteur</a:t>
            </a:r>
            <a:endParaRPr lang="en-US" sz="1500" dirty="0"/>
          </a:p>
        </p:txBody>
      </p:sp>
      <p:sp>
        <p:nvSpPr>
          <p:cNvPr id="14" name="Shape 11"/>
          <p:cNvSpPr/>
          <p:nvPr/>
        </p:nvSpPr>
        <p:spPr>
          <a:xfrm>
            <a:off x="914400" y="2697480"/>
            <a:ext cx="4114800" cy="0"/>
          </a:xfrm>
          <a:prstGeom prst="line">
            <a:avLst/>
          </a:prstGeom>
          <a:noFill/>
          <a:ln w="9525">
            <a:solidFill>
              <a:srgbClr val="DCDCDC"/>
            </a:solidFill>
            <a:prstDash val="solid"/>
          </a:ln>
        </p:spPr>
      </p:sp>
      <p:sp>
        <p:nvSpPr>
          <p:cNvPr id="15" name="Shape 12"/>
          <p:cNvSpPr/>
          <p:nvPr/>
        </p:nvSpPr>
        <p:spPr>
          <a:xfrm>
            <a:off x="914400" y="2834640"/>
            <a:ext cx="182880" cy="182880"/>
          </a:xfrm>
          <a:prstGeom prst="roundRect">
            <a:avLst>
              <a:gd name="adj" fmla="val 15000"/>
            </a:avLst>
          </a:prstGeom>
          <a:solidFill>
            <a:srgbClr val="FFFFFF"/>
          </a:solidFill>
          <a:ln w="22225">
            <a:solidFill>
              <a:srgbClr val="E30613"/>
            </a:solidFill>
            <a:prstDash val="solid"/>
          </a:ln>
        </p:spPr>
      </p:sp>
      <p:sp>
        <p:nvSpPr>
          <p:cNvPr id="16" name="Text 13"/>
          <p:cNvSpPr/>
          <p:nvPr/>
        </p:nvSpPr>
        <p:spPr>
          <a:xfrm>
            <a:off x="1234440" y="2697480"/>
            <a:ext cx="3840480" cy="457200"/>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Numéro de téléphone</a:t>
            </a:r>
            <a:endParaRPr lang="en-US" sz="1500" dirty="0"/>
          </a:p>
        </p:txBody>
      </p:sp>
      <p:sp>
        <p:nvSpPr>
          <p:cNvPr id="17" name="Shape 14"/>
          <p:cNvSpPr/>
          <p:nvPr/>
        </p:nvSpPr>
        <p:spPr>
          <a:xfrm>
            <a:off x="914400" y="3154680"/>
            <a:ext cx="4114800" cy="0"/>
          </a:xfrm>
          <a:prstGeom prst="line">
            <a:avLst/>
          </a:prstGeom>
          <a:noFill/>
          <a:ln w="9525">
            <a:solidFill>
              <a:srgbClr val="DCDCDC"/>
            </a:solidFill>
            <a:prstDash val="solid"/>
          </a:ln>
        </p:spPr>
      </p:sp>
      <p:sp>
        <p:nvSpPr>
          <p:cNvPr id="18" name="Shape 15"/>
          <p:cNvSpPr/>
          <p:nvPr/>
        </p:nvSpPr>
        <p:spPr>
          <a:xfrm>
            <a:off x="914400" y="3291840"/>
            <a:ext cx="182880" cy="182880"/>
          </a:xfrm>
          <a:prstGeom prst="roundRect">
            <a:avLst>
              <a:gd name="adj" fmla="val 15000"/>
            </a:avLst>
          </a:prstGeom>
          <a:solidFill>
            <a:srgbClr val="FFFFFF"/>
          </a:solidFill>
          <a:ln w="22225">
            <a:solidFill>
              <a:srgbClr val="E30613"/>
            </a:solidFill>
            <a:prstDash val="solid"/>
          </a:ln>
        </p:spPr>
      </p:sp>
      <p:sp>
        <p:nvSpPr>
          <p:cNvPr id="19" name="Text 16"/>
          <p:cNvSpPr/>
          <p:nvPr/>
        </p:nvSpPr>
        <p:spPr>
          <a:xfrm>
            <a:off x="1234440" y="3154680"/>
            <a:ext cx="3840480" cy="457200"/>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Propriétaire / locataire</a:t>
            </a:r>
            <a:endParaRPr lang="en-US" sz="1500" dirty="0"/>
          </a:p>
        </p:txBody>
      </p:sp>
      <p:sp>
        <p:nvSpPr>
          <p:cNvPr id="20" name="Shape 17"/>
          <p:cNvSpPr/>
          <p:nvPr/>
        </p:nvSpPr>
        <p:spPr>
          <a:xfrm>
            <a:off x="914400" y="3611880"/>
            <a:ext cx="4114800" cy="0"/>
          </a:xfrm>
          <a:prstGeom prst="line">
            <a:avLst/>
          </a:prstGeom>
          <a:noFill/>
          <a:ln w="9525">
            <a:solidFill>
              <a:srgbClr val="DCDCDC"/>
            </a:solidFill>
            <a:prstDash val="solid"/>
          </a:ln>
        </p:spPr>
      </p:sp>
      <p:sp>
        <p:nvSpPr>
          <p:cNvPr id="21" name="Shape 18"/>
          <p:cNvSpPr/>
          <p:nvPr/>
        </p:nvSpPr>
        <p:spPr>
          <a:xfrm>
            <a:off x="914400" y="3749040"/>
            <a:ext cx="182880" cy="182880"/>
          </a:xfrm>
          <a:prstGeom prst="roundRect">
            <a:avLst>
              <a:gd name="adj" fmla="val 15000"/>
            </a:avLst>
          </a:prstGeom>
          <a:solidFill>
            <a:srgbClr val="FFFFFF"/>
          </a:solidFill>
          <a:ln w="22225">
            <a:solidFill>
              <a:srgbClr val="E30613"/>
            </a:solidFill>
            <a:prstDash val="solid"/>
          </a:ln>
        </p:spPr>
      </p:sp>
      <p:sp>
        <p:nvSpPr>
          <p:cNvPr id="22" name="Text 19"/>
          <p:cNvSpPr/>
          <p:nvPr/>
        </p:nvSpPr>
        <p:spPr>
          <a:xfrm>
            <a:off x="1234440" y="3611880"/>
            <a:ext cx="3840480" cy="457200"/>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Nouvelle adresse</a:t>
            </a:r>
            <a:endParaRPr lang="en-US" sz="1500" dirty="0"/>
          </a:p>
        </p:txBody>
      </p:sp>
      <p:sp>
        <p:nvSpPr>
          <p:cNvPr id="23" name="Shape 20"/>
          <p:cNvSpPr/>
          <p:nvPr/>
        </p:nvSpPr>
        <p:spPr>
          <a:xfrm>
            <a:off x="914400" y="4069080"/>
            <a:ext cx="4114800" cy="0"/>
          </a:xfrm>
          <a:prstGeom prst="line">
            <a:avLst/>
          </a:prstGeom>
          <a:noFill/>
          <a:ln w="9525">
            <a:solidFill>
              <a:srgbClr val="DCDCDC"/>
            </a:solidFill>
            <a:prstDash val="solid"/>
          </a:ln>
        </p:spPr>
      </p:sp>
      <p:sp>
        <p:nvSpPr>
          <p:cNvPr id="24" name="Shape 21"/>
          <p:cNvSpPr/>
          <p:nvPr/>
        </p:nvSpPr>
        <p:spPr>
          <a:xfrm>
            <a:off x="914400" y="4206240"/>
            <a:ext cx="182880" cy="182880"/>
          </a:xfrm>
          <a:prstGeom prst="roundRect">
            <a:avLst>
              <a:gd name="adj" fmla="val 15000"/>
            </a:avLst>
          </a:prstGeom>
          <a:solidFill>
            <a:srgbClr val="FFFFFF"/>
          </a:solidFill>
          <a:ln w="22225">
            <a:solidFill>
              <a:srgbClr val="E30613"/>
            </a:solidFill>
            <a:prstDash val="solid"/>
          </a:ln>
        </p:spPr>
      </p:sp>
      <p:sp>
        <p:nvSpPr>
          <p:cNvPr id="25" name="Text 22"/>
          <p:cNvSpPr/>
          <p:nvPr/>
        </p:nvSpPr>
        <p:spPr>
          <a:xfrm>
            <a:off x="1234440" y="4069080"/>
            <a:ext cx="3840480" cy="457200"/>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Date de déménagement</a:t>
            </a:r>
            <a:endParaRPr lang="en-US" sz="1500" dirty="0"/>
          </a:p>
        </p:txBody>
      </p:sp>
      <p:sp>
        <p:nvSpPr>
          <p:cNvPr id="26" name="Shape 23"/>
          <p:cNvSpPr/>
          <p:nvPr/>
        </p:nvSpPr>
        <p:spPr>
          <a:xfrm>
            <a:off x="914400" y="4526280"/>
            <a:ext cx="4114800" cy="0"/>
          </a:xfrm>
          <a:prstGeom prst="line">
            <a:avLst/>
          </a:prstGeom>
          <a:noFill/>
          <a:ln w="9525">
            <a:solidFill>
              <a:srgbClr val="DCDCDC"/>
            </a:solidFill>
            <a:prstDash val="solid"/>
          </a:ln>
        </p:spPr>
      </p:sp>
      <p:sp>
        <p:nvSpPr>
          <p:cNvPr id="27" name="Shape 24"/>
          <p:cNvSpPr/>
          <p:nvPr/>
        </p:nvSpPr>
        <p:spPr>
          <a:xfrm>
            <a:off x="914400" y="4663440"/>
            <a:ext cx="182880" cy="182880"/>
          </a:xfrm>
          <a:prstGeom prst="roundRect">
            <a:avLst>
              <a:gd name="adj" fmla="val 15000"/>
            </a:avLst>
          </a:prstGeom>
          <a:solidFill>
            <a:srgbClr val="FFFFFF"/>
          </a:solidFill>
          <a:ln w="22225">
            <a:solidFill>
              <a:srgbClr val="E30613"/>
            </a:solidFill>
            <a:prstDash val="solid"/>
          </a:ln>
        </p:spPr>
      </p:sp>
      <p:sp>
        <p:nvSpPr>
          <p:cNvPr id="28" name="Text 25"/>
          <p:cNvSpPr/>
          <p:nvPr/>
        </p:nvSpPr>
        <p:spPr>
          <a:xfrm>
            <a:off x="1234440" y="4526280"/>
            <a:ext cx="3840480" cy="457200"/>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Horaire de rappel</a:t>
            </a:r>
            <a:endParaRPr lang="en-US" sz="1500" dirty="0"/>
          </a:p>
        </p:txBody>
      </p:sp>
      <p:sp>
        <p:nvSpPr>
          <p:cNvPr id="29" name="Shape 26"/>
          <p:cNvSpPr/>
          <p:nvPr/>
        </p:nvSpPr>
        <p:spPr>
          <a:xfrm>
            <a:off x="914400" y="4983480"/>
            <a:ext cx="4114800" cy="0"/>
          </a:xfrm>
          <a:prstGeom prst="line">
            <a:avLst/>
          </a:prstGeom>
          <a:noFill/>
          <a:ln w="9525">
            <a:solidFill>
              <a:srgbClr val="DCDCDC"/>
            </a:solidFill>
            <a:prstDash val="solid"/>
          </a:ln>
        </p:spPr>
      </p:sp>
      <p:sp>
        <p:nvSpPr>
          <p:cNvPr id="30" name="Shape 27"/>
          <p:cNvSpPr/>
          <p:nvPr/>
        </p:nvSpPr>
        <p:spPr>
          <a:xfrm>
            <a:off x="914400" y="5120640"/>
            <a:ext cx="182880" cy="182880"/>
          </a:xfrm>
          <a:prstGeom prst="roundRect">
            <a:avLst>
              <a:gd name="adj" fmla="val 15000"/>
            </a:avLst>
          </a:prstGeom>
          <a:solidFill>
            <a:srgbClr val="FFFFFF"/>
          </a:solidFill>
          <a:ln w="22225">
            <a:solidFill>
              <a:srgbClr val="E30613"/>
            </a:solidFill>
            <a:prstDash val="solid"/>
          </a:ln>
        </p:spPr>
      </p:sp>
      <p:sp>
        <p:nvSpPr>
          <p:cNvPr id="31" name="Text 28"/>
          <p:cNvSpPr/>
          <p:nvPr/>
        </p:nvSpPr>
        <p:spPr>
          <a:xfrm>
            <a:off x="1234440" y="4983480"/>
            <a:ext cx="3840480" cy="457200"/>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Informations complémentaires</a:t>
            </a:r>
            <a:endParaRPr lang="en-US" sz="1500" dirty="0"/>
          </a:p>
        </p:txBody>
      </p:sp>
      <p:sp>
        <p:nvSpPr>
          <p:cNvPr id="32" name="Shape 29"/>
          <p:cNvSpPr/>
          <p:nvPr/>
        </p:nvSpPr>
        <p:spPr>
          <a:xfrm>
            <a:off x="5532120" y="1600200"/>
            <a:ext cx="5973775" cy="3520440"/>
          </a:xfrm>
          <a:prstGeom prst="roundRect">
            <a:avLst>
              <a:gd name="adj" fmla="val 3117"/>
            </a:avLst>
          </a:prstGeom>
          <a:solidFill>
            <a:srgbClr val="FFFFFF"/>
          </a:solidFill>
          <a:ln w="19050">
            <a:solidFill>
              <a:srgbClr val="111111"/>
            </a:solidFill>
            <a:prstDash val="solid"/>
          </a:ln>
        </p:spPr>
      </p:sp>
      <p:sp>
        <p:nvSpPr>
          <p:cNvPr id="33" name="Shape 30"/>
          <p:cNvSpPr/>
          <p:nvPr/>
        </p:nvSpPr>
        <p:spPr>
          <a:xfrm>
            <a:off x="5532120" y="1600200"/>
            <a:ext cx="5973775" cy="365760"/>
          </a:xfrm>
          <a:prstGeom prst="rect">
            <a:avLst/>
          </a:prstGeom>
          <a:solidFill>
            <a:srgbClr val="242424"/>
          </a:solidFill>
          <a:ln/>
        </p:spPr>
      </p:sp>
      <p:sp>
        <p:nvSpPr>
          <p:cNvPr id="34" name="Text 31"/>
          <p:cNvSpPr/>
          <p:nvPr/>
        </p:nvSpPr>
        <p:spPr>
          <a:xfrm>
            <a:off x="5715000" y="1600200"/>
            <a:ext cx="2743200" cy="365760"/>
          </a:xfrm>
          <a:prstGeom prst="rect">
            <a:avLst/>
          </a:prstGeom>
          <a:noFill/>
          <a:ln/>
        </p:spPr>
        <p:txBody>
          <a:bodyPr wrap="square" rtlCol="0" anchor="ctr"/>
          <a:lstStyle/>
          <a:p>
            <a:pPr indent="0" marL="0">
              <a:buNone/>
            </a:pPr>
            <a:r>
              <a:rPr lang="en-US" sz="1100" dirty="0">
                <a:solidFill>
                  <a:srgbClr val="CCCCCC"/>
                </a:solidFill>
                <a:latin typeface="Arial" pitchFamily="34" charset="0"/>
                <a:ea typeface="Arial" pitchFamily="34" charset="-122"/>
                <a:cs typeface="Arial" pitchFamily="34" charset="-120"/>
              </a:rPr>
              <a:t>CRM · Nouvelle tâche</a:t>
            </a:r>
            <a:endParaRPr lang="en-US" sz="1100" dirty="0"/>
          </a:p>
        </p:txBody>
      </p:sp>
      <p:sp>
        <p:nvSpPr>
          <p:cNvPr id="35" name="Text 32"/>
          <p:cNvSpPr/>
          <p:nvPr/>
        </p:nvSpPr>
        <p:spPr>
          <a:xfrm>
            <a:off x="9997135" y="1664208"/>
            <a:ext cx="1371600" cy="237744"/>
          </a:xfrm>
          <a:prstGeom prst="rect">
            <a:avLst/>
          </a:prstGeom>
          <a:solidFill>
            <a:srgbClr val="FFF3CD"/>
          </a:solidFill>
          <a:ln/>
        </p:spPr>
        <p:txBody>
          <a:bodyPr wrap="square" rtlCol="0" anchor="ctr"/>
          <a:lstStyle/>
          <a:p>
            <a:pPr algn="ctr" indent="0" marL="0">
              <a:buNone/>
            </a:pPr>
            <a:r>
              <a:rPr lang="en-US" sz="900" b="1" dirty="0">
                <a:solidFill>
                  <a:srgbClr val="6B4B00"/>
                </a:solidFill>
                <a:latin typeface="Arial" pitchFamily="34" charset="0"/>
                <a:ea typeface="Arial" pitchFamily="34" charset="-122"/>
                <a:cs typeface="Arial" pitchFamily="34" charset="-120"/>
              </a:rPr>
              <a:t>EXEMPLE FICTIF</a:t>
            </a:r>
            <a:endParaRPr lang="en-US" sz="900" dirty="0"/>
          </a:p>
        </p:txBody>
      </p:sp>
      <p:sp>
        <p:nvSpPr>
          <p:cNvPr id="36" name="Text 33"/>
          <p:cNvSpPr/>
          <p:nvPr/>
        </p:nvSpPr>
        <p:spPr>
          <a:xfrm>
            <a:off x="5715000" y="2011680"/>
            <a:ext cx="5608015" cy="365760"/>
          </a:xfrm>
          <a:prstGeom prst="rect">
            <a:avLst/>
          </a:prstGeom>
          <a:noFill/>
          <a:ln/>
        </p:spPr>
        <p:txBody>
          <a:bodyPr wrap="square" rtlCol="0" anchor="ctr"/>
          <a:lstStyle/>
          <a:p>
            <a:pPr indent="0" marL="0">
              <a:buNone/>
            </a:pPr>
            <a:r>
              <a:rPr lang="en-US" sz="1400" b="1" dirty="0">
                <a:solidFill>
                  <a:srgbClr val="111111"/>
                </a:solidFill>
                <a:latin typeface="Arial" pitchFamily="34" charset="0"/>
                <a:ea typeface="Arial" pitchFamily="34" charset="-122"/>
                <a:cs typeface="Arial" pitchFamily="34" charset="-120"/>
              </a:rPr>
              <a:t>Exemple fictif de tâche bien renseignée</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0" y="2377440"/>
          <a:ext cx="5699455" cy="914400"/>
        </p:xfrm>
        <a:graphic>
          <a:graphicData uri="http://schemas.openxmlformats.org/drawingml/2006/table">
            <a:tbl>
              <a:tblPr/>
              <a:tblGrid>
                <a:gridCol w="2011680"/>
                <a:gridCol w="3687775"/>
              </a:tblGrid>
              <a:tr h="329184">
                <a:tc>
                  <a:txBody>
                    <a:bodyPr/>
                    <a:lstStyle/>
                    <a:p>
                      <a:pPr indent="0" marL="0">
                        <a:buNone/>
                      </a:pPr>
                      <a:r>
                        <a:rPr lang="en-US" sz="1200" b="1" dirty="0">
                          <a:solidFill>
                            <a:srgbClr val="6B6B6B"/>
                          </a:solidFill>
                          <a:latin typeface="Arial" pitchFamily="34" charset="0"/>
                          <a:ea typeface="Arial" pitchFamily="34" charset="-122"/>
                          <a:cs typeface="Arial" pitchFamily="34" charset="-120"/>
                        </a:rPr>
                        <a:t>Nom interlocuteur</a:t>
                      </a:r>
                      <a:endParaRPr lang="en-US" sz="1200" dirty="0">
                        <a:latin typeface="Arial" charset="0"/>
                        <a:ea typeface="Arial" charset="0"/>
                        <a:cs typeface="Arial"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Mme Sophie Exemple</a:t>
                      </a:r>
                      <a:endParaRPr lang="en-US" sz="1200" dirty="0">
                        <a:latin typeface="Arial" charset="0"/>
                        <a:ea typeface="Arial" charset="0"/>
                        <a:cs typeface="Arial"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r>
              <a:tr h="329184">
                <a:tc>
                  <a:txBody>
                    <a:bodyPr/>
                    <a:lstStyle/>
                    <a:p>
                      <a:pPr indent="0" marL="0">
                        <a:buNone/>
                      </a:pPr>
                      <a:r>
                        <a:rPr lang="en-US" sz="1200" b="1" dirty="0">
                          <a:solidFill>
                            <a:srgbClr val="6B6B6B"/>
                          </a:solidFill>
                          <a:latin typeface="Arial" pitchFamily="34" charset="0"/>
                          <a:ea typeface="Arial" pitchFamily="34" charset="-122"/>
                          <a:cs typeface="Arial" pitchFamily="34" charset="-120"/>
                        </a:rPr>
                        <a:t>Numéro de téléphone</a:t>
                      </a:r>
                      <a:endParaRPr lang="en-US" sz="1200" dirty="0">
                        <a:latin typeface="Arial" charset="0"/>
                        <a:ea typeface="Arial" charset="0"/>
                        <a:cs typeface="Arial"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06 00 00 00 00</a:t>
                      </a:r>
                      <a:endParaRPr lang="en-US" sz="1200" dirty="0">
                        <a:latin typeface="Arial" charset="0"/>
                        <a:ea typeface="Arial" charset="0"/>
                        <a:cs typeface="Arial"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r>
              <a:tr h="329184">
                <a:tc>
                  <a:txBody>
                    <a:bodyPr/>
                    <a:lstStyle/>
                    <a:p>
                      <a:pPr indent="0" marL="0">
                        <a:buNone/>
                      </a:pPr>
                      <a:r>
                        <a:rPr lang="en-US" sz="1200" b="1" dirty="0">
                          <a:solidFill>
                            <a:srgbClr val="6B6B6B"/>
                          </a:solidFill>
                          <a:latin typeface="Arial" pitchFamily="34" charset="0"/>
                          <a:ea typeface="Arial" pitchFamily="34" charset="-122"/>
                          <a:cs typeface="Arial" pitchFamily="34" charset="-120"/>
                        </a:rPr>
                        <a:t>Propriétaire / locataire</a:t>
                      </a:r>
                      <a:endParaRPr lang="en-US" sz="1200" dirty="0">
                        <a:latin typeface="Arial" charset="0"/>
                        <a:ea typeface="Arial" charset="0"/>
                        <a:cs typeface="Arial"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Locataire</a:t>
                      </a:r>
                      <a:endParaRPr lang="en-US" sz="1200" dirty="0">
                        <a:latin typeface="Arial" charset="0"/>
                        <a:ea typeface="Arial" charset="0"/>
                        <a:cs typeface="Arial"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r>
              <a:tr h="329184">
                <a:tc>
                  <a:txBody>
                    <a:bodyPr/>
                    <a:lstStyle/>
                    <a:p>
                      <a:pPr indent="0" marL="0">
                        <a:buNone/>
                      </a:pPr>
                      <a:r>
                        <a:rPr lang="en-US" sz="1200" b="1" dirty="0">
                          <a:solidFill>
                            <a:srgbClr val="6B6B6B"/>
                          </a:solidFill>
                          <a:latin typeface="Arial" pitchFamily="34" charset="0"/>
                          <a:ea typeface="Arial" pitchFamily="34" charset="-122"/>
                          <a:cs typeface="Arial" pitchFamily="34" charset="-120"/>
                        </a:rPr>
                        <a:t>Nouvelle adresse</a:t>
                      </a:r>
                      <a:endParaRPr lang="en-US" sz="1200" dirty="0">
                        <a:latin typeface="Arial" charset="0"/>
                        <a:ea typeface="Arial" charset="0"/>
                        <a:cs typeface="Arial"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12 rue de l’Exemple, 75000 Paris</a:t>
                      </a:r>
                      <a:endParaRPr lang="en-US" sz="1200" dirty="0">
                        <a:latin typeface="Arial" charset="0"/>
                        <a:ea typeface="Arial" charset="0"/>
                        <a:cs typeface="Arial"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r>
              <a:tr h="329184">
                <a:tc>
                  <a:txBody>
                    <a:bodyPr/>
                    <a:lstStyle/>
                    <a:p>
                      <a:pPr indent="0" marL="0">
                        <a:buNone/>
                      </a:pPr>
                      <a:r>
                        <a:rPr lang="en-US" sz="1200" b="1" dirty="0">
                          <a:solidFill>
                            <a:srgbClr val="6B6B6B"/>
                          </a:solidFill>
                          <a:latin typeface="Arial" pitchFamily="34" charset="0"/>
                          <a:ea typeface="Arial" pitchFamily="34" charset="-122"/>
                          <a:cs typeface="Arial" pitchFamily="34" charset="-120"/>
                        </a:rPr>
                        <a:t>Date de déménagement</a:t>
                      </a:r>
                      <a:endParaRPr lang="en-US" sz="1200" dirty="0">
                        <a:latin typeface="Arial" charset="0"/>
                        <a:ea typeface="Arial" charset="0"/>
                        <a:cs typeface="Arial"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15/12/2026</a:t>
                      </a:r>
                      <a:endParaRPr lang="en-US" sz="1200" dirty="0">
                        <a:latin typeface="Arial" charset="0"/>
                        <a:ea typeface="Arial" charset="0"/>
                        <a:cs typeface="Arial"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r>
              <a:tr h="329184">
                <a:tc>
                  <a:txBody>
                    <a:bodyPr/>
                    <a:lstStyle/>
                    <a:p>
                      <a:pPr indent="0" marL="0">
                        <a:buNone/>
                      </a:pPr>
                      <a:r>
                        <a:rPr lang="en-US" sz="1200" b="1" dirty="0">
                          <a:solidFill>
                            <a:srgbClr val="6B6B6B"/>
                          </a:solidFill>
                          <a:latin typeface="Arial" pitchFamily="34" charset="0"/>
                          <a:ea typeface="Arial" pitchFamily="34" charset="-122"/>
                          <a:cs typeface="Arial" pitchFamily="34" charset="-120"/>
                        </a:rPr>
                        <a:t>Horaire de rappel</a:t>
                      </a:r>
                      <a:endParaRPr lang="en-US" sz="1200" dirty="0">
                        <a:latin typeface="Arial" charset="0"/>
                        <a:ea typeface="Arial" charset="0"/>
                        <a:cs typeface="Arial"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Demain, entre 10 h et 12 h</a:t>
                      </a:r>
                      <a:endParaRPr lang="en-US" sz="1200" dirty="0">
                        <a:latin typeface="Arial" charset="0"/>
                        <a:ea typeface="Arial" charset="0"/>
                        <a:cs typeface="Arial"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r>
              <a:tr h="329184">
                <a:tc>
                  <a:txBody>
                    <a:bodyPr/>
                    <a:lstStyle/>
                    <a:p>
                      <a:pPr indent="0" marL="0">
                        <a:buNone/>
                      </a:pPr>
                      <a:r>
                        <a:rPr lang="en-US" sz="1200" b="1" dirty="0">
                          <a:solidFill>
                            <a:srgbClr val="6B6B6B"/>
                          </a:solidFill>
                          <a:latin typeface="Arial" pitchFamily="34" charset="0"/>
                          <a:ea typeface="Arial" pitchFamily="34" charset="-122"/>
                          <a:cs typeface="Arial" pitchFamily="34" charset="-120"/>
                        </a:rPr>
                        <a:t>Informations complémentaires</a:t>
                      </a:r>
                      <a:endParaRPr lang="en-US" sz="1200" dirty="0">
                        <a:latin typeface="Arial" charset="0"/>
                        <a:ea typeface="Arial" charset="0"/>
                        <a:cs typeface="Arial"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Préfère être rappelée sur son portable. A déjà les clés du nouveau logement.</a:t>
                      </a:r>
                      <a:endParaRPr lang="en-US" sz="1200" dirty="0">
                        <a:latin typeface="Arial" charset="0"/>
                        <a:ea typeface="Arial" charset="0"/>
                        <a:cs typeface="Arial"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r>
            </a:tbl>
          </a:graphicData>
        </a:graphic>
      </p:graphicFrame>
      <p:sp>
        <p:nvSpPr>
          <p:cNvPr id="38" name="Text 34"/>
          <p:cNvSpPr/>
          <p:nvPr/>
        </p:nvSpPr>
        <p:spPr>
          <a:xfrm>
            <a:off x="5532120" y="5257800"/>
            <a:ext cx="5973775" cy="411480"/>
          </a:xfrm>
          <a:prstGeom prst="rect">
            <a:avLst/>
          </a:prstGeom>
          <a:noFill/>
          <a:ln w="15875">
            <a:solidFill>
              <a:srgbClr val="E30613"/>
            </a:solidFill>
            <a:prstDash val="dash"/>
          </a:ln>
        </p:spPr>
        <p:txBody>
          <a:bodyPr wrap="square" lIns="101600" tIns="101600" rIns="101600" bIns="101600" rtlCol="0" anchor="ctr"/>
          <a:lstStyle/>
          <a:p>
            <a:pPr indent="0" marL="0">
              <a:buNone/>
            </a:pPr>
            <a:r>
              <a:rPr lang="en-US" sz="1300" dirty="0">
                <a:solidFill>
                  <a:srgbClr val="242424"/>
                </a:solidFill>
                <a:latin typeface="Arial" pitchFamily="34" charset="0"/>
                <a:ea typeface="Arial" pitchFamily="34" charset="-122"/>
                <a:cs typeface="Arial" pitchFamily="34" charset="-120"/>
              </a:rPr>
              <a:t>À éviter : « Cliente qui déménage, à rappeler. »</a:t>
            </a:r>
            <a:endParaRPr lang="en-US" sz="1300" dirty="0"/>
          </a:p>
        </p:txBody>
      </p:sp>
      <p:sp>
        <p:nvSpPr>
          <p:cNvPr id="39" name="Shape 35"/>
          <p:cNvSpPr/>
          <p:nvPr/>
        </p:nvSpPr>
        <p:spPr>
          <a:xfrm>
            <a:off x="685800" y="5760720"/>
            <a:ext cx="10820095" cy="685800"/>
          </a:xfrm>
          <a:prstGeom prst="roundRect">
            <a:avLst>
              <a:gd name="adj" fmla="val 16000"/>
            </a:avLst>
          </a:prstGeom>
          <a:solidFill>
            <a:srgbClr val="111111"/>
          </a:solidFill>
          <a:ln/>
        </p:spPr>
      </p:sp>
      <p:sp>
        <p:nvSpPr>
          <p:cNvPr id="40" name="Shape 36"/>
          <p:cNvSpPr/>
          <p:nvPr/>
        </p:nvSpPr>
        <p:spPr>
          <a:xfrm>
            <a:off x="685800" y="5760720"/>
            <a:ext cx="73152" cy="685800"/>
          </a:xfrm>
          <a:prstGeom prst="rect">
            <a:avLst/>
          </a:prstGeom>
          <a:solidFill>
            <a:srgbClr val="E30613"/>
          </a:solidFill>
          <a:ln/>
        </p:spPr>
      </p:sp>
      <p:sp>
        <p:nvSpPr>
          <p:cNvPr id="41" name="Text 37"/>
          <p:cNvSpPr/>
          <p:nvPr/>
        </p:nvSpPr>
        <p:spPr>
          <a:xfrm>
            <a:off x="960120" y="5760720"/>
            <a:ext cx="10362895" cy="6858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Des informations assez précises pour que l’agent sortant reprenne le dossier sans redemander ce qui a déjà été communiqué.</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E30613"/>
          </a:solidFill>
          <a:ln/>
        </p:spPr>
      </p:sp>
      <p:sp>
        <p:nvSpPr>
          <p:cNvPr id="3" name="Text 1"/>
          <p:cNvSpPr/>
          <p:nvPr/>
        </p:nvSpPr>
        <p:spPr>
          <a:xfrm>
            <a:off x="10728655" y="6400800"/>
            <a:ext cx="1188720" cy="274320"/>
          </a:xfrm>
          <a:prstGeom prst="rect">
            <a:avLst/>
          </a:prstGeom>
          <a:noFill/>
          <a:ln/>
        </p:spPr>
        <p:txBody>
          <a:bodyPr wrap="square" rtlCol="0" anchor="ctr"/>
          <a:lstStyle/>
          <a:p>
            <a:pPr algn="r" indent="0" marL="0">
              <a:buNone/>
            </a:pPr>
            <a:r>
              <a:rPr lang="en-US" sz="1100" b="1" dirty="0">
                <a:solidFill>
                  <a:srgbClr val="6B6B6B"/>
                </a:solidFill>
                <a:latin typeface="Arial" pitchFamily="34" charset="0"/>
                <a:ea typeface="Arial" pitchFamily="34" charset="-122"/>
                <a:cs typeface="Arial" pitchFamily="34" charset="-120"/>
              </a:rPr>
              <a:t>6 / 13</a:t>
            </a:r>
            <a:endParaRPr lang="en-US" sz="1100" dirty="0"/>
          </a:p>
        </p:txBody>
      </p:sp>
      <p:sp>
        <p:nvSpPr>
          <p:cNvPr id="5" name="Text 2"/>
          <p:cNvSpPr/>
          <p:nvPr/>
        </p:nvSpPr>
        <p:spPr>
          <a:xfrm>
            <a:off x="685800" y="411480"/>
            <a:ext cx="10820095" cy="274320"/>
          </a:xfrm>
          <a:prstGeom prst="rect">
            <a:avLst/>
          </a:prstGeom>
          <a:noFill/>
          <a:ln/>
        </p:spPr>
        <p:txBody>
          <a:bodyPr wrap="square" rtlCol="0" anchor="ctr"/>
          <a:lstStyle/>
          <a:p>
            <a:pPr indent="0" marL="0">
              <a:buNone/>
            </a:pPr>
            <a:r>
              <a:rPr lang="en-US" sz="1200" b="1" spc="200" kern="0" dirty="0">
                <a:solidFill>
                  <a:srgbClr val="E30613"/>
                </a:solidFill>
                <a:latin typeface="Arial" pitchFamily="34" charset="0"/>
                <a:ea typeface="Arial" pitchFamily="34" charset="-122"/>
                <a:cs typeface="Arial" pitchFamily="34" charset="-120"/>
              </a:rPr>
              <a:t>TEMPLATES 2 ET 3</a:t>
            </a:r>
            <a:endParaRPr lang="en-US" sz="1200" dirty="0"/>
          </a:p>
        </p:txBody>
      </p:sp>
      <p:sp>
        <p:nvSpPr>
          <p:cNvPr id="6" name="Text 3"/>
          <p:cNvSpPr/>
          <p:nvPr/>
        </p:nvSpPr>
        <p:spPr>
          <a:xfrm>
            <a:off x="685800" y="685800"/>
            <a:ext cx="10820095" cy="685800"/>
          </a:xfrm>
          <a:prstGeom prst="rect">
            <a:avLst/>
          </a:prstGeom>
          <a:noFill/>
          <a:ln/>
        </p:spPr>
        <p:txBody>
          <a:bodyPr wrap="square" rtlCol="0" anchor="ctr"/>
          <a:lstStyle/>
          <a:p>
            <a:pPr indent="0" marL="0">
              <a:buNone/>
            </a:pPr>
            <a:r>
              <a:rPr lang="en-US" sz="3200" b="1" dirty="0">
                <a:solidFill>
                  <a:srgbClr val="111111"/>
                </a:solidFill>
                <a:latin typeface="Arial" pitchFamily="34" charset="0"/>
                <a:ea typeface="Arial" pitchFamily="34" charset="-122"/>
                <a:cs typeface="Arial" pitchFamily="34" charset="-120"/>
              </a:rPr>
              <a:t>Résiliation et Résiliation Exception</a:t>
            </a:r>
            <a:endParaRPr lang="en-US" sz="3200" dirty="0"/>
          </a:p>
        </p:txBody>
      </p:sp>
      <p:sp>
        <p:nvSpPr>
          <p:cNvPr id="7" name="Shape 4"/>
          <p:cNvSpPr/>
          <p:nvPr/>
        </p:nvSpPr>
        <p:spPr>
          <a:xfrm>
            <a:off x="685800" y="1600200"/>
            <a:ext cx="4572000" cy="3547872"/>
          </a:xfrm>
          <a:prstGeom prst="roundRect">
            <a:avLst>
              <a:gd name="adj" fmla="val 3093"/>
            </a:avLst>
          </a:prstGeom>
          <a:solidFill>
            <a:srgbClr val="FFFFFF"/>
          </a:solidFill>
          <a:ln/>
        </p:spPr>
      </p:sp>
      <p:sp>
        <p:nvSpPr>
          <p:cNvPr id="8" name="Shape 5"/>
          <p:cNvSpPr/>
          <p:nvPr/>
        </p:nvSpPr>
        <p:spPr>
          <a:xfrm>
            <a:off x="685800" y="1600200"/>
            <a:ext cx="4572000" cy="548640"/>
          </a:xfrm>
          <a:prstGeom prst="rect">
            <a:avLst/>
          </a:prstGeom>
          <a:solidFill>
            <a:srgbClr val="111111"/>
          </a:solidFill>
          <a:ln/>
        </p:spPr>
      </p:sp>
      <p:sp>
        <p:nvSpPr>
          <p:cNvPr id="9" name="Shape 6"/>
          <p:cNvSpPr/>
          <p:nvPr/>
        </p:nvSpPr>
        <p:spPr>
          <a:xfrm>
            <a:off x="868680" y="1709928"/>
            <a:ext cx="329184" cy="329184"/>
          </a:xfrm>
          <a:prstGeom prst="ellipse">
            <a:avLst/>
          </a:prstGeom>
          <a:solidFill>
            <a:srgbClr val="E30613"/>
          </a:solidFill>
          <a:ln/>
        </p:spPr>
      </p:sp>
      <p:sp>
        <p:nvSpPr>
          <p:cNvPr id="10" name="Text 7"/>
          <p:cNvSpPr/>
          <p:nvPr/>
        </p:nvSpPr>
        <p:spPr>
          <a:xfrm>
            <a:off x="868680" y="1709928"/>
            <a:ext cx="329184" cy="329184"/>
          </a:xfrm>
          <a:prstGeom prst="rect">
            <a:avLst/>
          </a:prstGeom>
          <a:noFill/>
          <a:ln/>
        </p:spPr>
        <p:txBody>
          <a:bodyPr wrap="square" rtlCol="0" anchor="ctr"/>
          <a:lstStyle/>
          <a:p>
            <a:pPr algn="ctr" indent="0" marL="0">
              <a:buNone/>
            </a:pPr>
            <a:r>
              <a:rPr lang="en-US" sz="1224" b="1" dirty="0">
                <a:solidFill>
                  <a:srgbClr val="FFFFFF"/>
                </a:solidFill>
                <a:latin typeface="Arial" pitchFamily="34" charset="0"/>
                <a:ea typeface="Arial" pitchFamily="34" charset="-122"/>
                <a:cs typeface="Arial" pitchFamily="34" charset="-120"/>
              </a:rPr>
              <a:t>2</a:t>
            </a:r>
            <a:endParaRPr lang="en-US" sz="1224" dirty="0"/>
          </a:p>
        </p:txBody>
      </p:sp>
      <p:sp>
        <p:nvSpPr>
          <p:cNvPr id="11" name="Text 8"/>
          <p:cNvSpPr/>
          <p:nvPr/>
        </p:nvSpPr>
        <p:spPr>
          <a:xfrm>
            <a:off x="1325880" y="1600200"/>
            <a:ext cx="3840480" cy="5486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Movers — Résiliation</a:t>
            </a:r>
            <a:endParaRPr lang="en-US" sz="1600" dirty="0"/>
          </a:p>
        </p:txBody>
      </p:sp>
      <p:sp>
        <p:nvSpPr>
          <p:cNvPr id="12" name="Shape 9"/>
          <p:cNvSpPr/>
          <p:nvPr/>
        </p:nvSpPr>
        <p:spPr>
          <a:xfrm>
            <a:off x="914400" y="2350008"/>
            <a:ext cx="182880" cy="182880"/>
          </a:xfrm>
          <a:prstGeom prst="roundRect">
            <a:avLst>
              <a:gd name="adj" fmla="val 15000"/>
            </a:avLst>
          </a:prstGeom>
          <a:solidFill>
            <a:srgbClr val="FFFFFF"/>
          </a:solidFill>
          <a:ln w="22225">
            <a:solidFill>
              <a:srgbClr val="E30613"/>
            </a:solidFill>
            <a:prstDash val="solid"/>
          </a:ln>
        </p:spPr>
      </p:sp>
      <p:sp>
        <p:nvSpPr>
          <p:cNvPr id="13" name="Text 10"/>
          <p:cNvSpPr/>
          <p:nvPr/>
        </p:nvSpPr>
        <p:spPr>
          <a:xfrm>
            <a:off x="1234440" y="2240280"/>
            <a:ext cx="384048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Nom interlocuteur</a:t>
            </a:r>
            <a:endParaRPr lang="en-US" sz="1500" dirty="0"/>
          </a:p>
        </p:txBody>
      </p:sp>
      <p:sp>
        <p:nvSpPr>
          <p:cNvPr id="14" name="Shape 11"/>
          <p:cNvSpPr/>
          <p:nvPr/>
        </p:nvSpPr>
        <p:spPr>
          <a:xfrm>
            <a:off x="914400" y="2642616"/>
            <a:ext cx="4114800" cy="0"/>
          </a:xfrm>
          <a:prstGeom prst="line">
            <a:avLst/>
          </a:prstGeom>
          <a:noFill/>
          <a:ln w="9525">
            <a:solidFill>
              <a:srgbClr val="DCDCDC"/>
            </a:solidFill>
            <a:prstDash val="solid"/>
          </a:ln>
        </p:spPr>
      </p:sp>
      <p:sp>
        <p:nvSpPr>
          <p:cNvPr id="15" name="Shape 12"/>
          <p:cNvSpPr/>
          <p:nvPr/>
        </p:nvSpPr>
        <p:spPr>
          <a:xfrm>
            <a:off x="914400" y="2752344"/>
            <a:ext cx="182880" cy="182880"/>
          </a:xfrm>
          <a:prstGeom prst="roundRect">
            <a:avLst>
              <a:gd name="adj" fmla="val 15000"/>
            </a:avLst>
          </a:prstGeom>
          <a:solidFill>
            <a:srgbClr val="FFFFFF"/>
          </a:solidFill>
          <a:ln w="22225">
            <a:solidFill>
              <a:srgbClr val="E30613"/>
            </a:solidFill>
            <a:prstDash val="solid"/>
          </a:ln>
        </p:spPr>
      </p:sp>
      <p:sp>
        <p:nvSpPr>
          <p:cNvPr id="16" name="Text 13"/>
          <p:cNvSpPr/>
          <p:nvPr/>
        </p:nvSpPr>
        <p:spPr>
          <a:xfrm>
            <a:off x="1234440" y="2642616"/>
            <a:ext cx="384048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Numéro de téléphone</a:t>
            </a:r>
            <a:endParaRPr lang="en-US" sz="1500" dirty="0"/>
          </a:p>
        </p:txBody>
      </p:sp>
      <p:sp>
        <p:nvSpPr>
          <p:cNvPr id="17" name="Shape 14"/>
          <p:cNvSpPr/>
          <p:nvPr/>
        </p:nvSpPr>
        <p:spPr>
          <a:xfrm>
            <a:off x="914400" y="3044952"/>
            <a:ext cx="4114800" cy="0"/>
          </a:xfrm>
          <a:prstGeom prst="line">
            <a:avLst/>
          </a:prstGeom>
          <a:noFill/>
          <a:ln w="9525">
            <a:solidFill>
              <a:srgbClr val="DCDCDC"/>
            </a:solidFill>
            <a:prstDash val="solid"/>
          </a:ln>
        </p:spPr>
      </p:sp>
      <p:sp>
        <p:nvSpPr>
          <p:cNvPr id="18" name="Shape 15"/>
          <p:cNvSpPr/>
          <p:nvPr/>
        </p:nvSpPr>
        <p:spPr>
          <a:xfrm>
            <a:off x="914400" y="3154680"/>
            <a:ext cx="182880" cy="182880"/>
          </a:xfrm>
          <a:prstGeom prst="roundRect">
            <a:avLst>
              <a:gd name="adj" fmla="val 15000"/>
            </a:avLst>
          </a:prstGeom>
          <a:solidFill>
            <a:srgbClr val="FFFFFF"/>
          </a:solidFill>
          <a:ln w="22225">
            <a:solidFill>
              <a:srgbClr val="E30613"/>
            </a:solidFill>
            <a:prstDash val="solid"/>
          </a:ln>
        </p:spPr>
      </p:sp>
      <p:sp>
        <p:nvSpPr>
          <p:cNvPr id="19" name="Text 16"/>
          <p:cNvSpPr/>
          <p:nvPr/>
        </p:nvSpPr>
        <p:spPr>
          <a:xfrm>
            <a:off x="1234440" y="3044952"/>
            <a:ext cx="384048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Date de déménagement</a:t>
            </a:r>
            <a:endParaRPr lang="en-US" sz="1500" dirty="0"/>
          </a:p>
        </p:txBody>
      </p:sp>
      <p:sp>
        <p:nvSpPr>
          <p:cNvPr id="20" name="Shape 17"/>
          <p:cNvSpPr/>
          <p:nvPr/>
        </p:nvSpPr>
        <p:spPr>
          <a:xfrm>
            <a:off x="914400" y="3447288"/>
            <a:ext cx="4114800" cy="0"/>
          </a:xfrm>
          <a:prstGeom prst="line">
            <a:avLst/>
          </a:prstGeom>
          <a:noFill/>
          <a:ln w="9525">
            <a:solidFill>
              <a:srgbClr val="DCDCDC"/>
            </a:solidFill>
            <a:prstDash val="solid"/>
          </a:ln>
        </p:spPr>
      </p:sp>
      <p:sp>
        <p:nvSpPr>
          <p:cNvPr id="21" name="Shape 18"/>
          <p:cNvSpPr/>
          <p:nvPr/>
        </p:nvSpPr>
        <p:spPr>
          <a:xfrm>
            <a:off x="914400" y="3557016"/>
            <a:ext cx="182880" cy="182880"/>
          </a:xfrm>
          <a:prstGeom prst="roundRect">
            <a:avLst>
              <a:gd name="adj" fmla="val 15000"/>
            </a:avLst>
          </a:prstGeom>
          <a:solidFill>
            <a:srgbClr val="FFFFFF"/>
          </a:solidFill>
          <a:ln w="22225">
            <a:solidFill>
              <a:srgbClr val="E30613"/>
            </a:solidFill>
            <a:prstDash val="solid"/>
          </a:ln>
        </p:spPr>
      </p:sp>
      <p:sp>
        <p:nvSpPr>
          <p:cNvPr id="22" name="Text 19"/>
          <p:cNvSpPr/>
          <p:nvPr/>
        </p:nvSpPr>
        <p:spPr>
          <a:xfrm>
            <a:off x="1234440" y="3447288"/>
            <a:ext cx="384048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Raison Résiliation</a:t>
            </a:r>
            <a:endParaRPr lang="en-US" sz="1500" dirty="0"/>
          </a:p>
        </p:txBody>
      </p:sp>
      <p:sp>
        <p:nvSpPr>
          <p:cNvPr id="23" name="Shape 20"/>
          <p:cNvSpPr/>
          <p:nvPr/>
        </p:nvSpPr>
        <p:spPr>
          <a:xfrm>
            <a:off x="914400" y="3849624"/>
            <a:ext cx="4114800" cy="0"/>
          </a:xfrm>
          <a:prstGeom prst="line">
            <a:avLst/>
          </a:prstGeom>
          <a:noFill/>
          <a:ln w="9525">
            <a:solidFill>
              <a:srgbClr val="DCDCDC"/>
            </a:solidFill>
            <a:prstDash val="solid"/>
          </a:ln>
        </p:spPr>
      </p:sp>
      <p:sp>
        <p:nvSpPr>
          <p:cNvPr id="24" name="Shape 21"/>
          <p:cNvSpPr/>
          <p:nvPr/>
        </p:nvSpPr>
        <p:spPr>
          <a:xfrm>
            <a:off x="914400" y="3959352"/>
            <a:ext cx="182880" cy="182880"/>
          </a:xfrm>
          <a:prstGeom prst="roundRect">
            <a:avLst>
              <a:gd name="adj" fmla="val 15000"/>
            </a:avLst>
          </a:prstGeom>
          <a:solidFill>
            <a:srgbClr val="FFFFFF"/>
          </a:solidFill>
          <a:ln w="22225">
            <a:solidFill>
              <a:srgbClr val="E30613"/>
            </a:solidFill>
            <a:prstDash val="solid"/>
          </a:ln>
        </p:spPr>
      </p:sp>
      <p:sp>
        <p:nvSpPr>
          <p:cNvPr id="25" name="Text 22"/>
          <p:cNvSpPr/>
          <p:nvPr/>
        </p:nvSpPr>
        <p:spPr>
          <a:xfrm>
            <a:off x="1234440" y="3849624"/>
            <a:ext cx="384048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Justificatif</a:t>
            </a:r>
            <a:endParaRPr lang="en-US" sz="1500" dirty="0"/>
          </a:p>
        </p:txBody>
      </p:sp>
      <p:sp>
        <p:nvSpPr>
          <p:cNvPr id="26" name="Shape 23"/>
          <p:cNvSpPr/>
          <p:nvPr/>
        </p:nvSpPr>
        <p:spPr>
          <a:xfrm>
            <a:off x="914400" y="4251960"/>
            <a:ext cx="4114800" cy="0"/>
          </a:xfrm>
          <a:prstGeom prst="line">
            <a:avLst/>
          </a:prstGeom>
          <a:noFill/>
          <a:ln w="9525">
            <a:solidFill>
              <a:srgbClr val="DCDCDC"/>
            </a:solidFill>
            <a:prstDash val="solid"/>
          </a:ln>
        </p:spPr>
      </p:sp>
      <p:sp>
        <p:nvSpPr>
          <p:cNvPr id="27" name="Shape 24"/>
          <p:cNvSpPr/>
          <p:nvPr/>
        </p:nvSpPr>
        <p:spPr>
          <a:xfrm>
            <a:off x="914400" y="4361688"/>
            <a:ext cx="182880" cy="182880"/>
          </a:xfrm>
          <a:prstGeom prst="roundRect">
            <a:avLst>
              <a:gd name="adj" fmla="val 15000"/>
            </a:avLst>
          </a:prstGeom>
          <a:solidFill>
            <a:srgbClr val="FFFFFF"/>
          </a:solidFill>
          <a:ln w="22225">
            <a:solidFill>
              <a:srgbClr val="E30613"/>
            </a:solidFill>
            <a:prstDash val="solid"/>
          </a:ln>
        </p:spPr>
      </p:sp>
      <p:sp>
        <p:nvSpPr>
          <p:cNvPr id="28" name="Text 25"/>
          <p:cNvSpPr/>
          <p:nvPr/>
        </p:nvSpPr>
        <p:spPr>
          <a:xfrm>
            <a:off x="1234440" y="4251960"/>
            <a:ext cx="384048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Horaire de rappel</a:t>
            </a:r>
            <a:endParaRPr lang="en-US" sz="1500" dirty="0"/>
          </a:p>
        </p:txBody>
      </p:sp>
      <p:sp>
        <p:nvSpPr>
          <p:cNvPr id="29" name="Shape 26"/>
          <p:cNvSpPr/>
          <p:nvPr/>
        </p:nvSpPr>
        <p:spPr>
          <a:xfrm>
            <a:off x="914400" y="4654296"/>
            <a:ext cx="4114800" cy="0"/>
          </a:xfrm>
          <a:prstGeom prst="line">
            <a:avLst/>
          </a:prstGeom>
          <a:noFill/>
          <a:ln w="9525">
            <a:solidFill>
              <a:srgbClr val="DCDCDC"/>
            </a:solidFill>
            <a:prstDash val="solid"/>
          </a:ln>
        </p:spPr>
      </p:sp>
      <p:sp>
        <p:nvSpPr>
          <p:cNvPr id="30" name="Shape 27"/>
          <p:cNvSpPr/>
          <p:nvPr/>
        </p:nvSpPr>
        <p:spPr>
          <a:xfrm>
            <a:off x="914400" y="4764024"/>
            <a:ext cx="182880" cy="182880"/>
          </a:xfrm>
          <a:prstGeom prst="roundRect">
            <a:avLst>
              <a:gd name="adj" fmla="val 15000"/>
            </a:avLst>
          </a:prstGeom>
          <a:solidFill>
            <a:srgbClr val="FFFFFF"/>
          </a:solidFill>
          <a:ln w="22225">
            <a:solidFill>
              <a:srgbClr val="E30613"/>
            </a:solidFill>
            <a:prstDash val="solid"/>
          </a:ln>
        </p:spPr>
      </p:sp>
      <p:sp>
        <p:nvSpPr>
          <p:cNvPr id="31" name="Text 28"/>
          <p:cNvSpPr/>
          <p:nvPr/>
        </p:nvSpPr>
        <p:spPr>
          <a:xfrm>
            <a:off x="1234440" y="4654296"/>
            <a:ext cx="384048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Informations complémentaires</a:t>
            </a:r>
            <a:endParaRPr lang="en-US" sz="1500" dirty="0"/>
          </a:p>
        </p:txBody>
      </p:sp>
      <p:sp>
        <p:nvSpPr>
          <p:cNvPr id="32" name="Shape 29"/>
          <p:cNvSpPr/>
          <p:nvPr/>
        </p:nvSpPr>
        <p:spPr>
          <a:xfrm>
            <a:off x="6933895" y="1600200"/>
            <a:ext cx="4572000" cy="3547872"/>
          </a:xfrm>
          <a:prstGeom prst="roundRect">
            <a:avLst>
              <a:gd name="adj" fmla="val 3093"/>
            </a:avLst>
          </a:prstGeom>
          <a:solidFill>
            <a:srgbClr val="FFFFFF"/>
          </a:solidFill>
          <a:ln/>
        </p:spPr>
      </p:sp>
      <p:sp>
        <p:nvSpPr>
          <p:cNvPr id="33" name="Shape 30"/>
          <p:cNvSpPr/>
          <p:nvPr/>
        </p:nvSpPr>
        <p:spPr>
          <a:xfrm>
            <a:off x="6933895" y="1600200"/>
            <a:ext cx="4572000" cy="548640"/>
          </a:xfrm>
          <a:prstGeom prst="rect">
            <a:avLst/>
          </a:prstGeom>
          <a:solidFill>
            <a:srgbClr val="111111"/>
          </a:solidFill>
          <a:ln/>
        </p:spPr>
      </p:sp>
      <p:sp>
        <p:nvSpPr>
          <p:cNvPr id="34" name="Shape 31"/>
          <p:cNvSpPr/>
          <p:nvPr/>
        </p:nvSpPr>
        <p:spPr>
          <a:xfrm>
            <a:off x="7116775" y="1709928"/>
            <a:ext cx="329184" cy="329184"/>
          </a:xfrm>
          <a:prstGeom prst="ellipse">
            <a:avLst/>
          </a:prstGeom>
          <a:solidFill>
            <a:srgbClr val="E30613"/>
          </a:solidFill>
          <a:ln/>
        </p:spPr>
      </p:sp>
      <p:sp>
        <p:nvSpPr>
          <p:cNvPr id="35" name="Text 32"/>
          <p:cNvSpPr/>
          <p:nvPr/>
        </p:nvSpPr>
        <p:spPr>
          <a:xfrm>
            <a:off x="7116775" y="1709928"/>
            <a:ext cx="329184" cy="329184"/>
          </a:xfrm>
          <a:prstGeom prst="rect">
            <a:avLst/>
          </a:prstGeom>
          <a:noFill/>
          <a:ln/>
        </p:spPr>
        <p:txBody>
          <a:bodyPr wrap="square" rtlCol="0" anchor="ctr"/>
          <a:lstStyle/>
          <a:p>
            <a:pPr algn="ctr" indent="0" marL="0">
              <a:buNone/>
            </a:pPr>
            <a:r>
              <a:rPr lang="en-US" sz="1224" b="1" dirty="0">
                <a:solidFill>
                  <a:srgbClr val="FFFFFF"/>
                </a:solidFill>
                <a:latin typeface="Arial" pitchFamily="34" charset="0"/>
                <a:ea typeface="Arial" pitchFamily="34" charset="-122"/>
                <a:cs typeface="Arial" pitchFamily="34" charset="-120"/>
              </a:rPr>
              <a:t>3</a:t>
            </a:r>
            <a:endParaRPr lang="en-US" sz="1224" dirty="0"/>
          </a:p>
        </p:txBody>
      </p:sp>
      <p:sp>
        <p:nvSpPr>
          <p:cNvPr id="36" name="Text 33"/>
          <p:cNvSpPr/>
          <p:nvPr/>
        </p:nvSpPr>
        <p:spPr>
          <a:xfrm>
            <a:off x="7573975" y="1600200"/>
            <a:ext cx="3840480" cy="5486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Movers — Résiliation Exception</a:t>
            </a:r>
            <a:endParaRPr lang="en-US" sz="1600" dirty="0"/>
          </a:p>
        </p:txBody>
      </p:sp>
      <p:sp>
        <p:nvSpPr>
          <p:cNvPr id="37" name="Shape 34"/>
          <p:cNvSpPr/>
          <p:nvPr/>
        </p:nvSpPr>
        <p:spPr>
          <a:xfrm>
            <a:off x="7162495" y="2350008"/>
            <a:ext cx="182880" cy="182880"/>
          </a:xfrm>
          <a:prstGeom prst="roundRect">
            <a:avLst>
              <a:gd name="adj" fmla="val 15000"/>
            </a:avLst>
          </a:prstGeom>
          <a:solidFill>
            <a:srgbClr val="FFFFFF"/>
          </a:solidFill>
          <a:ln w="22225">
            <a:solidFill>
              <a:srgbClr val="E30613"/>
            </a:solidFill>
            <a:prstDash val="solid"/>
          </a:ln>
        </p:spPr>
      </p:sp>
      <p:sp>
        <p:nvSpPr>
          <p:cNvPr id="38" name="Text 35"/>
          <p:cNvSpPr/>
          <p:nvPr/>
        </p:nvSpPr>
        <p:spPr>
          <a:xfrm>
            <a:off x="7482535" y="2240280"/>
            <a:ext cx="384048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Nom interlocuteur</a:t>
            </a:r>
            <a:endParaRPr lang="en-US" sz="1500" dirty="0"/>
          </a:p>
        </p:txBody>
      </p:sp>
      <p:sp>
        <p:nvSpPr>
          <p:cNvPr id="39" name="Shape 36"/>
          <p:cNvSpPr/>
          <p:nvPr/>
        </p:nvSpPr>
        <p:spPr>
          <a:xfrm>
            <a:off x="7162495" y="2642616"/>
            <a:ext cx="4114800" cy="0"/>
          </a:xfrm>
          <a:prstGeom prst="line">
            <a:avLst/>
          </a:prstGeom>
          <a:noFill/>
          <a:ln w="9525">
            <a:solidFill>
              <a:srgbClr val="DCDCDC"/>
            </a:solidFill>
            <a:prstDash val="solid"/>
          </a:ln>
        </p:spPr>
      </p:sp>
      <p:sp>
        <p:nvSpPr>
          <p:cNvPr id="40" name="Shape 37"/>
          <p:cNvSpPr/>
          <p:nvPr/>
        </p:nvSpPr>
        <p:spPr>
          <a:xfrm>
            <a:off x="7162495" y="2752344"/>
            <a:ext cx="182880" cy="182880"/>
          </a:xfrm>
          <a:prstGeom prst="roundRect">
            <a:avLst>
              <a:gd name="adj" fmla="val 15000"/>
            </a:avLst>
          </a:prstGeom>
          <a:solidFill>
            <a:srgbClr val="FFFFFF"/>
          </a:solidFill>
          <a:ln w="22225">
            <a:solidFill>
              <a:srgbClr val="E30613"/>
            </a:solidFill>
            <a:prstDash val="solid"/>
          </a:ln>
        </p:spPr>
      </p:sp>
      <p:sp>
        <p:nvSpPr>
          <p:cNvPr id="41" name="Text 38"/>
          <p:cNvSpPr/>
          <p:nvPr/>
        </p:nvSpPr>
        <p:spPr>
          <a:xfrm>
            <a:off x="7482535" y="2642616"/>
            <a:ext cx="384048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Numéro de téléphone</a:t>
            </a:r>
            <a:endParaRPr lang="en-US" sz="1500" dirty="0"/>
          </a:p>
        </p:txBody>
      </p:sp>
      <p:sp>
        <p:nvSpPr>
          <p:cNvPr id="42" name="Shape 39"/>
          <p:cNvSpPr/>
          <p:nvPr/>
        </p:nvSpPr>
        <p:spPr>
          <a:xfrm>
            <a:off x="7162495" y="3044952"/>
            <a:ext cx="4114800" cy="0"/>
          </a:xfrm>
          <a:prstGeom prst="line">
            <a:avLst/>
          </a:prstGeom>
          <a:noFill/>
          <a:ln w="9525">
            <a:solidFill>
              <a:srgbClr val="DCDCDC"/>
            </a:solidFill>
            <a:prstDash val="solid"/>
          </a:ln>
        </p:spPr>
      </p:sp>
      <p:sp>
        <p:nvSpPr>
          <p:cNvPr id="43" name="Shape 40"/>
          <p:cNvSpPr/>
          <p:nvPr/>
        </p:nvSpPr>
        <p:spPr>
          <a:xfrm>
            <a:off x="7162495" y="3154680"/>
            <a:ext cx="182880" cy="182880"/>
          </a:xfrm>
          <a:prstGeom prst="roundRect">
            <a:avLst>
              <a:gd name="adj" fmla="val 15000"/>
            </a:avLst>
          </a:prstGeom>
          <a:solidFill>
            <a:srgbClr val="FFFFFF"/>
          </a:solidFill>
          <a:ln w="22225">
            <a:solidFill>
              <a:srgbClr val="E30613"/>
            </a:solidFill>
            <a:prstDash val="solid"/>
          </a:ln>
        </p:spPr>
      </p:sp>
      <p:sp>
        <p:nvSpPr>
          <p:cNvPr id="44" name="Text 41"/>
          <p:cNvSpPr/>
          <p:nvPr/>
        </p:nvSpPr>
        <p:spPr>
          <a:xfrm>
            <a:off x="7482535" y="3044952"/>
            <a:ext cx="384048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Date de déménagement</a:t>
            </a:r>
            <a:endParaRPr lang="en-US" sz="1500" dirty="0"/>
          </a:p>
        </p:txBody>
      </p:sp>
      <p:sp>
        <p:nvSpPr>
          <p:cNvPr id="45" name="Shape 42"/>
          <p:cNvSpPr/>
          <p:nvPr/>
        </p:nvSpPr>
        <p:spPr>
          <a:xfrm>
            <a:off x="7162495" y="3447288"/>
            <a:ext cx="4114800" cy="0"/>
          </a:xfrm>
          <a:prstGeom prst="line">
            <a:avLst/>
          </a:prstGeom>
          <a:noFill/>
          <a:ln w="9525">
            <a:solidFill>
              <a:srgbClr val="DCDCDC"/>
            </a:solidFill>
            <a:prstDash val="solid"/>
          </a:ln>
        </p:spPr>
      </p:sp>
      <p:sp>
        <p:nvSpPr>
          <p:cNvPr id="46" name="Shape 43"/>
          <p:cNvSpPr/>
          <p:nvPr/>
        </p:nvSpPr>
        <p:spPr>
          <a:xfrm>
            <a:off x="7162495" y="3557016"/>
            <a:ext cx="182880" cy="182880"/>
          </a:xfrm>
          <a:prstGeom prst="roundRect">
            <a:avLst>
              <a:gd name="adj" fmla="val 15000"/>
            </a:avLst>
          </a:prstGeom>
          <a:solidFill>
            <a:srgbClr val="FFFFFF"/>
          </a:solidFill>
          <a:ln w="22225">
            <a:solidFill>
              <a:srgbClr val="E30613"/>
            </a:solidFill>
            <a:prstDash val="solid"/>
          </a:ln>
        </p:spPr>
      </p:sp>
      <p:sp>
        <p:nvSpPr>
          <p:cNvPr id="47" name="Text 44"/>
          <p:cNvSpPr/>
          <p:nvPr/>
        </p:nvSpPr>
        <p:spPr>
          <a:xfrm>
            <a:off x="7482535" y="3447288"/>
            <a:ext cx="384048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Raison Résiliation</a:t>
            </a:r>
            <a:endParaRPr lang="en-US" sz="1500" dirty="0"/>
          </a:p>
        </p:txBody>
      </p:sp>
      <p:sp>
        <p:nvSpPr>
          <p:cNvPr id="48" name="Shape 45"/>
          <p:cNvSpPr/>
          <p:nvPr/>
        </p:nvSpPr>
        <p:spPr>
          <a:xfrm>
            <a:off x="7162495" y="3849624"/>
            <a:ext cx="4114800" cy="0"/>
          </a:xfrm>
          <a:prstGeom prst="line">
            <a:avLst/>
          </a:prstGeom>
          <a:noFill/>
          <a:ln w="9525">
            <a:solidFill>
              <a:srgbClr val="DCDCDC"/>
            </a:solidFill>
            <a:prstDash val="solid"/>
          </a:ln>
        </p:spPr>
      </p:sp>
      <p:sp>
        <p:nvSpPr>
          <p:cNvPr id="49" name="Shape 46"/>
          <p:cNvSpPr/>
          <p:nvPr/>
        </p:nvSpPr>
        <p:spPr>
          <a:xfrm>
            <a:off x="7162495" y="3959352"/>
            <a:ext cx="182880" cy="182880"/>
          </a:xfrm>
          <a:prstGeom prst="roundRect">
            <a:avLst>
              <a:gd name="adj" fmla="val 15000"/>
            </a:avLst>
          </a:prstGeom>
          <a:solidFill>
            <a:srgbClr val="FFFFFF"/>
          </a:solidFill>
          <a:ln w="22225">
            <a:solidFill>
              <a:srgbClr val="E30613"/>
            </a:solidFill>
            <a:prstDash val="solid"/>
          </a:ln>
        </p:spPr>
      </p:sp>
      <p:sp>
        <p:nvSpPr>
          <p:cNvPr id="50" name="Text 47"/>
          <p:cNvSpPr/>
          <p:nvPr/>
        </p:nvSpPr>
        <p:spPr>
          <a:xfrm>
            <a:off x="7482535" y="3849624"/>
            <a:ext cx="384048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Justificatif</a:t>
            </a:r>
            <a:endParaRPr lang="en-US" sz="1500" dirty="0"/>
          </a:p>
        </p:txBody>
      </p:sp>
      <p:sp>
        <p:nvSpPr>
          <p:cNvPr id="51" name="Shape 48"/>
          <p:cNvSpPr/>
          <p:nvPr/>
        </p:nvSpPr>
        <p:spPr>
          <a:xfrm>
            <a:off x="7162495" y="4251960"/>
            <a:ext cx="4114800" cy="0"/>
          </a:xfrm>
          <a:prstGeom prst="line">
            <a:avLst/>
          </a:prstGeom>
          <a:noFill/>
          <a:ln w="9525">
            <a:solidFill>
              <a:srgbClr val="DCDCDC"/>
            </a:solidFill>
            <a:prstDash val="solid"/>
          </a:ln>
        </p:spPr>
      </p:sp>
      <p:sp>
        <p:nvSpPr>
          <p:cNvPr id="52" name="Shape 49"/>
          <p:cNvSpPr/>
          <p:nvPr/>
        </p:nvSpPr>
        <p:spPr>
          <a:xfrm>
            <a:off x="7162495" y="4361688"/>
            <a:ext cx="182880" cy="182880"/>
          </a:xfrm>
          <a:prstGeom prst="roundRect">
            <a:avLst>
              <a:gd name="adj" fmla="val 15000"/>
            </a:avLst>
          </a:prstGeom>
          <a:solidFill>
            <a:srgbClr val="FFFFFF"/>
          </a:solidFill>
          <a:ln w="22225">
            <a:solidFill>
              <a:srgbClr val="E30613"/>
            </a:solidFill>
            <a:prstDash val="solid"/>
          </a:ln>
        </p:spPr>
      </p:sp>
      <p:sp>
        <p:nvSpPr>
          <p:cNvPr id="53" name="Text 50"/>
          <p:cNvSpPr/>
          <p:nvPr/>
        </p:nvSpPr>
        <p:spPr>
          <a:xfrm>
            <a:off x="7482535" y="4251960"/>
            <a:ext cx="384048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Horaire de rappel</a:t>
            </a:r>
            <a:endParaRPr lang="en-US" sz="1500" dirty="0"/>
          </a:p>
        </p:txBody>
      </p:sp>
      <p:sp>
        <p:nvSpPr>
          <p:cNvPr id="54" name="Shape 51"/>
          <p:cNvSpPr/>
          <p:nvPr/>
        </p:nvSpPr>
        <p:spPr>
          <a:xfrm>
            <a:off x="7162495" y="4654296"/>
            <a:ext cx="4114800" cy="0"/>
          </a:xfrm>
          <a:prstGeom prst="line">
            <a:avLst/>
          </a:prstGeom>
          <a:noFill/>
          <a:ln w="9525">
            <a:solidFill>
              <a:srgbClr val="DCDCDC"/>
            </a:solidFill>
            <a:prstDash val="solid"/>
          </a:ln>
        </p:spPr>
      </p:sp>
      <p:sp>
        <p:nvSpPr>
          <p:cNvPr id="55" name="Shape 52"/>
          <p:cNvSpPr/>
          <p:nvPr/>
        </p:nvSpPr>
        <p:spPr>
          <a:xfrm>
            <a:off x="7162495" y="4764024"/>
            <a:ext cx="182880" cy="182880"/>
          </a:xfrm>
          <a:prstGeom prst="roundRect">
            <a:avLst>
              <a:gd name="adj" fmla="val 15000"/>
            </a:avLst>
          </a:prstGeom>
          <a:solidFill>
            <a:srgbClr val="FFFFFF"/>
          </a:solidFill>
          <a:ln w="22225">
            <a:solidFill>
              <a:srgbClr val="E30613"/>
            </a:solidFill>
            <a:prstDash val="solid"/>
          </a:ln>
        </p:spPr>
      </p:sp>
      <p:sp>
        <p:nvSpPr>
          <p:cNvPr id="56" name="Text 53"/>
          <p:cNvSpPr/>
          <p:nvPr/>
        </p:nvSpPr>
        <p:spPr>
          <a:xfrm>
            <a:off x="7482535" y="4654296"/>
            <a:ext cx="384048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Informations complémentaires</a:t>
            </a:r>
            <a:endParaRPr lang="en-US" sz="1500" dirty="0"/>
          </a:p>
        </p:txBody>
      </p:sp>
      <p:sp>
        <p:nvSpPr>
          <p:cNvPr id="57" name="Shape 54"/>
          <p:cNvSpPr/>
          <p:nvPr/>
        </p:nvSpPr>
        <p:spPr>
          <a:xfrm>
            <a:off x="5730088" y="2651760"/>
            <a:ext cx="731520" cy="731520"/>
          </a:xfrm>
          <a:prstGeom prst="ellipse">
            <a:avLst/>
          </a:prstGeom>
          <a:solidFill>
            <a:srgbClr val="E30613"/>
          </a:solidFill>
          <a:ln/>
        </p:spPr>
      </p:sp>
      <p:sp>
        <p:nvSpPr>
          <p:cNvPr id="58" name="Text 55"/>
          <p:cNvSpPr/>
          <p:nvPr/>
        </p:nvSpPr>
        <p:spPr>
          <a:xfrm>
            <a:off x="5730088" y="2651760"/>
            <a:ext cx="731520" cy="731520"/>
          </a:xfrm>
          <a:prstGeom prst="rect">
            <a:avLst/>
          </a:prstGeom>
          <a:noFill/>
          <a:ln/>
        </p:spPr>
        <p:txBody>
          <a:bodyPr wrap="square" rtlCol="0" anchor="ctr"/>
          <a:lstStyle/>
          <a:p>
            <a:pPr algn="ctr" indent="0" marL="0">
              <a:buNone/>
            </a:pPr>
            <a:r>
              <a:rPr lang="en-US" sz="2720" b="1" dirty="0">
                <a:solidFill>
                  <a:srgbClr val="FFFFFF"/>
                </a:solidFill>
                <a:latin typeface="Arial" pitchFamily="34" charset="0"/>
                <a:ea typeface="Arial" pitchFamily="34" charset="-122"/>
                <a:cs typeface="Arial" pitchFamily="34" charset="-120"/>
              </a:rPr>
              <a:t>=</a:t>
            </a:r>
            <a:endParaRPr lang="en-US" sz="2720" dirty="0"/>
          </a:p>
        </p:txBody>
      </p:sp>
      <p:sp>
        <p:nvSpPr>
          <p:cNvPr id="59" name="Text 56"/>
          <p:cNvSpPr/>
          <p:nvPr/>
        </p:nvSpPr>
        <p:spPr>
          <a:xfrm>
            <a:off x="5272888" y="3429000"/>
            <a:ext cx="1645920" cy="548640"/>
          </a:xfrm>
          <a:prstGeom prst="rect">
            <a:avLst/>
          </a:prstGeom>
          <a:noFill/>
          <a:ln/>
        </p:spPr>
        <p:txBody>
          <a:bodyPr wrap="square" rtlCol="0" anchor="ctr"/>
          <a:lstStyle/>
          <a:p>
            <a:pPr algn="ctr" indent="0" marL="0">
              <a:buNone/>
            </a:pPr>
            <a:r>
              <a:rPr lang="en-US" sz="1200" b="1" dirty="0">
                <a:solidFill>
                  <a:srgbClr val="242424"/>
                </a:solidFill>
                <a:latin typeface="Arial" pitchFamily="34" charset="0"/>
                <a:ea typeface="Arial" pitchFamily="34" charset="-122"/>
                <a:cs typeface="Arial" pitchFamily="34" charset="-120"/>
              </a:rPr>
              <a:t>Les champs sont identiques</a:t>
            </a:r>
            <a:endParaRPr lang="en-US" sz="1200" dirty="0"/>
          </a:p>
        </p:txBody>
      </p:sp>
      <p:sp>
        <p:nvSpPr>
          <p:cNvPr id="60" name="Shape 57"/>
          <p:cNvSpPr/>
          <p:nvPr/>
        </p:nvSpPr>
        <p:spPr>
          <a:xfrm>
            <a:off x="685800" y="5394960"/>
            <a:ext cx="6309360" cy="777240"/>
          </a:xfrm>
          <a:prstGeom prst="roundRect">
            <a:avLst>
              <a:gd name="adj" fmla="val 14118"/>
            </a:avLst>
          </a:prstGeom>
          <a:solidFill>
            <a:srgbClr val="111111"/>
          </a:solidFill>
          <a:ln/>
        </p:spPr>
      </p:sp>
      <p:sp>
        <p:nvSpPr>
          <p:cNvPr id="61" name="Shape 58"/>
          <p:cNvSpPr/>
          <p:nvPr/>
        </p:nvSpPr>
        <p:spPr>
          <a:xfrm>
            <a:off x="685800" y="5394960"/>
            <a:ext cx="73152" cy="777240"/>
          </a:xfrm>
          <a:prstGeom prst="rect">
            <a:avLst/>
          </a:prstGeom>
          <a:solidFill>
            <a:srgbClr val="E30613"/>
          </a:solidFill>
          <a:ln/>
        </p:spPr>
      </p:sp>
      <p:sp>
        <p:nvSpPr>
          <p:cNvPr id="62" name="Text 59"/>
          <p:cNvSpPr/>
          <p:nvPr/>
        </p:nvSpPr>
        <p:spPr>
          <a:xfrm>
            <a:off x="960120" y="5394960"/>
            <a:ext cx="5943600" cy="7772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La catégorie choisie doit correspondre au traitement applicable dans le processus existant.</a:t>
            </a:r>
            <a:endParaRPr lang="en-US" sz="1500" dirty="0"/>
          </a:p>
        </p:txBody>
      </p:sp>
      <p:sp>
        <p:nvSpPr>
          <p:cNvPr id="63" name="Shape 60"/>
          <p:cNvSpPr/>
          <p:nvPr/>
        </p:nvSpPr>
        <p:spPr>
          <a:xfrm>
            <a:off x="7178040" y="5394960"/>
            <a:ext cx="4327855" cy="777240"/>
          </a:xfrm>
          <a:prstGeom prst="roundRect">
            <a:avLst>
              <a:gd name="adj" fmla="val 14118"/>
            </a:avLst>
          </a:prstGeom>
          <a:solidFill>
            <a:srgbClr val="FFFFFF"/>
          </a:solidFill>
          <a:ln/>
        </p:spPr>
      </p:sp>
      <p:sp>
        <p:nvSpPr>
          <p:cNvPr id="64" name="Text 61"/>
          <p:cNvSpPr/>
          <p:nvPr/>
        </p:nvSpPr>
        <p:spPr>
          <a:xfrm>
            <a:off x="7360920" y="5394960"/>
            <a:ext cx="4053535" cy="777240"/>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En cas de doute sur la catégorie : se référer au processus existant.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E30613"/>
          </a:solidFill>
          <a:ln/>
        </p:spPr>
      </p:sp>
      <p:sp>
        <p:nvSpPr>
          <p:cNvPr id="3" name="Text 1"/>
          <p:cNvSpPr/>
          <p:nvPr/>
        </p:nvSpPr>
        <p:spPr>
          <a:xfrm>
            <a:off x="10728655" y="6400800"/>
            <a:ext cx="1188720" cy="274320"/>
          </a:xfrm>
          <a:prstGeom prst="rect">
            <a:avLst/>
          </a:prstGeom>
          <a:noFill/>
          <a:ln/>
        </p:spPr>
        <p:txBody>
          <a:bodyPr wrap="square" rtlCol="0" anchor="ctr"/>
          <a:lstStyle/>
          <a:p>
            <a:pPr algn="r" indent="0" marL="0">
              <a:buNone/>
            </a:pPr>
            <a:r>
              <a:rPr lang="en-US" sz="1100" b="1" dirty="0">
                <a:solidFill>
                  <a:srgbClr val="6B6B6B"/>
                </a:solidFill>
                <a:latin typeface="Arial" pitchFamily="34" charset="0"/>
                <a:ea typeface="Arial" pitchFamily="34" charset="-122"/>
                <a:cs typeface="Arial" pitchFamily="34" charset="-120"/>
              </a:rPr>
              <a:t>7 / 13</a:t>
            </a:r>
            <a:endParaRPr lang="en-US" sz="1100" dirty="0"/>
          </a:p>
        </p:txBody>
      </p:sp>
      <p:sp>
        <p:nvSpPr>
          <p:cNvPr id="5" name="Text 2"/>
          <p:cNvSpPr/>
          <p:nvPr/>
        </p:nvSpPr>
        <p:spPr>
          <a:xfrm>
            <a:off x="685800" y="411480"/>
            <a:ext cx="10820095" cy="274320"/>
          </a:xfrm>
          <a:prstGeom prst="rect">
            <a:avLst/>
          </a:prstGeom>
          <a:noFill/>
          <a:ln/>
        </p:spPr>
        <p:txBody>
          <a:bodyPr wrap="square" rtlCol="0" anchor="ctr"/>
          <a:lstStyle/>
          <a:p>
            <a:pPr indent="0" marL="0">
              <a:buNone/>
            </a:pPr>
            <a:r>
              <a:rPr lang="en-US" sz="1200" b="1" spc="200" kern="0" dirty="0">
                <a:solidFill>
                  <a:srgbClr val="E30613"/>
                </a:solidFill>
                <a:latin typeface="Arial" pitchFamily="34" charset="0"/>
                <a:ea typeface="Arial" pitchFamily="34" charset="-122"/>
                <a:cs typeface="Arial" pitchFamily="34" charset="-120"/>
              </a:rPr>
              <a:t>TEMPLATE 4</a:t>
            </a:r>
            <a:endParaRPr lang="en-US" sz="1200" dirty="0"/>
          </a:p>
        </p:txBody>
      </p:sp>
      <p:sp>
        <p:nvSpPr>
          <p:cNvPr id="6" name="Text 3"/>
          <p:cNvSpPr/>
          <p:nvPr/>
        </p:nvSpPr>
        <p:spPr>
          <a:xfrm>
            <a:off x="685800" y="685800"/>
            <a:ext cx="10820095" cy="685800"/>
          </a:xfrm>
          <a:prstGeom prst="rect">
            <a:avLst/>
          </a:prstGeom>
          <a:noFill/>
          <a:ln/>
        </p:spPr>
        <p:txBody>
          <a:bodyPr wrap="square" rtlCol="0" anchor="ctr"/>
          <a:lstStyle/>
          <a:p>
            <a:pPr indent="0" marL="0">
              <a:buNone/>
            </a:pPr>
            <a:r>
              <a:rPr lang="en-US" sz="3200" b="1" dirty="0">
                <a:solidFill>
                  <a:srgbClr val="111111"/>
                </a:solidFill>
                <a:latin typeface="Arial" pitchFamily="34" charset="0"/>
                <a:ea typeface="Arial" pitchFamily="34" charset="-122"/>
                <a:cs typeface="Arial" pitchFamily="34" charset="-120"/>
              </a:rPr>
              <a:t>Movers — Takeovers</a:t>
            </a:r>
            <a:endParaRPr lang="en-US" sz="3200" dirty="0"/>
          </a:p>
        </p:txBody>
      </p:sp>
      <p:sp>
        <p:nvSpPr>
          <p:cNvPr id="7" name="Shape 4"/>
          <p:cNvSpPr/>
          <p:nvPr/>
        </p:nvSpPr>
        <p:spPr>
          <a:xfrm>
            <a:off x="685800" y="1600200"/>
            <a:ext cx="2560320" cy="2926080"/>
          </a:xfrm>
          <a:prstGeom prst="roundRect">
            <a:avLst>
              <a:gd name="adj" fmla="val 4286"/>
            </a:avLst>
          </a:prstGeom>
          <a:solidFill>
            <a:srgbClr val="111111"/>
          </a:solidFill>
          <a:ln/>
        </p:spPr>
      </p:sp>
      <p:sp>
        <p:nvSpPr>
          <p:cNvPr id="8" name="Text 5"/>
          <p:cNvSpPr/>
          <p:nvPr/>
        </p:nvSpPr>
        <p:spPr>
          <a:xfrm>
            <a:off x="914400" y="2011680"/>
            <a:ext cx="2194560" cy="109728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8 champs</a:t>
            </a:r>
            <a:endParaRPr lang="en-US" sz="3600" dirty="0"/>
          </a:p>
        </p:txBody>
      </p:sp>
      <p:sp>
        <p:nvSpPr>
          <p:cNvPr id="9" name="Text 6"/>
          <p:cNvSpPr/>
          <p:nvPr/>
        </p:nvSpPr>
        <p:spPr>
          <a:xfrm>
            <a:off x="914400" y="3246120"/>
            <a:ext cx="2194560" cy="914400"/>
          </a:xfrm>
          <a:prstGeom prst="rect">
            <a:avLst/>
          </a:prstGeom>
          <a:noFill/>
          <a:ln/>
        </p:spPr>
        <p:txBody>
          <a:bodyPr wrap="square" rtlCol="0" anchor="t"/>
          <a:lstStyle/>
          <a:p>
            <a:pPr indent="0" marL="0">
              <a:buNone/>
            </a:pPr>
            <a:r>
              <a:rPr lang="en-US" sz="1500" dirty="0">
                <a:solidFill>
                  <a:srgbClr val="CCCCCC"/>
                </a:solidFill>
                <a:latin typeface="Arial" pitchFamily="34" charset="0"/>
                <a:ea typeface="Arial" pitchFamily="34" charset="-122"/>
                <a:cs typeface="Arial" pitchFamily="34" charset="-120"/>
              </a:rPr>
              <a:t>à renseigner pour chaque dossier Takeovers</a:t>
            </a:r>
            <a:endParaRPr lang="en-US" sz="1500" dirty="0"/>
          </a:p>
        </p:txBody>
      </p:sp>
      <p:sp>
        <p:nvSpPr>
          <p:cNvPr id="10" name="Shape 7"/>
          <p:cNvSpPr/>
          <p:nvPr/>
        </p:nvSpPr>
        <p:spPr>
          <a:xfrm>
            <a:off x="3474720" y="1600200"/>
            <a:ext cx="3924148" cy="1371600"/>
          </a:xfrm>
          <a:prstGeom prst="roundRect">
            <a:avLst>
              <a:gd name="adj" fmla="val 8000"/>
            </a:avLst>
          </a:prstGeom>
          <a:solidFill>
            <a:srgbClr val="FFFFFF"/>
          </a:solidFill>
          <a:ln/>
        </p:spPr>
      </p:sp>
      <p:sp>
        <p:nvSpPr>
          <p:cNvPr id="11" name="Shape 8"/>
          <p:cNvSpPr/>
          <p:nvPr/>
        </p:nvSpPr>
        <p:spPr>
          <a:xfrm>
            <a:off x="3474720" y="1600200"/>
            <a:ext cx="3924148" cy="54864"/>
          </a:xfrm>
          <a:prstGeom prst="rect">
            <a:avLst/>
          </a:prstGeom>
          <a:solidFill>
            <a:srgbClr val="E30613"/>
          </a:solidFill>
          <a:ln/>
        </p:spPr>
      </p:sp>
      <p:sp>
        <p:nvSpPr>
          <p:cNvPr id="12" name="Text 9"/>
          <p:cNvSpPr/>
          <p:nvPr/>
        </p:nvSpPr>
        <p:spPr>
          <a:xfrm>
            <a:off x="3703320" y="1737360"/>
            <a:ext cx="3558388" cy="274320"/>
          </a:xfrm>
          <a:prstGeom prst="rect">
            <a:avLst/>
          </a:prstGeom>
          <a:noFill/>
          <a:ln/>
        </p:spPr>
        <p:txBody>
          <a:bodyPr wrap="square" rtlCol="0" anchor="ctr"/>
          <a:lstStyle/>
          <a:p>
            <a:pPr indent="0" marL="0">
              <a:buNone/>
            </a:pPr>
            <a:r>
              <a:rPr lang="en-US" sz="1100" b="1" spc="200" kern="0" dirty="0">
                <a:solidFill>
                  <a:srgbClr val="E30613"/>
                </a:solidFill>
                <a:latin typeface="Arial" pitchFamily="34" charset="0"/>
                <a:ea typeface="Arial" pitchFamily="34" charset="-122"/>
                <a:cs typeface="Arial" pitchFamily="34" charset="-120"/>
              </a:rPr>
              <a:t>IDENTITÉ</a:t>
            </a:r>
            <a:endParaRPr lang="en-US" sz="1100" dirty="0"/>
          </a:p>
        </p:txBody>
      </p:sp>
      <p:sp>
        <p:nvSpPr>
          <p:cNvPr id="13" name="Shape 10"/>
          <p:cNvSpPr/>
          <p:nvPr/>
        </p:nvSpPr>
        <p:spPr>
          <a:xfrm>
            <a:off x="3703320" y="2148840"/>
            <a:ext cx="182880" cy="182880"/>
          </a:xfrm>
          <a:prstGeom prst="roundRect">
            <a:avLst>
              <a:gd name="adj" fmla="val 15000"/>
            </a:avLst>
          </a:prstGeom>
          <a:solidFill>
            <a:srgbClr val="FFFFFF"/>
          </a:solidFill>
          <a:ln w="22225">
            <a:solidFill>
              <a:srgbClr val="E30613"/>
            </a:solidFill>
            <a:prstDash val="solid"/>
          </a:ln>
        </p:spPr>
      </p:sp>
      <p:sp>
        <p:nvSpPr>
          <p:cNvPr id="14" name="Text 11"/>
          <p:cNvSpPr/>
          <p:nvPr/>
        </p:nvSpPr>
        <p:spPr>
          <a:xfrm>
            <a:off x="4023360" y="2057400"/>
            <a:ext cx="3192628" cy="365760"/>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Nom</a:t>
            </a:r>
            <a:endParaRPr lang="en-US" sz="1500" dirty="0"/>
          </a:p>
        </p:txBody>
      </p:sp>
      <p:sp>
        <p:nvSpPr>
          <p:cNvPr id="15" name="Shape 12"/>
          <p:cNvSpPr/>
          <p:nvPr/>
        </p:nvSpPr>
        <p:spPr>
          <a:xfrm>
            <a:off x="3703320" y="2532888"/>
            <a:ext cx="182880" cy="182880"/>
          </a:xfrm>
          <a:prstGeom prst="roundRect">
            <a:avLst>
              <a:gd name="adj" fmla="val 15000"/>
            </a:avLst>
          </a:prstGeom>
          <a:solidFill>
            <a:srgbClr val="FFFFFF"/>
          </a:solidFill>
          <a:ln w="22225">
            <a:solidFill>
              <a:srgbClr val="E30613"/>
            </a:solidFill>
            <a:prstDash val="solid"/>
          </a:ln>
        </p:spPr>
      </p:sp>
      <p:sp>
        <p:nvSpPr>
          <p:cNvPr id="16" name="Text 13"/>
          <p:cNvSpPr/>
          <p:nvPr/>
        </p:nvSpPr>
        <p:spPr>
          <a:xfrm>
            <a:off x="4023360" y="2441448"/>
            <a:ext cx="3192628" cy="365760"/>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Prénom</a:t>
            </a:r>
            <a:endParaRPr lang="en-US" sz="1500" dirty="0"/>
          </a:p>
        </p:txBody>
      </p:sp>
      <p:sp>
        <p:nvSpPr>
          <p:cNvPr id="17" name="Shape 14"/>
          <p:cNvSpPr/>
          <p:nvPr/>
        </p:nvSpPr>
        <p:spPr>
          <a:xfrm>
            <a:off x="7581748" y="1600200"/>
            <a:ext cx="3924148" cy="1371600"/>
          </a:xfrm>
          <a:prstGeom prst="roundRect">
            <a:avLst>
              <a:gd name="adj" fmla="val 8000"/>
            </a:avLst>
          </a:prstGeom>
          <a:solidFill>
            <a:srgbClr val="FFFFFF"/>
          </a:solidFill>
          <a:ln/>
        </p:spPr>
      </p:sp>
      <p:sp>
        <p:nvSpPr>
          <p:cNvPr id="18" name="Shape 15"/>
          <p:cNvSpPr/>
          <p:nvPr/>
        </p:nvSpPr>
        <p:spPr>
          <a:xfrm>
            <a:off x="7581748" y="1600200"/>
            <a:ext cx="3924148" cy="54864"/>
          </a:xfrm>
          <a:prstGeom prst="rect">
            <a:avLst/>
          </a:prstGeom>
          <a:solidFill>
            <a:srgbClr val="E30613"/>
          </a:solidFill>
          <a:ln/>
        </p:spPr>
      </p:sp>
      <p:sp>
        <p:nvSpPr>
          <p:cNvPr id="19" name="Text 16"/>
          <p:cNvSpPr/>
          <p:nvPr/>
        </p:nvSpPr>
        <p:spPr>
          <a:xfrm>
            <a:off x="7810348" y="1737360"/>
            <a:ext cx="3558388" cy="274320"/>
          </a:xfrm>
          <a:prstGeom prst="rect">
            <a:avLst/>
          </a:prstGeom>
          <a:noFill/>
          <a:ln/>
        </p:spPr>
        <p:txBody>
          <a:bodyPr wrap="square" rtlCol="0" anchor="ctr"/>
          <a:lstStyle/>
          <a:p>
            <a:pPr indent="0" marL="0">
              <a:buNone/>
            </a:pPr>
            <a:r>
              <a:rPr lang="en-US" sz="1100" b="1" spc="200" kern="0" dirty="0">
                <a:solidFill>
                  <a:srgbClr val="E30613"/>
                </a:solidFill>
                <a:latin typeface="Arial" pitchFamily="34" charset="0"/>
                <a:ea typeface="Arial" pitchFamily="34" charset="-122"/>
                <a:cs typeface="Arial" pitchFamily="34" charset="-120"/>
              </a:rPr>
              <a:t>CONTACT</a:t>
            </a:r>
            <a:endParaRPr lang="en-US" sz="1100" dirty="0"/>
          </a:p>
        </p:txBody>
      </p:sp>
      <p:sp>
        <p:nvSpPr>
          <p:cNvPr id="20" name="Shape 17"/>
          <p:cNvSpPr/>
          <p:nvPr/>
        </p:nvSpPr>
        <p:spPr>
          <a:xfrm>
            <a:off x="7810348" y="2148840"/>
            <a:ext cx="182880" cy="182880"/>
          </a:xfrm>
          <a:prstGeom prst="roundRect">
            <a:avLst>
              <a:gd name="adj" fmla="val 15000"/>
            </a:avLst>
          </a:prstGeom>
          <a:solidFill>
            <a:srgbClr val="FFFFFF"/>
          </a:solidFill>
          <a:ln w="22225">
            <a:solidFill>
              <a:srgbClr val="E30613"/>
            </a:solidFill>
            <a:prstDash val="solid"/>
          </a:ln>
        </p:spPr>
      </p:sp>
      <p:sp>
        <p:nvSpPr>
          <p:cNvPr id="21" name="Text 18"/>
          <p:cNvSpPr/>
          <p:nvPr/>
        </p:nvSpPr>
        <p:spPr>
          <a:xfrm>
            <a:off x="8130388" y="2057400"/>
            <a:ext cx="3192628" cy="365760"/>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Numéro de téléphone</a:t>
            </a:r>
            <a:endParaRPr lang="en-US" sz="1500" dirty="0"/>
          </a:p>
        </p:txBody>
      </p:sp>
      <p:sp>
        <p:nvSpPr>
          <p:cNvPr id="22" name="Shape 19"/>
          <p:cNvSpPr/>
          <p:nvPr/>
        </p:nvSpPr>
        <p:spPr>
          <a:xfrm>
            <a:off x="7810348" y="2532888"/>
            <a:ext cx="182880" cy="182880"/>
          </a:xfrm>
          <a:prstGeom prst="roundRect">
            <a:avLst>
              <a:gd name="adj" fmla="val 15000"/>
            </a:avLst>
          </a:prstGeom>
          <a:solidFill>
            <a:srgbClr val="FFFFFF"/>
          </a:solidFill>
          <a:ln w="22225">
            <a:solidFill>
              <a:srgbClr val="E30613"/>
            </a:solidFill>
            <a:prstDash val="solid"/>
          </a:ln>
        </p:spPr>
      </p:sp>
      <p:sp>
        <p:nvSpPr>
          <p:cNvPr id="23" name="Text 20"/>
          <p:cNvSpPr/>
          <p:nvPr/>
        </p:nvSpPr>
        <p:spPr>
          <a:xfrm>
            <a:off x="8130388" y="2441448"/>
            <a:ext cx="3192628" cy="365760"/>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E-mail</a:t>
            </a:r>
            <a:endParaRPr lang="en-US" sz="1500" dirty="0"/>
          </a:p>
        </p:txBody>
      </p:sp>
      <p:sp>
        <p:nvSpPr>
          <p:cNvPr id="24" name="Shape 21"/>
          <p:cNvSpPr/>
          <p:nvPr/>
        </p:nvSpPr>
        <p:spPr>
          <a:xfrm>
            <a:off x="3474720" y="3154680"/>
            <a:ext cx="3924148" cy="1371600"/>
          </a:xfrm>
          <a:prstGeom prst="roundRect">
            <a:avLst>
              <a:gd name="adj" fmla="val 8000"/>
            </a:avLst>
          </a:prstGeom>
          <a:solidFill>
            <a:srgbClr val="FFFFFF"/>
          </a:solidFill>
          <a:ln/>
        </p:spPr>
      </p:sp>
      <p:sp>
        <p:nvSpPr>
          <p:cNvPr id="25" name="Shape 22"/>
          <p:cNvSpPr/>
          <p:nvPr/>
        </p:nvSpPr>
        <p:spPr>
          <a:xfrm>
            <a:off x="3474720" y="3154680"/>
            <a:ext cx="3924148" cy="54864"/>
          </a:xfrm>
          <a:prstGeom prst="rect">
            <a:avLst/>
          </a:prstGeom>
          <a:solidFill>
            <a:srgbClr val="E30613"/>
          </a:solidFill>
          <a:ln/>
        </p:spPr>
      </p:sp>
      <p:sp>
        <p:nvSpPr>
          <p:cNvPr id="26" name="Text 23"/>
          <p:cNvSpPr/>
          <p:nvPr/>
        </p:nvSpPr>
        <p:spPr>
          <a:xfrm>
            <a:off x="3703320" y="3291840"/>
            <a:ext cx="3558388" cy="274320"/>
          </a:xfrm>
          <a:prstGeom prst="rect">
            <a:avLst/>
          </a:prstGeom>
          <a:noFill/>
          <a:ln/>
        </p:spPr>
        <p:txBody>
          <a:bodyPr wrap="square" rtlCol="0" anchor="ctr"/>
          <a:lstStyle/>
          <a:p>
            <a:pPr indent="0" marL="0">
              <a:buNone/>
            </a:pPr>
            <a:r>
              <a:rPr lang="en-US" sz="1100" b="1" spc="200" kern="0" dirty="0">
                <a:solidFill>
                  <a:srgbClr val="E30613"/>
                </a:solidFill>
                <a:latin typeface="Arial" pitchFamily="34" charset="0"/>
                <a:ea typeface="Arial" pitchFamily="34" charset="-122"/>
                <a:cs typeface="Arial" pitchFamily="34" charset="-120"/>
              </a:rPr>
              <a:t>ENTREPRISE</a:t>
            </a:r>
            <a:endParaRPr lang="en-US" sz="1100" dirty="0"/>
          </a:p>
        </p:txBody>
      </p:sp>
      <p:sp>
        <p:nvSpPr>
          <p:cNvPr id="27" name="Shape 24"/>
          <p:cNvSpPr/>
          <p:nvPr/>
        </p:nvSpPr>
        <p:spPr>
          <a:xfrm>
            <a:off x="3703320" y="3703320"/>
            <a:ext cx="182880" cy="182880"/>
          </a:xfrm>
          <a:prstGeom prst="roundRect">
            <a:avLst>
              <a:gd name="adj" fmla="val 15000"/>
            </a:avLst>
          </a:prstGeom>
          <a:solidFill>
            <a:srgbClr val="FFFFFF"/>
          </a:solidFill>
          <a:ln w="22225">
            <a:solidFill>
              <a:srgbClr val="E30613"/>
            </a:solidFill>
            <a:prstDash val="solid"/>
          </a:ln>
        </p:spPr>
      </p:sp>
      <p:sp>
        <p:nvSpPr>
          <p:cNvPr id="28" name="Text 25"/>
          <p:cNvSpPr/>
          <p:nvPr/>
        </p:nvSpPr>
        <p:spPr>
          <a:xfrm>
            <a:off x="4023360" y="3611880"/>
            <a:ext cx="3192628" cy="365760"/>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Business Name</a:t>
            </a:r>
            <a:endParaRPr lang="en-US" sz="1500" dirty="0"/>
          </a:p>
        </p:txBody>
      </p:sp>
      <p:sp>
        <p:nvSpPr>
          <p:cNvPr id="29" name="Shape 26"/>
          <p:cNvSpPr/>
          <p:nvPr/>
        </p:nvSpPr>
        <p:spPr>
          <a:xfrm>
            <a:off x="3703320" y="4087368"/>
            <a:ext cx="182880" cy="182880"/>
          </a:xfrm>
          <a:prstGeom prst="roundRect">
            <a:avLst>
              <a:gd name="adj" fmla="val 15000"/>
            </a:avLst>
          </a:prstGeom>
          <a:solidFill>
            <a:srgbClr val="FFFFFF"/>
          </a:solidFill>
          <a:ln w="22225">
            <a:solidFill>
              <a:srgbClr val="E30613"/>
            </a:solidFill>
            <a:prstDash val="solid"/>
          </a:ln>
        </p:spPr>
      </p:sp>
      <p:sp>
        <p:nvSpPr>
          <p:cNvPr id="30" name="Text 27"/>
          <p:cNvSpPr/>
          <p:nvPr/>
        </p:nvSpPr>
        <p:spPr>
          <a:xfrm>
            <a:off x="4023360" y="3995928"/>
            <a:ext cx="3192628" cy="365760"/>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Date d’intégration</a:t>
            </a:r>
            <a:endParaRPr lang="en-US" sz="1500" dirty="0"/>
          </a:p>
        </p:txBody>
      </p:sp>
      <p:sp>
        <p:nvSpPr>
          <p:cNvPr id="31" name="Shape 28"/>
          <p:cNvSpPr/>
          <p:nvPr/>
        </p:nvSpPr>
        <p:spPr>
          <a:xfrm>
            <a:off x="7581748" y="3154680"/>
            <a:ext cx="3924148" cy="1371600"/>
          </a:xfrm>
          <a:prstGeom prst="roundRect">
            <a:avLst>
              <a:gd name="adj" fmla="val 8000"/>
            </a:avLst>
          </a:prstGeom>
          <a:solidFill>
            <a:srgbClr val="FFFFFF"/>
          </a:solidFill>
          <a:ln/>
        </p:spPr>
      </p:sp>
      <p:sp>
        <p:nvSpPr>
          <p:cNvPr id="32" name="Shape 29"/>
          <p:cNvSpPr/>
          <p:nvPr/>
        </p:nvSpPr>
        <p:spPr>
          <a:xfrm>
            <a:off x="7581748" y="3154680"/>
            <a:ext cx="3924148" cy="54864"/>
          </a:xfrm>
          <a:prstGeom prst="rect">
            <a:avLst/>
          </a:prstGeom>
          <a:solidFill>
            <a:srgbClr val="E30613"/>
          </a:solidFill>
          <a:ln/>
        </p:spPr>
      </p:sp>
      <p:sp>
        <p:nvSpPr>
          <p:cNvPr id="33" name="Text 30"/>
          <p:cNvSpPr/>
          <p:nvPr/>
        </p:nvSpPr>
        <p:spPr>
          <a:xfrm>
            <a:off x="7810348" y="3291840"/>
            <a:ext cx="3558388" cy="274320"/>
          </a:xfrm>
          <a:prstGeom prst="rect">
            <a:avLst/>
          </a:prstGeom>
          <a:noFill/>
          <a:ln/>
        </p:spPr>
        <p:txBody>
          <a:bodyPr wrap="square" rtlCol="0" anchor="ctr"/>
          <a:lstStyle/>
          <a:p>
            <a:pPr indent="0" marL="0">
              <a:buNone/>
            </a:pPr>
            <a:r>
              <a:rPr lang="en-US" sz="1100" b="1" spc="200" kern="0" dirty="0">
                <a:solidFill>
                  <a:srgbClr val="E30613"/>
                </a:solidFill>
                <a:latin typeface="Arial" pitchFamily="34" charset="0"/>
                <a:ea typeface="Arial" pitchFamily="34" charset="-122"/>
                <a:cs typeface="Arial" pitchFamily="34" charset="-120"/>
              </a:rPr>
              <a:t>SUIVI</a:t>
            </a:r>
            <a:endParaRPr lang="en-US" sz="1100" dirty="0"/>
          </a:p>
        </p:txBody>
      </p:sp>
      <p:sp>
        <p:nvSpPr>
          <p:cNvPr id="34" name="Shape 31"/>
          <p:cNvSpPr/>
          <p:nvPr/>
        </p:nvSpPr>
        <p:spPr>
          <a:xfrm>
            <a:off x="7810348" y="3703320"/>
            <a:ext cx="182880" cy="182880"/>
          </a:xfrm>
          <a:prstGeom prst="roundRect">
            <a:avLst>
              <a:gd name="adj" fmla="val 15000"/>
            </a:avLst>
          </a:prstGeom>
          <a:solidFill>
            <a:srgbClr val="FFFFFF"/>
          </a:solidFill>
          <a:ln w="22225">
            <a:solidFill>
              <a:srgbClr val="E30613"/>
            </a:solidFill>
            <a:prstDash val="solid"/>
          </a:ln>
        </p:spPr>
      </p:sp>
      <p:sp>
        <p:nvSpPr>
          <p:cNvPr id="35" name="Text 32"/>
          <p:cNvSpPr/>
          <p:nvPr/>
        </p:nvSpPr>
        <p:spPr>
          <a:xfrm>
            <a:off x="8130388" y="3611880"/>
            <a:ext cx="3192628" cy="365760"/>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Horaire de rappel</a:t>
            </a:r>
            <a:endParaRPr lang="en-US" sz="1500" dirty="0"/>
          </a:p>
        </p:txBody>
      </p:sp>
      <p:sp>
        <p:nvSpPr>
          <p:cNvPr id="36" name="Shape 33"/>
          <p:cNvSpPr/>
          <p:nvPr/>
        </p:nvSpPr>
        <p:spPr>
          <a:xfrm>
            <a:off x="7810348" y="4087368"/>
            <a:ext cx="182880" cy="182880"/>
          </a:xfrm>
          <a:prstGeom prst="roundRect">
            <a:avLst>
              <a:gd name="adj" fmla="val 15000"/>
            </a:avLst>
          </a:prstGeom>
          <a:solidFill>
            <a:srgbClr val="FFFFFF"/>
          </a:solidFill>
          <a:ln w="22225">
            <a:solidFill>
              <a:srgbClr val="E30613"/>
            </a:solidFill>
            <a:prstDash val="solid"/>
          </a:ln>
        </p:spPr>
      </p:sp>
      <p:sp>
        <p:nvSpPr>
          <p:cNvPr id="37" name="Text 34"/>
          <p:cNvSpPr/>
          <p:nvPr/>
        </p:nvSpPr>
        <p:spPr>
          <a:xfrm>
            <a:off x="8130388" y="3995928"/>
            <a:ext cx="3192628" cy="365760"/>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Informations complémentaires</a:t>
            </a:r>
            <a:endParaRPr lang="en-US" sz="1500" dirty="0"/>
          </a:p>
        </p:txBody>
      </p:sp>
      <p:sp>
        <p:nvSpPr>
          <p:cNvPr id="38" name="Shape 35"/>
          <p:cNvSpPr/>
          <p:nvPr/>
        </p:nvSpPr>
        <p:spPr>
          <a:xfrm>
            <a:off x="685800" y="5120640"/>
            <a:ext cx="10820095" cy="685800"/>
          </a:xfrm>
          <a:prstGeom prst="roundRect">
            <a:avLst>
              <a:gd name="adj" fmla="val 16000"/>
            </a:avLst>
          </a:prstGeom>
          <a:solidFill>
            <a:srgbClr val="111111"/>
          </a:solidFill>
          <a:ln/>
        </p:spPr>
      </p:sp>
      <p:sp>
        <p:nvSpPr>
          <p:cNvPr id="39" name="Shape 36"/>
          <p:cNvSpPr/>
          <p:nvPr/>
        </p:nvSpPr>
        <p:spPr>
          <a:xfrm>
            <a:off x="685800" y="5120640"/>
            <a:ext cx="73152" cy="685800"/>
          </a:xfrm>
          <a:prstGeom prst="rect">
            <a:avLst/>
          </a:prstGeom>
          <a:solidFill>
            <a:srgbClr val="E30613"/>
          </a:solidFill>
          <a:ln/>
        </p:spPr>
      </p:sp>
      <p:sp>
        <p:nvSpPr>
          <p:cNvPr id="40" name="Text 37"/>
          <p:cNvSpPr/>
          <p:nvPr/>
        </p:nvSpPr>
        <p:spPr>
          <a:xfrm>
            <a:off x="960120" y="5120640"/>
            <a:ext cx="10362895" cy="6858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Des informations complètes facilitent la reprise et le suivi du dossier Takeovers.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E30613"/>
          </a:solidFill>
          <a:ln/>
        </p:spPr>
      </p:sp>
      <p:sp>
        <p:nvSpPr>
          <p:cNvPr id="3" name="Text 1"/>
          <p:cNvSpPr/>
          <p:nvPr/>
        </p:nvSpPr>
        <p:spPr>
          <a:xfrm>
            <a:off x="10728655" y="6400800"/>
            <a:ext cx="1188720" cy="274320"/>
          </a:xfrm>
          <a:prstGeom prst="rect">
            <a:avLst/>
          </a:prstGeom>
          <a:noFill/>
          <a:ln/>
        </p:spPr>
        <p:txBody>
          <a:bodyPr wrap="square" rtlCol="0" anchor="ctr"/>
          <a:lstStyle/>
          <a:p>
            <a:pPr algn="r" indent="0" marL="0">
              <a:buNone/>
            </a:pPr>
            <a:r>
              <a:rPr lang="en-US" sz="1100" b="1" dirty="0">
                <a:solidFill>
                  <a:srgbClr val="6B6B6B"/>
                </a:solidFill>
                <a:latin typeface="Arial" pitchFamily="34" charset="0"/>
                <a:ea typeface="Arial" pitchFamily="34" charset="-122"/>
                <a:cs typeface="Arial" pitchFamily="34" charset="-120"/>
              </a:rPr>
              <a:t>8 / 13</a:t>
            </a:r>
            <a:endParaRPr lang="en-US" sz="1100" dirty="0"/>
          </a:p>
        </p:txBody>
      </p:sp>
      <p:sp>
        <p:nvSpPr>
          <p:cNvPr id="5" name="Text 2"/>
          <p:cNvSpPr/>
          <p:nvPr/>
        </p:nvSpPr>
        <p:spPr>
          <a:xfrm>
            <a:off x="685800" y="411480"/>
            <a:ext cx="10820095" cy="274320"/>
          </a:xfrm>
          <a:prstGeom prst="rect">
            <a:avLst/>
          </a:prstGeom>
          <a:noFill/>
          <a:ln/>
        </p:spPr>
        <p:txBody>
          <a:bodyPr wrap="square" rtlCol="0" anchor="ctr"/>
          <a:lstStyle/>
          <a:p>
            <a:pPr indent="0" marL="0">
              <a:buNone/>
            </a:pPr>
            <a:r>
              <a:rPr lang="en-US" sz="1200" b="1" spc="200" kern="0" dirty="0">
                <a:solidFill>
                  <a:srgbClr val="E30613"/>
                </a:solidFill>
                <a:latin typeface="Arial" pitchFamily="34" charset="0"/>
                <a:ea typeface="Arial" pitchFamily="34" charset="-122"/>
                <a:cs typeface="Arial" pitchFamily="34" charset="-120"/>
              </a:rPr>
              <a:t>TEMPLATE 5</a:t>
            </a:r>
            <a:endParaRPr lang="en-US" sz="1200" dirty="0"/>
          </a:p>
        </p:txBody>
      </p:sp>
      <p:sp>
        <p:nvSpPr>
          <p:cNvPr id="6" name="Text 3"/>
          <p:cNvSpPr/>
          <p:nvPr/>
        </p:nvSpPr>
        <p:spPr>
          <a:xfrm>
            <a:off x="685800" y="685800"/>
            <a:ext cx="10820095" cy="685800"/>
          </a:xfrm>
          <a:prstGeom prst="rect">
            <a:avLst/>
          </a:prstGeom>
          <a:noFill/>
          <a:ln/>
        </p:spPr>
        <p:txBody>
          <a:bodyPr wrap="square" rtlCol="0" anchor="ctr"/>
          <a:lstStyle/>
          <a:p>
            <a:pPr indent="0" marL="0">
              <a:buNone/>
            </a:pPr>
            <a:r>
              <a:rPr lang="en-US" sz="3200" b="1" dirty="0">
                <a:solidFill>
                  <a:srgbClr val="111111"/>
                </a:solidFill>
                <a:latin typeface="Arial" pitchFamily="34" charset="0"/>
                <a:ea typeface="Arial" pitchFamily="34" charset="-122"/>
                <a:cs typeface="Arial" pitchFamily="34" charset="-120"/>
              </a:rPr>
              <a:t>Movers — Administratif</a:t>
            </a:r>
            <a:endParaRPr lang="en-US" sz="3200" dirty="0"/>
          </a:p>
        </p:txBody>
      </p:sp>
      <p:sp>
        <p:nvSpPr>
          <p:cNvPr id="7" name="Shape 4"/>
          <p:cNvSpPr/>
          <p:nvPr/>
        </p:nvSpPr>
        <p:spPr>
          <a:xfrm>
            <a:off x="685800" y="1600200"/>
            <a:ext cx="4023360" cy="3547872"/>
          </a:xfrm>
          <a:prstGeom prst="roundRect">
            <a:avLst>
              <a:gd name="adj" fmla="val 3093"/>
            </a:avLst>
          </a:prstGeom>
          <a:solidFill>
            <a:srgbClr val="FFFFFF"/>
          </a:solidFill>
          <a:ln/>
        </p:spPr>
      </p:sp>
      <p:sp>
        <p:nvSpPr>
          <p:cNvPr id="8" name="Shape 5"/>
          <p:cNvSpPr/>
          <p:nvPr/>
        </p:nvSpPr>
        <p:spPr>
          <a:xfrm>
            <a:off x="685800" y="1600200"/>
            <a:ext cx="4023360" cy="548640"/>
          </a:xfrm>
          <a:prstGeom prst="rect">
            <a:avLst/>
          </a:prstGeom>
          <a:solidFill>
            <a:srgbClr val="111111"/>
          </a:solidFill>
          <a:ln/>
        </p:spPr>
      </p:sp>
      <p:sp>
        <p:nvSpPr>
          <p:cNvPr id="9" name="Shape 6"/>
          <p:cNvSpPr/>
          <p:nvPr/>
        </p:nvSpPr>
        <p:spPr>
          <a:xfrm>
            <a:off x="868680" y="1709928"/>
            <a:ext cx="329184" cy="329184"/>
          </a:xfrm>
          <a:prstGeom prst="ellipse">
            <a:avLst/>
          </a:prstGeom>
          <a:solidFill>
            <a:srgbClr val="E30613"/>
          </a:solidFill>
          <a:ln/>
        </p:spPr>
      </p:sp>
      <p:sp>
        <p:nvSpPr>
          <p:cNvPr id="10" name="Text 7"/>
          <p:cNvSpPr/>
          <p:nvPr/>
        </p:nvSpPr>
        <p:spPr>
          <a:xfrm>
            <a:off x="868680" y="1709928"/>
            <a:ext cx="329184" cy="329184"/>
          </a:xfrm>
          <a:prstGeom prst="rect">
            <a:avLst/>
          </a:prstGeom>
          <a:noFill/>
          <a:ln/>
        </p:spPr>
        <p:txBody>
          <a:bodyPr wrap="square" rtlCol="0" anchor="ctr"/>
          <a:lstStyle/>
          <a:p>
            <a:pPr algn="ctr" indent="0" marL="0">
              <a:buNone/>
            </a:pPr>
            <a:r>
              <a:rPr lang="en-US" sz="1224" b="1" dirty="0">
                <a:solidFill>
                  <a:srgbClr val="FFFFFF"/>
                </a:solidFill>
                <a:latin typeface="Arial" pitchFamily="34" charset="0"/>
                <a:ea typeface="Arial" pitchFamily="34" charset="-122"/>
                <a:cs typeface="Arial" pitchFamily="34" charset="-120"/>
              </a:rPr>
              <a:t>5</a:t>
            </a:r>
            <a:endParaRPr lang="en-US" sz="1224" dirty="0"/>
          </a:p>
        </p:txBody>
      </p:sp>
      <p:sp>
        <p:nvSpPr>
          <p:cNvPr id="11" name="Text 8"/>
          <p:cNvSpPr/>
          <p:nvPr/>
        </p:nvSpPr>
        <p:spPr>
          <a:xfrm>
            <a:off x="1325880" y="1600200"/>
            <a:ext cx="3291840" cy="5486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Movers — Administratif</a:t>
            </a:r>
            <a:endParaRPr lang="en-US" sz="1600" dirty="0"/>
          </a:p>
        </p:txBody>
      </p:sp>
      <p:sp>
        <p:nvSpPr>
          <p:cNvPr id="12" name="Shape 9"/>
          <p:cNvSpPr/>
          <p:nvPr/>
        </p:nvSpPr>
        <p:spPr>
          <a:xfrm>
            <a:off x="914400" y="2350008"/>
            <a:ext cx="182880" cy="182880"/>
          </a:xfrm>
          <a:prstGeom prst="roundRect">
            <a:avLst>
              <a:gd name="adj" fmla="val 15000"/>
            </a:avLst>
          </a:prstGeom>
          <a:solidFill>
            <a:srgbClr val="FFFFFF"/>
          </a:solidFill>
          <a:ln w="22225">
            <a:solidFill>
              <a:srgbClr val="E30613"/>
            </a:solidFill>
            <a:prstDash val="solid"/>
          </a:ln>
        </p:spPr>
      </p:sp>
      <p:sp>
        <p:nvSpPr>
          <p:cNvPr id="13" name="Text 10"/>
          <p:cNvSpPr/>
          <p:nvPr/>
        </p:nvSpPr>
        <p:spPr>
          <a:xfrm>
            <a:off x="1234440" y="2240280"/>
            <a:ext cx="329184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Nom interlocuteur</a:t>
            </a:r>
            <a:endParaRPr lang="en-US" sz="1500" dirty="0"/>
          </a:p>
        </p:txBody>
      </p:sp>
      <p:sp>
        <p:nvSpPr>
          <p:cNvPr id="14" name="Shape 11"/>
          <p:cNvSpPr/>
          <p:nvPr/>
        </p:nvSpPr>
        <p:spPr>
          <a:xfrm>
            <a:off x="914400" y="2642616"/>
            <a:ext cx="3566160" cy="0"/>
          </a:xfrm>
          <a:prstGeom prst="line">
            <a:avLst/>
          </a:prstGeom>
          <a:noFill/>
          <a:ln w="9525">
            <a:solidFill>
              <a:srgbClr val="DCDCDC"/>
            </a:solidFill>
            <a:prstDash val="solid"/>
          </a:ln>
        </p:spPr>
      </p:sp>
      <p:sp>
        <p:nvSpPr>
          <p:cNvPr id="15" name="Shape 12"/>
          <p:cNvSpPr/>
          <p:nvPr/>
        </p:nvSpPr>
        <p:spPr>
          <a:xfrm>
            <a:off x="914400" y="2752344"/>
            <a:ext cx="182880" cy="182880"/>
          </a:xfrm>
          <a:prstGeom prst="roundRect">
            <a:avLst>
              <a:gd name="adj" fmla="val 15000"/>
            </a:avLst>
          </a:prstGeom>
          <a:solidFill>
            <a:srgbClr val="FFFFFF"/>
          </a:solidFill>
          <a:ln w="22225">
            <a:solidFill>
              <a:srgbClr val="E30613"/>
            </a:solidFill>
            <a:prstDash val="solid"/>
          </a:ln>
        </p:spPr>
      </p:sp>
      <p:sp>
        <p:nvSpPr>
          <p:cNvPr id="16" name="Text 13"/>
          <p:cNvSpPr/>
          <p:nvPr/>
        </p:nvSpPr>
        <p:spPr>
          <a:xfrm>
            <a:off x="1234440" y="2642616"/>
            <a:ext cx="329184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Numéro de téléphone</a:t>
            </a:r>
            <a:endParaRPr lang="en-US" sz="1500" dirty="0"/>
          </a:p>
        </p:txBody>
      </p:sp>
      <p:sp>
        <p:nvSpPr>
          <p:cNvPr id="17" name="Shape 14"/>
          <p:cNvSpPr/>
          <p:nvPr/>
        </p:nvSpPr>
        <p:spPr>
          <a:xfrm>
            <a:off x="914400" y="3044952"/>
            <a:ext cx="3566160" cy="0"/>
          </a:xfrm>
          <a:prstGeom prst="line">
            <a:avLst/>
          </a:prstGeom>
          <a:noFill/>
          <a:ln w="9525">
            <a:solidFill>
              <a:srgbClr val="DCDCDC"/>
            </a:solidFill>
            <a:prstDash val="solid"/>
          </a:ln>
        </p:spPr>
      </p:sp>
      <p:sp>
        <p:nvSpPr>
          <p:cNvPr id="18" name="Shape 15"/>
          <p:cNvSpPr/>
          <p:nvPr/>
        </p:nvSpPr>
        <p:spPr>
          <a:xfrm>
            <a:off x="914400" y="3154680"/>
            <a:ext cx="182880" cy="182880"/>
          </a:xfrm>
          <a:prstGeom prst="roundRect">
            <a:avLst>
              <a:gd name="adj" fmla="val 15000"/>
            </a:avLst>
          </a:prstGeom>
          <a:solidFill>
            <a:srgbClr val="FFFFFF"/>
          </a:solidFill>
          <a:ln w="22225">
            <a:solidFill>
              <a:srgbClr val="E30613"/>
            </a:solidFill>
            <a:prstDash val="solid"/>
          </a:ln>
        </p:spPr>
      </p:sp>
      <p:sp>
        <p:nvSpPr>
          <p:cNvPr id="19" name="Text 16"/>
          <p:cNvSpPr/>
          <p:nvPr/>
        </p:nvSpPr>
        <p:spPr>
          <a:xfrm>
            <a:off x="1234440" y="3044952"/>
            <a:ext cx="329184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Raison de l’appel</a:t>
            </a:r>
            <a:endParaRPr lang="en-US" sz="1500" dirty="0"/>
          </a:p>
        </p:txBody>
      </p:sp>
      <p:sp>
        <p:nvSpPr>
          <p:cNvPr id="20" name="Shape 17"/>
          <p:cNvSpPr/>
          <p:nvPr/>
        </p:nvSpPr>
        <p:spPr>
          <a:xfrm>
            <a:off x="914400" y="3447288"/>
            <a:ext cx="3566160" cy="0"/>
          </a:xfrm>
          <a:prstGeom prst="line">
            <a:avLst/>
          </a:prstGeom>
          <a:noFill/>
          <a:ln w="9525">
            <a:solidFill>
              <a:srgbClr val="DCDCDC"/>
            </a:solidFill>
            <a:prstDash val="solid"/>
          </a:ln>
        </p:spPr>
      </p:sp>
      <p:sp>
        <p:nvSpPr>
          <p:cNvPr id="21" name="Shape 18"/>
          <p:cNvSpPr/>
          <p:nvPr/>
        </p:nvSpPr>
        <p:spPr>
          <a:xfrm>
            <a:off x="914400" y="3557016"/>
            <a:ext cx="182880" cy="182880"/>
          </a:xfrm>
          <a:prstGeom prst="roundRect">
            <a:avLst>
              <a:gd name="adj" fmla="val 15000"/>
            </a:avLst>
          </a:prstGeom>
          <a:solidFill>
            <a:srgbClr val="FFFFFF"/>
          </a:solidFill>
          <a:ln w="22225">
            <a:solidFill>
              <a:srgbClr val="E30613"/>
            </a:solidFill>
            <a:prstDash val="solid"/>
          </a:ln>
        </p:spPr>
      </p:sp>
      <p:sp>
        <p:nvSpPr>
          <p:cNvPr id="22" name="Text 19"/>
          <p:cNvSpPr/>
          <p:nvPr/>
        </p:nvSpPr>
        <p:spPr>
          <a:xfrm>
            <a:off x="1234440" y="3447288"/>
            <a:ext cx="329184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Action à réaliser</a:t>
            </a:r>
            <a:endParaRPr lang="en-US" sz="1500" dirty="0"/>
          </a:p>
        </p:txBody>
      </p:sp>
      <p:sp>
        <p:nvSpPr>
          <p:cNvPr id="23" name="Shape 20"/>
          <p:cNvSpPr/>
          <p:nvPr/>
        </p:nvSpPr>
        <p:spPr>
          <a:xfrm>
            <a:off x="914400" y="3849624"/>
            <a:ext cx="3566160" cy="0"/>
          </a:xfrm>
          <a:prstGeom prst="line">
            <a:avLst/>
          </a:prstGeom>
          <a:noFill/>
          <a:ln w="9525">
            <a:solidFill>
              <a:srgbClr val="DCDCDC"/>
            </a:solidFill>
            <a:prstDash val="solid"/>
          </a:ln>
        </p:spPr>
      </p:sp>
      <p:sp>
        <p:nvSpPr>
          <p:cNvPr id="24" name="Shape 21"/>
          <p:cNvSpPr/>
          <p:nvPr/>
        </p:nvSpPr>
        <p:spPr>
          <a:xfrm>
            <a:off x="914400" y="3959352"/>
            <a:ext cx="182880" cy="182880"/>
          </a:xfrm>
          <a:prstGeom prst="roundRect">
            <a:avLst>
              <a:gd name="adj" fmla="val 15000"/>
            </a:avLst>
          </a:prstGeom>
          <a:solidFill>
            <a:srgbClr val="FFFFFF"/>
          </a:solidFill>
          <a:ln w="22225">
            <a:solidFill>
              <a:srgbClr val="E30613"/>
            </a:solidFill>
            <a:prstDash val="solid"/>
          </a:ln>
        </p:spPr>
      </p:sp>
      <p:sp>
        <p:nvSpPr>
          <p:cNvPr id="25" name="Text 22"/>
          <p:cNvSpPr/>
          <p:nvPr/>
        </p:nvSpPr>
        <p:spPr>
          <a:xfrm>
            <a:off x="1234440" y="3849624"/>
            <a:ext cx="329184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Rappel : oui ou non</a:t>
            </a:r>
            <a:endParaRPr lang="en-US" sz="1500" dirty="0"/>
          </a:p>
        </p:txBody>
      </p:sp>
      <p:sp>
        <p:nvSpPr>
          <p:cNvPr id="26" name="Shape 23"/>
          <p:cNvSpPr/>
          <p:nvPr/>
        </p:nvSpPr>
        <p:spPr>
          <a:xfrm>
            <a:off x="914400" y="4251960"/>
            <a:ext cx="3566160" cy="0"/>
          </a:xfrm>
          <a:prstGeom prst="line">
            <a:avLst/>
          </a:prstGeom>
          <a:noFill/>
          <a:ln w="9525">
            <a:solidFill>
              <a:srgbClr val="DCDCDC"/>
            </a:solidFill>
            <a:prstDash val="solid"/>
          </a:ln>
        </p:spPr>
      </p:sp>
      <p:sp>
        <p:nvSpPr>
          <p:cNvPr id="27" name="Shape 24"/>
          <p:cNvSpPr/>
          <p:nvPr/>
        </p:nvSpPr>
        <p:spPr>
          <a:xfrm>
            <a:off x="914400" y="4361688"/>
            <a:ext cx="182880" cy="182880"/>
          </a:xfrm>
          <a:prstGeom prst="roundRect">
            <a:avLst>
              <a:gd name="adj" fmla="val 15000"/>
            </a:avLst>
          </a:prstGeom>
          <a:solidFill>
            <a:srgbClr val="FFFFFF"/>
          </a:solidFill>
          <a:ln w="22225">
            <a:solidFill>
              <a:srgbClr val="E30613"/>
            </a:solidFill>
            <a:prstDash val="solid"/>
          </a:ln>
        </p:spPr>
      </p:sp>
      <p:sp>
        <p:nvSpPr>
          <p:cNvPr id="28" name="Text 25"/>
          <p:cNvSpPr/>
          <p:nvPr/>
        </p:nvSpPr>
        <p:spPr>
          <a:xfrm>
            <a:off x="1234440" y="4251960"/>
            <a:ext cx="329184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Si oui, horaire</a:t>
            </a:r>
            <a:endParaRPr lang="en-US" sz="1500" dirty="0"/>
          </a:p>
        </p:txBody>
      </p:sp>
      <p:sp>
        <p:nvSpPr>
          <p:cNvPr id="29" name="Shape 26"/>
          <p:cNvSpPr/>
          <p:nvPr/>
        </p:nvSpPr>
        <p:spPr>
          <a:xfrm>
            <a:off x="914400" y="4654296"/>
            <a:ext cx="3566160" cy="0"/>
          </a:xfrm>
          <a:prstGeom prst="line">
            <a:avLst/>
          </a:prstGeom>
          <a:noFill/>
          <a:ln w="9525">
            <a:solidFill>
              <a:srgbClr val="DCDCDC"/>
            </a:solidFill>
            <a:prstDash val="solid"/>
          </a:ln>
        </p:spPr>
      </p:sp>
      <p:sp>
        <p:nvSpPr>
          <p:cNvPr id="30" name="Shape 27"/>
          <p:cNvSpPr/>
          <p:nvPr/>
        </p:nvSpPr>
        <p:spPr>
          <a:xfrm>
            <a:off x="914400" y="4764024"/>
            <a:ext cx="182880" cy="182880"/>
          </a:xfrm>
          <a:prstGeom prst="roundRect">
            <a:avLst>
              <a:gd name="adj" fmla="val 15000"/>
            </a:avLst>
          </a:prstGeom>
          <a:solidFill>
            <a:srgbClr val="FFFFFF"/>
          </a:solidFill>
          <a:ln w="22225">
            <a:solidFill>
              <a:srgbClr val="E30613"/>
            </a:solidFill>
            <a:prstDash val="solid"/>
          </a:ln>
        </p:spPr>
      </p:sp>
      <p:sp>
        <p:nvSpPr>
          <p:cNvPr id="31" name="Text 28"/>
          <p:cNvSpPr/>
          <p:nvPr/>
        </p:nvSpPr>
        <p:spPr>
          <a:xfrm>
            <a:off x="1234440" y="4654296"/>
            <a:ext cx="3291840" cy="402336"/>
          </a:xfrm>
          <a:prstGeom prst="rect">
            <a:avLst/>
          </a:prstGeom>
          <a:noFill/>
          <a:ln/>
        </p:spPr>
        <p:txBody>
          <a:bodyPr wrap="square" rtlCol="0" anchor="ctr"/>
          <a:lstStyle/>
          <a:p>
            <a:pPr indent="0" marL="0">
              <a:buNone/>
            </a:pPr>
            <a:r>
              <a:rPr lang="en-US" sz="1500" b="1" dirty="0">
                <a:solidFill>
                  <a:srgbClr val="111111"/>
                </a:solidFill>
                <a:latin typeface="Arial" pitchFamily="34" charset="0"/>
                <a:ea typeface="Arial" pitchFamily="34" charset="-122"/>
                <a:cs typeface="Arial" pitchFamily="34" charset="-120"/>
              </a:rPr>
              <a:t>Informations complémentaires</a:t>
            </a:r>
            <a:endParaRPr lang="en-US" sz="1500" dirty="0"/>
          </a:p>
        </p:txBody>
      </p:sp>
      <p:sp>
        <p:nvSpPr>
          <p:cNvPr id="32" name="Shape 29"/>
          <p:cNvSpPr/>
          <p:nvPr/>
        </p:nvSpPr>
        <p:spPr>
          <a:xfrm>
            <a:off x="4983480" y="1600200"/>
            <a:ext cx="3169768" cy="1097280"/>
          </a:xfrm>
          <a:prstGeom prst="roundRect">
            <a:avLst>
              <a:gd name="adj" fmla="val 10000"/>
            </a:avLst>
          </a:prstGeom>
          <a:solidFill>
            <a:srgbClr val="111111"/>
          </a:solidFill>
          <a:ln/>
        </p:spPr>
      </p:sp>
      <p:sp>
        <p:nvSpPr>
          <p:cNvPr id="33" name="Shape 30"/>
          <p:cNvSpPr/>
          <p:nvPr/>
        </p:nvSpPr>
        <p:spPr>
          <a:xfrm>
            <a:off x="5166360" y="1783080"/>
            <a:ext cx="384048" cy="384048"/>
          </a:xfrm>
          <a:prstGeom prst="ellipse">
            <a:avLst/>
          </a:prstGeom>
          <a:solidFill>
            <a:srgbClr val="E30613"/>
          </a:solidFill>
          <a:ln/>
        </p:spPr>
      </p:sp>
      <p:sp>
        <p:nvSpPr>
          <p:cNvPr id="34" name="Text 31"/>
          <p:cNvSpPr/>
          <p:nvPr/>
        </p:nvSpPr>
        <p:spPr>
          <a:xfrm>
            <a:off x="5166360" y="1783080"/>
            <a:ext cx="384048" cy="384048"/>
          </a:xfrm>
          <a:prstGeom prst="rect">
            <a:avLst/>
          </a:prstGeom>
          <a:noFill/>
          <a:ln/>
        </p:spPr>
        <p:txBody>
          <a:bodyPr wrap="square" rtlCol="0" anchor="ctr"/>
          <a:lstStyle/>
          <a:p>
            <a:pPr algn="ctr" indent="0" marL="0">
              <a:buNone/>
            </a:pPr>
            <a:r>
              <a:rPr lang="en-US" sz="1428" b="1" dirty="0">
                <a:solidFill>
                  <a:srgbClr val="FFFFFF"/>
                </a:solidFill>
                <a:latin typeface="Arial" pitchFamily="34" charset="0"/>
                <a:ea typeface="Arial" pitchFamily="34" charset="-122"/>
                <a:cs typeface="Arial" pitchFamily="34" charset="-120"/>
              </a:rPr>
              <a:t>1</a:t>
            </a:r>
            <a:endParaRPr lang="en-US" sz="1428" dirty="0"/>
          </a:p>
        </p:txBody>
      </p:sp>
      <p:sp>
        <p:nvSpPr>
          <p:cNvPr id="35" name="Text 32"/>
          <p:cNvSpPr/>
          <p:nvPr/>
        </p:nvSpPr>
        <p:spPr>
          <a:xfrm>
            <a:off x="5669280" y="1645920"/>
            <a:ext cx="2346808" cy="10058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La demande du client</a:t>
            </a:r>
            <a:endParaRPr lang="en-US" sz="1600" dirty="0"/>
          </a:p>
          <a:p>
            <a:pPr indent="0" marL="0">
              <a:buNone/>
            </a:pPr>
            <a:r>
              <a:rPr lang="en-US" sz="1300" dirty="0">
                <a:solidFill>
                  <a:srgbClr val="CCCCCC"/>
                </a:solidFill>
                <a:latin typeface="Arial" pitchFamily="34" charset="0"/>
                <a:ea typeface="Arial" pitchFamily="34" charset="-122"/>
                <a:cs typeface="Arial" pitchFamily="34" charset="-120"/>
              </a:rPr>
              <a:t>Indiquer clairement ce que le client demande.</a:t>
            </a:r>
            <a:endParaRPr lang="en-US" sz="1600" dirty="0"/>
          </a:p>
        </p:txBody>
      </p:sp>
      <p:sp>
        <p:nvSpPr>
          <p:cNvPr id="36" name="Shape 33"/>
          <p:cNvSpPr/>
          <p:nvPr/>
        </p:nvSpPr>
        <p:spPr>
          <a:xfrm>
            <a:off x="8336128" y="1600200"/>
            <a:ext cx="3169768" cy="1097280"/>
          </a:xfrm>
          <a:prstGeom prst="roundRect">
            <a:avLst>
              <a:gd name="adj" fmla="val 10000"/>
            </a:avLst>
          </a:prstGeom>
          <a:solidFill>
            <a:srgbClr val="111111"/>
          </a:solidFill>
          <a:ln/>
        </p:spPr>
      </p:sp>
      <p:sp>
        <p:nvSpPr>
          <p:cNvPr id="37" name="Shape 34"/>
          <p:cNvSpPr/>
          <p:nvPr/>
        </p:nvSpPr>
        <p:spPr>
          <a:xfrm>
            <a:off x="8519008" y="1783080"/>
            <a:ext cx="384048" cy="384048"/>
          </a:xfrm>
          <a:prstGeom prst="ellipse">
            <a:avLst/>
          </a:prstGeom>
          <a:solidFill>
            <a:srgbClr val="E30613"/>
          </a:solidFill>
          <a:ln/>
        </p:spPr>
      </p:sp>
      <p:sp>
        <p:nvSpPr>
          <p:cNvPr id="38" name="Text 35"/>
          <p:cNvSpPr/>
          <p:nvPr/>
        </p:nvSpPr>
        <p:spPr>
          <a:xfrm>
            <a:off x="8519008" y="1783080"/>
            <a:ext cx="384048" cy="384048"/>
          </a:xfrm>
          <a:prstGeom prst="rect">
            <a:avLst/>
          </a:prstGeom>
          <a:noFill/>
          <a:ln/>
        </p:spPr>
        <p:txBody>
          <a:bodyPr wrap="square" rtlCol="0" anchor="ctr"/>
          <a:lstStyle/>
          <a:p>
            <a:pPr algn="ctr" indent="0" marL="0">
              <a:buNone/>
            </a:pPr>
            <a:r>
              <a:rPr lang="en-US" sz="1428" b="1" dirty="0">
                <a:solidFill>
                  <a:srgbClr val="FFFFFF"/>
                </a:solidFill>
                <a:latin typeface="Arial" pitchFamily="34" charset="0"/>
                <a:ea typeface="Arial" pitchFamily="34" charset="-122"/>
                <a:cs typeface="Arial" pitchFamily="34" charset="-120"/>
              </a:rPr>
              <a:t>2</a:t>
            </a:r>
            <a:endParaRPr lang="en-US" sz="1428" dirty="0"/>
          </a:p>
        </p:txBody>
      </p:sp>
      <p:sp>
        <p:nvSpPr>
          <p:cNvPr id="39" name="Text 36"/>
          <p:cNvSpPr/>
          <p:nvPr/>
        </p:nvSpPr>
        <p:spPr>
          <a:xfrm>
            <a:off x="9021928" y="1645920"/>
            <a:ext cx="2346808" cy="10058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L’action attendue</a:t>
            </a:r>
            <a:endParaRPr lang="en-US" sz="1600" dirty="0"/>
          </a:p>
          <a:p>
            <a:pPr indent="0" marL="0">
              <a:buNone/>
            </a:pPr>
            <a:r>
              <a:rPr lang="en-US" sz="1300" dirty="0">
                <a:solidFill>
                  <a:srgbClr val="CCCCCC"/>
                </a:solidFill>
                <a:latin typeface="Arial" pitchFamily="34" charset="0"/>
                <a:ea typeface="Arial" pitchFamily="34" charset="-122"/>
                <a:cs typeface="Arial" pitchFamily="34" charset="-120"/>
              </a:rPr>
              <a:t>Préciser ce qui doit être fait concrètement.</a:t>
            </a:r>
            <a:endParaRPr lang="en-US" sz="1600" dirty="0"/>
          </a:p>
        </p:txBody>
      </p:sp>
      <p:sp>
        <p:nvSpPr>
          <p:cNvPr id="40" name="Shape 37"/>
          <p:cNvSpPr/>
          <p:nvPr/>
        </p:nvSpPr>
        <p:spPr>
          <a:xfrm>
            <a:off x="4983480" y="2880360"/>
            <a:ext cx="6522415" cy="1828800"/>
          </a:xfrm>
          <a:prstGeom prst="roundRect">
            <a:avLst>
              <a:gd name="adj" fmla="val 6000"/>
            </a:avLst>
          </a:prstGeom>
          <a:solidFill>
            <a:srgbClr val="FFFFFF"/>
          </a:solidFill>
          <a:ln/>
        </p:spPr>
      </p:sp>
      <p:sp>
        <p:nvSpPr>
          <p:cNvPr id="41" name="Text 38"/>
          <p:cNvSpPr/>
          <p:nvPr/>
        </p:nvSpPr>
        <p:spPr>
          <a:xfrm>
            <a:off x="9997135" y="2788920"/>
            <a:ext cx="1371600" cy="237744"/>
          </a:xfrm>
          <a:prstGeom prst="rect">
            <a:avLst/>
          </a:prstGeom>
          <a:solidFill>
            <a:srgbClr val="FFF3CD"/>
          </a:solidFill>
          <a:ln/>
        </p:spPr>
        <p:txBody>
          <a:bodyPr wrap="square" rtlCol="0" anchor="ctr"/>
          <a:lstStyle/>
          <a:p>
            <a:pPr algn="ctr" indent="0" marL="0">
              <a:buNone/>
            </a:pPr>
            <a:r>
              <a:rPr lang="en-US" sz="900" b="1" dirty="0">
                <a:solidFill>
                  <a:srgbClr val="6B4B00"/>
                </a:solidFill>
                <a:latin typeface="Arial" pitchFamily="34" charset="0"/>
                <a:ea typeface="Arial" pitchFamily="34" charset="-122"/>
                <a:cs typeface="Arial" pitchFamily="34" charset="-120"/>
              </a:rPr>
              <a:t>EXEMPLE FICTIF</a:t>
            </a:r>
            <a:endParaRPr lang="en-US" sz="900" dirty="0"/>
          </a:p>
        </p:txBody>
      </p:sp>
      <p:sp>
        <p:nvSpPr>
          <p:cNvPr id="42" name="Text 39"/>
          <p:cNvSpPr/>
          <p:nvPr/>
        </p:nvSpPr>
        <p:spPr>
          <a:xfrm>
            <a:off x="5166360" y="2971800"/>
            <a:ext cx="2377440" cy="1645920"/>
          </a:xfrm>
          <a:prstGeom prst="rect">
            <a:avLst/>
          </a:prstGeom>
          <a:noFill/>
          <a:ln/>
        </p:spPr>
        <p:txBody>
          <a:bodyPr wrap="square" rtlCol="0" anchor="ctr"/>
          <a:lstStyle/>
          <a:p>
            <a:pPr indent="0" marL="0">
              <a:buNone/>
            </a:pPr>
            <a:r>
              <a:rPr lang="en-US" sz="1000" b="1" dirty="0">
                <a:solidFill>
                  <a:srgbClr val="6B6B6B"/>
                </a:solidFill>
                <a:latin typeface="Arial" pitchFamily="34" charset="0"/>
                <a:ea typeface="Arial" pitchFamily="34" charset="-122"/>
                <a:cs typeface="Arial" pitchFamily="34" charset="-120"/>
              </a:rPr>
              <a:t>✗ PROBLÈME SEUL</a:t>
            </a:r>
            <a:endParaRPr lang="en-US" sz="1000" dirty="0"/>
          </a:p>
          <a:p>
            <a:pPr indent="0" marL="0">
              <a:buNone/>
            </a:pPr>
            <a:r>
              <a:rPr lang="en-US" sz="1300" i="1" dirty="0">
                <a:solidFill>
                  <a:srgbClr val="242424"/>
                </a:solidFill>
                <a:latin typeface="Arial" pitchFamily="34" charset="0"/>
                <a:ea typeface="Arial" pitchFamily="34" charset="-122"/>
                <a:cs typeface="Arial" pitchFamily="34" charset="-120"/>
              </a:rPr>
              <a:t>« Le client appelle au sujet de son adresse e‑mail. »</a:t>
            </a:r>
            <a:endParaRPr lang="en-US" sz="1000" dirty="0"/>
          </a:p>
        </p:txBody>
      </p:sp>
      <p:sp>
        <p:nvSpPr>
          <p:cNvPr id="43" name="Shape 40"/>
          <p:cNvSpPr/>
          <p:nvPr/>
        </p:nvSpPr>
        <p:spPr>
          <a:xfrm>
            <a:off x="7635240" y="3657600"/>
            <a:ext cx="411480" cy="274320"/>
          </a:xfrm>
          <a:prstGeom prst="rightArrow">
            <a:avLst/>
          </a:prstGeom>
          <a:solidFill>
            <a:srgbClr val="E30613"/>
          </a:solidFill>
          <a:ln/>
        </p:spPr>
      </p:sp>
      <p:sp>
        <p:nvSpPr>
          <p:cNvPr id="44" name="Text 41"/>
          <p:cNvSpPr/>
          <p:nvPr/>
        </p:nvSpPr>
        <p:spPr>
          <a:xfrm>
            <a:off x="8183880" y="2971800"/>
            <a:ext cx="3184855" cy="1645920"/>
          </a:xfrm>
          <a:prstGeom prst="rect">
            <a:avLst/>
          </a:prstGeom>
          <a:noFill/>
          <a:ln/>
        </p:spPr>
        <p:txBody>
          <a:bodyPr wrap="square" rtlCol="0" anchor="ctr"/>
          <a:lstStyle/>
          <a:p>
            <a:pPr indent="0" marL="0">
              <a:spcAft>
                <a:spcPts val="400"/>
              </a:spcAft>
              <a:buNone/>
            </a:pPr>
            <a:r>
              <a:rPr lang="en-US" sz="1000" b="1" dirty="0">
                <a:solidFill>
                  <a:srgbClr val="E30613"/>
                </a:solidFill>
                <a:latin typeface="Arial" pitchFamily="34" charset="0"/>
                <a:ea typeface="Arial" pitchFamily="34" charset="-122"/>
                <a:cs typeface="Arial" pitchFamily="34" charset="-120"/>
              </a:rPr>
              <a:t>✓ TÂCHE EXPLOITABLE</a:t>
            </a:r>
            <a:endParaRPr lang="en-US" sz="1000" dirty="0"/>
          </a:p>
          <a:p>
            <a:pPr indent="0" marL="0">
              <a:spcAft>
                <a:spcPts val="400"/>
              </a:spcAft>
              <a:buNone/>
            </a:pPr>
            <a:r>
              <a:rPr lang="en-US" sz="1300" b="1" dirty="0">
                <a:solidFill>
                  <a:srgbClr val="111111"/>
                </a:solidFill>
                <a:latin typeface="Arial" pitchFamily="34" charset="0"/>
                <a:ea typeface="Arial" pitchFamily="34" charset="-122"/>
                <a:cs typeface="Arial" pitchFamily="34" charset="-120"/>
              </a:rPr>
              <a:t>Raison de l’appel : </a:t>
            </a:r>
            <a:pPr indent="0" marL="0">
              <a:spcAft>
                <a:spcPts val="400"/>
              </a:spcAft>
              <a:buNone/>
            </a:pPr>
            <a:r>
              <a:rPr lang="en-US" sz="1300" dirty="0">
                <a:solidFill>
                  <a:srgbClr val="111111"/>
                </a:solidFill>
                <a:latin typeface="Arial" pitchFamily="34" charset="0"/>
                <a:ea typeface="Arial" pitchFamily="34" charset="-122"/>
                <a:cs typeface="Arial" pitchFamily="34" charset="-120"/>
              </a:rPr>
              <a:t>Le client a changé d’adresse e‑mail.</a:t>
            </a:r>
            <a:endParaRPr lang="en-US" sz="1000" dirty="0"/>
          </a:p>
          <a:p>
            <a:pPr indent="0" marL="0">
              <a:spcAft>
                <a:spcPts val="400"/>
              </a:spcAft>
              <a:buNone/>
            </a:pPr>
            <a:r>
              <a:rPr lang="en-US" sz="1300" b="1" dirty="0">
                <a:solidFill>
                  <a:srgbClr val="111111"/>
                </a:solidFill>
                <a:latin typeface="Arial" pitchFamily="34" charset="0"/>
                <a:ea typeface="Arial" pitchFamily="34" charset="-122"/>
                <a:cs typeface="Arial" pitchFamily="34" charset="-120"/>
              </a:rPr>
              <a:t>Action à réaliser : </a:t>
            </a:r>
            <a:pPr indent="0" marL="0">
              <a:spcAft>
                <a:spcPts val="400"/>
              </a:spcAft>
              <a:buNone/>
            </a:pPr>
            <a:r>
              <a:rPr lang="en-US" sz="1300" dirty="0">
                <a:solidFill>
                  <a:srgbClr val="111111"/>
                </a:solidFill>
                <a:latin typeface="Arial" pitchFamily="34" charset="0"/>
                <a:ea typeface="Arial" pitchFamily="34" charset="-122"/>
                <a:cs typeface="Arial" pitchFamily="34" charset="-120"/>
              </a:rPr>
              <a:t>Mettre à jour l’adresse e‑mail dans le dossier.</a:t>
            </a:r>
            <a:endParaRPr lang="en-US" sz="1000" dirty="0"/>
          </a:p>
          <a:p>
            <a:pPr indent="0" marL="0">
              <a:spcAft>
                <a:spcPts val="400"/>
              </a:spcAft>
              <a:buNone/>
            </a:pPr>
            <a:r>
              <a:rPr lang="en-US" sz="1300" b="1" dirty="0">
                <a:solidFill>
                  <a:srgbClr val="111111"/>
                </a:solidFill>
                <a:latin typeface="Arial" pitchFamily="34" charset="0"/>
                <a:ea typeface="Arial" pitchFamily="34" charset="-122"/>
                <a:cs typeface="Arial" pitchFamily="34" charset="-120"/>
              </a:rPr>
              <a:t>Rappel : </a:t>
            </a:r>
            <a:pPr indent="0" marL="0">
              <a:spcAft>
                <a:spcPts val="400"/>
              </a:spcAft>
              <a:buNone/>
            </a:pPr>
            <a:r>
              <a:rPr lang="en-US" sz="1300" dirty="0">
                <a:solidFill>
                  <a:srgbClr val="111111"/>
                </a:solidFill>
                <a:latin typeface="Arial" pitchFamily="34" charset="0"/>
                <a:ea typeface="Arial" pitchFamily="34" charset="-122"/>
                <a:cs typeface="Arial" pitchFamily="34" charset="-120"/>
              </a:rPr>
              <a:t>Non</a:t>
            </a:r>
            <a:endParaRPr lang="en-US" sz="1000" dirty="0"/>
          </a:p>
        </p:txBody>
      </p:sp>
      <p:sp>
        <p:nvSpPr>
          <p:cNvPr id="45" name="Shape 42"/>
          <p:cNvSpPr/>
          <p:nvPr/>
        </p:nvSpPr>
        <p:spPr>
          <a:xfrm>
            <a:off x="685800" y="5394960"/>
            <a:ext cx="10820095" cy="685800"/>
          </a:xfrm>
          <a:prstGeom prst="roundRect">
            <a:avLst>
              <a:gd name="adj" fmla="val 16000"/>
            </a:avLst>
          </a:prstGeom>
          <a:solidFill>
            <a:srgbClr val="111111"/>
          </a:solidFill>
          <a:ln/>
        </p:spPr>
      </p:sp>
      <p:sp>
        <p:nvSpPr>
          <p:cNvPr id="46" name="Shape 43"/>
          <p:cNvSpPr/>
          <p:nvPr/>
        </p:nvSpPr>
        <p:spPr>
          <a:xfrm>
            <a:off x="685800" y="5394960"/>
            <a:ext cx="73152" cy="685800"/>
          </a:xfrm>
          <a:prstGeom prst="rect">
            <a:avLst/>
          </a:prstGeom>
          <a:solidFill>
            <a:srgbClr val="E30613"/>
          </a:solidFill>
          <a:ln/>
        </p:spPr>
      </p:sp>
      <p:sp>
        <p:nvSpPr>
          <p:cNvPr id="47" name="Text 44"/>
          <p:cNvSpPr/>
          <p:nvPr/>
        </p:nvSpPr>
        <p:spPr>
          <a:xfrm>
            <a:off x="960120" y="5394960"/>
            <a:ext cx="10362895" cy="6858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Une tâche ne décrit pas seulement un problème : elle permet de comprendre l’action attendue.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E30613"/>
          </a:solidFill>
          <a:ln/>
        </p:spPr>
      </p:sp>
      <p:sp>
        <p:nvSpPr>
          <p:cNvPr id="3" name="Text 1"/>
          <p:cNvSpPr/>
          <p:nvPr/>
        </p:nvSpPr>
        <p:spPr>
          <a:xfrm>
            <a:off x="10728655" y="6400800"/>
            <a:ext cx="1188720" cy="274320"/>
          </a:xfrm>
          <a:prstGeom prst="rect">
            <a:avLst/>
          </a:prstGeom>
          <a:noFill/>
          <a:ln/>
        </p:spPr>
        <p:txBody>
          <a:bodyPr wrap="square" rtlCol="0" anchor="ctr"/>
          <a:lstStyle/>
          <a:p>
            <a:pPr algn="r" indent="0" marL="0">
              <a:buNone/>
            </a:pPr>
            <a:r>
              <a:rPr lang="en-US" sz="1100" b="1" dirty="0">
                <a:solidFill>
                  <a:srgbClr val="6B6B6B"/>
                </a:solidFill>
                <a:latin typeface="Arial" pitchFamily="34" charset="0"/>
                <a:ea typeface="Arial" pitchFamily="34" charset="-122"/>
                <a:cs typeface="Arial" pitchFamily="34" charset="-120"/>
              </a:rPr>
              <a:t>9 / 13</a:t>
            </a:r>
            <a:endParaRPr lang="en-US" sz="1100" dirty="0"/>
          </a:p>
        </p:txBody>
      </p:sp>
      <p:sp>
        <p:nvSpPr>
          <p:cNvPr id="5" name="Text 2"/>
          <p:cNvSpPr/>
          <p:nvPr/>
        </p:nvSpPr>
        <p:spPr>
          <a:xfrm>
            <a:off x="685800" y="411480"/>
            <a:ext cx="10820095" cy="274320"/>
          </a:xfrm>
          <a:prstGeom prst="rect">
            <a:avLst/>
          </a:prstGeom>
          <a:noFill/>
          <a:ln/>
        </p:spPr>
        <p:txBody>
          <a:bodyPr wrap="square" rtlCol="0" anchor="ctr"/>
          <a:lstStyle/>
          <a:p>
            <a:pPr indent="0" marL="0">
              <a:buNone/>
            </a:pPr>
            <a:r>
              <a:rPr lang="en-US" sz="1200" b="1" spc="200" kern="0" dirty="0">
                <a:solidFill>
                  <a:srgbClr val="E30613"/>
                </a:solidFill>
                <a:latin typeface="Arial" pitchFamily="34" charset="0"/>
                <a:ea typeface="Arial" pitchFamily="34" charset="-122"/>
                <a:cs typeface="Arial" pitchFamily="34" charset="-120"/>
              </a:rPr>
              <a:t>LA ROTATION</a:t>
            </a:r>
            <a:endParaRPr lang="en-US" sz="1200" dirty="0"/>
          </a:p>
        </p:txBody>
      </p:sp>
      <p:sp>
        <p:nvSpPr>
          <p:cNvPr id="6" name="Text 3"/>
          <p:cNvSpPr/>
          <p:nvPr/>
        </p:nvSpPr>
        <p:spPr>
          <a:xfrm>
            <a:off x="685800" y="685800"/>
            <a:ext cx="10820095" cy="6858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Comment fonctionne la rotation ?</a:t>
            </a:r>
            <a:endParaRPr lang="en-US" sz="3200" dirty="0"/>
          </a:p>
        </p:txBody>
      </p:sp>
      <p:sp>
        <p:nvSpPr>
          <p:cNvPr id="7" name="Shape 4"/>
          <p:cNvSpPr/>
          <p:nvPr/>
        </p:nvSpPr>
        <p:spPr>
          <a:xfrm>
            <a:off x="1600200" y="2240280"/>
            <a:ext cx="3383280" cy="3383280"/>
          </a:xfrm>
          <a:prstGeom prst="ellipse">
            <a:avLst/>
          </a:prstGeom>
          <a:ln w="38100">
            <a:solidFill>
              <a:srgbClr val="444444"/>
            </a:solidFill>
            <a:prstDash val="solid"/>
          </a:ln>
        </p:spPr>
      </p:sp>
      <p:sp>
        <p:nvSpPr>
          <p:cNvPr id="8" name="Shape 5"/>
          <p:cNvSpPr/>
          <p:nvPr/>
        </p:nvSpPr>
        <p:spPr>
          <a:xfrm>
            <a:off x="2313432" y="1984248"/>
            <a:ext cx="1956816" cy="512064"/>
          </a:xfrm>
          <a:prstGeom prst="roundRect">
            <a:avLst>
              <a:gd name="adj" fmla="val 50000"/>
            </a:avLst>
          </a:prstGeom>
          <a:solidFill>
            <a:srgbClr val="E30613"/>
          </a:solidFill>
          <a:ln w="12700">
            <a:solidFill>
              <a:srgbClr val="E30613"/>
            </a:solidFill>
            <a:prstDash val="solid"/>
          </a:ln>
        </p:spPr>
      </p:sp>
      <p:sp>
        <p:nvSpPr>
          <p:cNvPr id="9" name="Text 6"/>
          <p:cNvSpPr/>
          <p:nvPr/>
        </p:nvSpPr>
        <p:spPr>
          <a:xfrm>
            <a:off x="2313432" y="1984248"/>
            <a:ext cx="1956816" cy="51206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 Déménagement</a:t>
            </a:r>
            <a:endParaRPr lang="en-US" sz="1300" dirty="0"/>
          </a:p>
        </p:txBody>
      </p:sp>
      <p:sp>
        <p:nvSpPr>
          <p:cNvPr id="10" name="Shape 7"/>
          <p:cNvSpPr/>
          <p:nvPr/>
        </p:nvSpPr>
        <p:spPr>
          <a:xfrm>
            <a:off x="4059936" y="3675888"/>
            <a:ext cx="1847088" cy="512064"/>
          </a:xfrm>
          <a:prstGeom prst="roundRect">
            <a:avLst>
              <a:gd name="adj" fmla="val 50000"/>
            </a:avLst>
          </a:prstGeom>
          <a:solidFill>
            <a:srgbClr val="242424"/>
          </a:solidFill>
          <a:ln w="12700">
            <a:solidFill>
              <a:srgbClr val="3A3A3A"/>
            </a:solidFill>
            <a:prstDash val="solid"/>
          </a:ln>
        </p:spPr>
      </p:sp>
      <p:sp>
        <p:nvSpPr>
          <p:cNvPr id="11" name="Text 8"/>
          <p:cNvSpPr/>
          <p:nvPr/>
        </p:nvSpPr>
        <p:spPr>
          <a:xfrm>
            <a:off x="4059936" y="3675888"/>
            <a:ext cx="1847088" cy="51206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 Résiliation</a:t>
            </a:r>
            <a:endParaRPr lang="en-US" sz="1300" dirty="0"/>
          </a:p>
        </p:txBody>
      </p:sp>
      <p:sp>
        <p:nvSpPr>
          <p:cNvPr id="12" name="Shape 9"/>
          <p:cNvSpPr/>
          <p:nvPr/>
        </p:nvSpPr>
        <p:spPr>
          <a:xfrm>
            <a:off x="1819656" y="5367528"/>
            <a:ext cx="2944368" cy="512064"/>
          </a:xfrm>
          <a:prstGeom prst="roundRect">
            <a:avLst>
              <a:gd name="adj" fmla="val 50000"/>
            </a:avLst>
          </a:prstGeom>
          <a:solidFill>
            <a:srgbClr val="242424"/>
          </a:solidFill>
          <a:ln w="12700">
            <a:solidFill>
              <a:srgbClr val="3A3A3A"/>
            </a:solidFill>
            <a:prstDash val="solid"/>
          </a:ln>
        </p:spPr>
      </p:sp>
      <p:sp>
        <p:nvSpPr>
          <p:cNvPr id="13" name="Text 10"/>
          <p:cNvSpPr/>
          <p:nvPr/>
        </p:nvSpPr>
        <p:spPr>
          <a:xfrm>
            <a:off x="1819656" y="5367528"/>
            <a:ext cx="2944368" cy="51206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 Résiliation Exception</a:t>
            </a:r>
            <a:endParaRPr lang="en-US" sz="1300" dirty="0"/>
          </a:p>
        </p:txBody>
      </p:sp>
      <p:sp>
        <p:nvSpPr>
          <p:cNvPr id="14" name="Shape 11"/>
          <p:cNvSpPr/>
          <p:nvPr/>
        </p:nvSpPr>
        <p:spPr>
          <a:xfrm>
            <a:off x="786384" y="3675888"/>
            <a:ext cx="1627632" cy="512064"/>
          </a:xfrm>
          <a:prstGeom prst="roundRect">
            <a:avLst>
              <a:gd name="adj" fmla="val 50000"/>
            </a:avLst>
          </a:prstGeom>
          <a:solidFill>
            <a:srgbClr val="242424"/>
          </a:solidFill>
          <a:ln w="12700">
            <a:solidFill>
              <a:srgbClr val="3A3A3A"/>
            </a:solidFill>
            <a:prstDash val="solid"/>
          </a:ln>
        </p:spPr>
      </p:sp>
      <p:sp>
        <p:nvSpPr>
          <p:cNvPr id="15" name="Text 12"/>
          <p:cNvSpPr/>
          <p:nvPr/>
        </p:nvSpPr>
        <p:spPr>
          <a:xfrm>
            <a:off x="786384" y="3675888"/>
            <a:ext cx="1627632" cy="51206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 Takeovers</a:t>
            </a:r>
            <a:endParaRPr lang="en-US" sz="1300" dirty="0"/>
          </a:p>
        </p:txBody>
      </p:sp>
      <p:sp>
        <p:nvSpPr>
          <p:cNvPr id="16" name="Shape 13"/>
          <p:cNvSpPr/>
          <p:nvPr/>
        </p:nvSpPr>
        <p:spPr>
          <a:xfrm>
            <a:off x="2468880" y="3108960"/>
            <a:ext cx="1645920" cy="1645920"/>
          </a:xfrm>
          <a:prstGeom prst="ellipse">
            <a:avLst/>
          </a:prstGeom>
          <a:solidFill>
            <a:srgbClr val="111111"/>
          </a:solidFill>
          <a:ln w="19050">
            <a:solidFill>
              <a:srgbClr val="E30613"/>
            </a:solidFill>
            <a:prstDash val="dash"/>
          </a:ln>
        </p:spPr>
      </p:sp>
      <p:sp>
        <p:nvSpPr>
          <p:cNvPr id="17" name="Text 14"/>
          <p:cNvSpPr/>
          <p:nvPr/>
        </p:nvSpPr>
        <p:spPr>
          <a:xfrm>
            <a:off x="2468880" y="3108960"/>
            <a:ext cx="1645920" cy="16459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5. Nouveau cycle</a:t>
            </a:r>
            <a:endParaRPr lang="en-US" sz="1300" dirty="0"/>
          </a:p>
        </p:txBody>
      </p:sp>
      <p:sp>
        <p:nvSpPr>
          <p:cNvPr id="18" name="Text 15"/>
          <p:cNvSpPr/>
          <p:nvPr/>
        </p:nvSpPr>
        <p:spPr>
          <a:xfrm>
            <a:off x="6035040" y="1600200"/>
            <a:ext cx="5470855" cy="731520"/>
          </a:xfrm>
          <a:prstGeom prst="rect">
            <a:avLst/>
          </a:prstGeom>
          <a:noFill/>
          <a:ln/>
        </p:spPr>
        <p:txBody>
          <a:bodyPr wrap="square" rtlCol="0" anchor="ctr"/>
          <a:lstStyle/>
          <a:p>
            <a:pPr indent="0" marL="0">
              <a:buNone/>
            </a:pPr>
            <a:r>
              <a:rPr lang="en-US" sz="1800" dirty="0">
                <a:solidFill>
                  <a:srgbClr val="FFFFFF"/>
                </a:solidFill>
                <a:latin typeface="Arial" pitchFamily="34" charset="0"/>
                <a:ea typeface="Arial" pitchFamily="34" charset="-122"/>
                <a:cs typeface="Arial" pitchFamily="34" charset="-120"/>
              </a:rPr>
              <a:t>La rotation sert à organiser la répartition des catégories de dossiers.</a:t>
            </a:r>
            <a:endParaRPr lang="en-US" sz="1800" dirty="0"/>
          </a:p>
        </p:txBody>
      </p:sp>
      <p:sp>
        <p:nvSpPr>
          <p:cNvPr id="19" name="Text 16"/>
          <p:cNvSpPr/>
          <p:nvPr/>
        </p:nvSpPr>
        <p:spPr>
          <a:xfrm>
            <a:off x="6035040" y="2377440"/>
            <a:ext cx="5470855" cy="1920240"/>
          </a:xfrm>
          <a:prstGeom prst="rect">
            <a:avLst/>
          </a:prstGeom>
          <a:noFill/>
          <a:ln/>
        </p:spPr>
        <p:txBody>
          <a:bodyPr wrap="square"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1.  Déménagement</a:t>
            </a:r>
            <a:endParaRPr lang="en-US" sz="1600" dirty="0"/>
          </a:p>
          <a:p>
            <a:pPr indent="0" marL="0">
              <a:spcAft>
                <a:spcPts val="600"/>
              </a:spcAft>
              <a:buNone/>
            </a:pPr>
            <a:r>
              <a:rPr lang="en-US" sz="1600" b="1" dirty="0">
                <a:solidFill>
                  <a:srgbClr val="FFFFFF"/>
                </a:solidFill>
                <a:latin typeface="Arial" pitchFamily="34" charset="0"/>
                <a:ea typeface="Arial" pitchFamily="34" charset="-122"/>
                <a:cs typeface="Arial" pitchFamily="34" charset="-120"/>
              </a:rPr>
              <a:t>2.  Résiliation</a:t>
            </a:r>
            <a:endParaRPr lang="en-US" sz="1600" dirty="0"/>
          </a:p>
          <a:p>
            <a:pPr indent="0" marL="0">
              <a:spcAft>
                <a:spcPts val="600"/>
              </a:spcAft>
              <a:buNone/>
            </a:pPr>
            <a:r>
              <a:rPr lang="en-US" sz="1600" b="1" dirty="0">
                <a:solidFill>
                  <a:srgbClr val="FFFFFF"/>
                </a:solidFill>
                <a:latin typeface="Arial" pitchFamily="34" charset="0"/>
                <a:ea typeface="Arial" pitchFamily="34" charset="-122"/>
                <a:cs typeface="Arial" pitchFamily="34" charset="-120"/>
              </a:rPr>
              <a:t>3.  Résiliation Exception</a:t>
            </a:r>
            <a:endParaRPr lang="en-US" sz="1600" dirty="0"/>
          </a:p>
          <a:p>
            <a:pPr indent="0" marL="0">
              <a:spcAft>
                <a:spcPts val="600"/>
              </a:spcAft>
              <a:buNone/>
            </a:pPr>
            <a:r>
              <a:rPr lang="en-US" sz="1600" b="1" dirty="0">
                <a:solidFill>
                  <a:srgbClr val="FFFFFF"/>
                </a:solidFill>
                <a:latin typeface="Arial" pitchFamily="34" charset="0"/>
                <a:ea typeface="Arial" pitchFamily="34" charset="-122"/>
                <a:cs typeface="Arial" pitchFamily="34" charset="-120"/>
              </a:rPr>
              <a:t>4.  Takeovers</a:t>
            </a:r>
            <a:endParaRPr lang="en-US" sz="1600" dirty="0"/>
          </a:p>
          <a:p>
            <a:pPr indent="0" marL="0">
              <a:spcAft>
                <a:spcPts val="600"/>
              </a:spcAft>
              <a:buNone/>
            </a:pPr>
            <a:r>
              <a:rPr lang="en-US" sz="1600" b="1" dirty="0">
                <a:solidFill>
                  <a:srgbClr val="BBBBBB"/>
                </a:solidFill>
                <a:latin typeface="Arial" pitchFamily="34" charset="0"/>
                <a:ea typeface="Arial" pitchFamily="34" charset="-122"/>
                <a:cs typeface="Arial" pitchFamily="34" charset="-120"/>
              </a:rPr>
              <a:t>5.  Nouveau cycle : retour au déménagement</a:t>
            </a:r>
            <a:endParaRPr lang="en-US" sz="1600" dirty="0"/>
          </a:p>
        </p:txBody>
      </p:sp>
      <p:sp>
        <p:nvSpPr>
          <p:cNvPr id="20" name="Shape 17"/>
          <p:cNvSpPr/>
          <p:nvPr/>
        </p:nvSpPr>
        <p:spPr>
          <a:xfrm>
            <a:off x="6035040" y="4526280"/>
            <a:ext cx="5470855" cy="1417320"/>
          </a:xfrm>
          <a:prstGeom prst="roundRect">
            <a:avLst>
              <a:gd name="adj" fmla="val 7742"/>
            </a:avLst>
          </a:prstGeom>
          <a:solidFill>
            <a:srgbClr val="242424"/>
          </a:solidFill>
          <a:ln/>
        </p:spPr>
      </p:sp>
      <p:sp>
        <p:nvSpPr>
          <p:cNvPr id="21" name="Text 18"/>
          <p:cNvSpPr/>
          <p:nvPr/>
        </p:nvSpPr>
        <p:spPr>
          <a:xfrm>
            <a:off x="6263640" y="4663440"/>
            <a:ext cx="1463040" cy="274320"/>
          </a:xfrm>
          <a:prstGeom prst="rect">
            <a:avLst/>
          </a:prstGeom>
          <a:solidFill>
            <a:srgbClr val="E30613"/>
          </a:solid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AUJOURD’HUI</a:t>
            </a:r>
            <a:endParaRPr lang="en-US" sz="1000" dirty="0"/>
          </a:p>
        </p:txBody>
      </p:sp>
      <p:sp>
        <p:nvSpPr>
          <p:cNvPr id="22" name="Text 19"/>
          <p:cNvSpPr/>
          <p:nvPr/>
        </p:nvSpPr>
        <p:spPr>
          <a:xfrm>
            <a:off x="6263640" y="4983480"/>
            <a:ext cx="2323948" cy="822960"/>
          </a:xfrm>
          <a:prstGeom prst="rect">
            <a:avLst/>
          </a:prstGeom>
          <a:noFill/>
          <a:ln/>
        </p:spPr>
        <p:txBody>
          <a:bodyPr wrap="square" rtlCol="0" anchor="t"/>
          <a:lstStyle/>
          <a:p>
            <a:pPr indent="0" marL="0">
              <a:buNone/>
            </a:pPr>
            <a:r>
              <a:rPr lang="en-US" sz="1300" dirty="0">
                <a:solidFill>
                  <a:srgbClr val="FFFFFF"/>
                </a:solidFill>
                <a:latin typeface="Arial" pitchFamily="34" charset="0"/>
                <a:ea typeface="Arial" pitchFamily="34" charset="-122"/>
                <a:cs typeface="Arial" pitchFamily="34" charset="-120"/>
              </a:rPr>
              <a:t>Le référent effectue le dispatch manuellement.</a:t>
            </a:r>
            <a:endParaRPr lang="en-US" sz="1300" dirty="0"/>
          </a:p>
        </p:txBody>
      </p:sp>
      <p:sp>
        <p:nvSpPr>
          <p:cNvPr id="23" name="Shape 20"/>
          <p:cNvSpPr/>
          <p:nvPr/>
        </p:nvSpPr>
        <p:spPr>
          <a:xfrm>
            <a:off x="8633308" y="5120640"/>
            <a:ext cx="320040" cy="228600"/>
          </a:xfrm>
          <a:prstGeom prst="rightArrow">
            <a:avLst/>
          </a:prstGeom>
          <a:solidFill>
            <a:srgbClr val="E30613"/>
          </a:solidFill>
          <a:ln/>
        </p:spPr>
      </p:sp>
      <p:sp>
        <p:nvSpPr>
          <p:cNvPr id="24" name="Text 21"/>
          <p:cNvSpPr/>
          <p:nvPr/>
        </p:nvSpPr>
        <p:spPr>
          <a:xfrm>
            <a:off x="9044788" y="4663440"/>
            <a:ext cx="2011680" cy="274320"/>
          </a:xfrm>
          <a:prstGeom prst="rect">
            <a:avLst/>
          </a:prstGeom>
          <a:noFill/>
          <a:ln w="12700">
            <a:solidFill>
              <a:srgbClr val="FFFFFF"/>
            </a:solidFill>
            <a:prstDash val="dash"/>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DANS UN SECOND TEMPS</a:t>
            </a:r>
            <a:endParaRPr lang="en-US" sz="1000" dirty="0"/>
          </a:p>
        </p:txBody>
      </p:sp>
      <p:sp>
        <p:nvSpPr>
          <p:cNvPr id="25" name="Text 22"/>
          <p:cNvSpPr/>
          <p:nvPr/>
        </p:nvSpPr>
        <p:spPr>
          <a:xfrm>
            <a:off x="9044788" y="4983480"/>
            <a:ext cx="2323948" cy="822960"/>
          </a:xfrm>
          <a:prstGeom prst="rect">
            <a:avLst/>
          </a:prstGeom>
          <a:noFill/>
          <a:ln/>
        </p:spPr>
        <p:txBody>
          <a:bodyPr wrap="square" rtlCol="0" anchor="t"/>
          <a:lstStyle/>
          <a:p>
            <a:pPr indent="0" marL="0">
              <a:buNone/>
            </a:pPr>
            <a:r>
              <a:rPr lang="en-US" sz="1300" dirty="0">
                <a:solidFill>
                  <a:srgbClr val="FFFFFF"/>
                </a:solidFill>
                <a:latin typeface="Arial" pitchFamily="34" charset="0"/>
                <a:ea typeface="Arial" pitchFamily="34" charset="-122"/>
                <a:cs typeface="Arial" pitchFamily="34" charset="-120"/>
              </a:rPr>
              <a:t>L’automatisation du dispatch sera envisagée.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E30613"/>
          </a:solidFill>
          <a:ln/>
        </p:spPr>
      </p:sp>
      <p:sp>
        <p:nvSpPr>
          <p:cNvPr id="3" name="Text 1"/>
          <p:cNvSpPr/>
          <p:nvPr/>
        </p:nvSpPr>
        <p:spPr>
          <a:xfrm>
            <a:off x="10728655" y="6400800"/>
            <a:ext cx="1188720" cy="274320"/>
          </a:xfrm>
          <a:prstGeom prst="rect">
            <a:avLst/>
          </a:prstGeom>
          <a:noFill/>
          <a:ln/>
        </p:spPr>
        <p:txBody>
          <a:bodyPr wrap="square" rtlCol="0" anchor="ctr"/>
          <a:lstStyle/>
          <a:p>
            <a:pPr algn="r" indent="0" marL="0">
              <a:buNone/>
            </a:pPr>
            <a:r>
              <a:rPr lang="en-US" sz="1100" b="1" dirty="0">
                <a:solidFill>
                  <a:srgbClr val="6B6B6B"/>
                </a:solidFill>
                <a:latin typeface="Arial" pitchFamily="34" charset="0"/>
                <a:ea typeface="Arial" pitchFamily="34" charset="-122"/>
                <a:cs typeface="Arial" pitchFamily="34" charset="-120"/>
              </a:rPr>
              <a:t>10 / 13</a:t>
            </a:r>
            <a:endParaRPr lang="en-US" sz="1100" dirty="0"/>
          </a:p>
        </p:txBody>
      </p:sp>
      <p:sp>
        <p:nvSpPr>
          <p:cNvPr id="5" name="Text 2"/>
          <p:cNvSpPr/>
          <p:nvPr/>
        </p:nvSpPr>
        <p:spPr>
          <a:xfrm>
            <a:off x="685800" y="411480"/>
            <a:ext cx="10820095" cy="274320"/>
          </a:xfrm>
          <a:prstGeom prst="rect">
            <a:avLst/>
          </a:prstGeom>
          <a:noFill/>
          <a:ln/>
        </p:spPr>
        <p:txBody>
          <a:bodyPr wrap="square" rtlCol="0" anchor="ctr"/>
          <a:lstStyle/>
          <a:p>
            <a:pPr indent="0" marL="0">
              <a:buNone/>
            </a:pPr>
            <a:r>
              <a:rPr lang="en-US" sz="1200" b="1" spc="200" kern="0" dirty="0">
                <a:solidFill>
                  <a:srgbClr val="E30613"/>
                </a:solidFill>
                <a:latin typeface="Arial" pitchFamily="34" charset="0"/>
                <a:ea typeface="Arial" pitchFamily="34" charset="-122"/>
                <a:cs typeface="Arial" pitchFamily="34" charset="-120"/>
              </a:rPr>
              <a:t>LA CHARGE DE TRAVAIL</a:t>
            </a:r>
            <a:endParaRPr lang="en-US" sz="1200" dirty="0"/>
          </a:p>
        </p:txBody>
      </p:sp>
      <p:sp>
        <p:nvSpPr>
          <p:cNvPr id="6" name="Text 3"/>
          <p:cNvSpPr/>
          <p:nvPr/>
        </p:nvSpPr>
        <p:spPr>
          <a:xfrm>
            <a:off x="685800" y="685800"/>
            <a:ext cx="10820095" cy="685800"/>
          </a:xfrm>
          <a:prstGeom prst="rect">
            <a:avLst/>
          </a:prstGeom>
          <a:noFill/>
          <a:ln/>
        </p:spPr>
        <p:txBody>
          <a:bodyPr wrap="square" rtlCol="0" anchor="ctr"/>
          <a:lstStyle/>
          <a:p>
            <a:pPr indent="0" marL="0">
              <a:buNone/>
            </a:pPr>
            <a:r>
              <a:rPr lang="en-US" sz="3200" b="1" dirty="0">
                <a:solidFill>
                  <a:srgbClr val="111111"/>
                </a:solidFill>
                <a:latin typeface="Arial" pitchFamily="34" charset="0"/>
                <a:ea typeface="Arial" pitchFamily="34" charset="-122"/>
                <a:cs typeface="Arial" pitchFamily="34" charset="-120"/>
              </a:rPr>
              <a:t>Que se passe-t-il si la charge augmente ?</a:t>
            </a:r>
            <a:endParaRPr lang="en-US" sz="3200" dirty="0"/>
          </a:p>
        </p:txBody>
      </p:sp>
      <p:sp>
        <p:nvSpPr>
          <p:cNvPr id="7" name="Text 4"/>
          <p:cNvSpPr/>
          <p:nvPr/>
        </p:nvSpPr>
        <p:spPr>
          <a:xfrm>
            <a:off x="685800" y="1463040"/>
            <a:ext cx="10820095" cy="457200"/>
          </a:xfrm>
          <a:prstGeom prst="rect">
            <a:avLst/>
          </a:prstGeom>
          <a:noFill/>
          <a:ln/>
        </p:spPr>
        <p:txBody>
          <a:bodyPr wrap="square" rtlCol="0" anchor="ctr"/>
          <a:lstStyle/>
          <a:p>
            <a:pPr indent="0" marL="0">
              <a:buNone/>
            </a:pPr>
            <a:r>
              <a:rPr lang="en-US" sz="1700" dirty="0">
                <a:solidFill>
                  <a:srgbClr val="242424"/>
                </a:solidFill>
                <a:latin typeface="Arial" pitchFamily="34" charset="0"/>
                <a:ea typeface="Arial" pitchFamily="34" charset="-122"/>
                <a:cs typeface="Arial" pitchFamily="34" charset="-120"/>
              </a:rPr>
              <a:t>Des règles communes, connues de tous, pour garder une charge de travail maîtrisée.</a:t>
            </a:r>
            <a:endParaRPr lang="en-US" sz="1700" dirty="0"/>
          </a:p>
        </p:txBody>
      </p:sp>
      <p:sp>
        <p:nvSpPr>
          <p:cNvPr id="8" name="Shape 5"/>
          <p:cNvSpPr/>
          <p:nvPr/>
        </p:nvSpPr>
        <p:spPr>
          <a:xfrm>
            <a:off x="685800" y="2103120"/>
            <a:ext cx="3484778" cy="2468880"/>
          </a:xfrm>
          <a:prstGeom prst="roundRect">
            <a:avLst>
              <a:gd name="adj" fmla="val 4444"/>
            </a:avLst>
          </a:prstGeom>
          <a:solidFill>
            <a:srgbClr val="FFFFFF"/>
          </a:solidFill>
          <a:ln/>
        </p:spPr>
      </p:sp>
      <p:sp>
        <p:nvSpPr>
          <p:cNvPr id="9" name="Shape 6"/>
          <p:cNvSpPr/>
          <p:nvPr/>
        </p:nvSpPr>
        <p:spPr>
          <a:xfrm>
            <a:off x="685800" y="2103120"/>
            <a:ext cx="3484778" cy="868680"/>
          </a:xfrm>
          <a:prstGeom prst="rect">
            <a:avLst/>
          </a:prstGeom>
          <a:solidFill>
            <a:srgbClr val="111111"/>
          </a:solidFill>
          <a:ln/>
        </p:spPr>
      </p:sp>
      <p:sp>
        <p:nvSpPr>
          <p:cNvPr id="10" name="Text 7"/>
          <p:cNvSpPr/>
          <p:nvPr/>
        </p:nvSpPr>
        <p:spPr>
          <a:xfrm>
            <a:off x="914400" y="2103120"/>
            <a:ext cx="3119018" cy="86868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EN CAS DE</a:t>
            </a:r>
            <a:endParaRPr lang="en-US" sz="1000" dirty="0"/>
          </a:p>
          <a:p>
            <a:pPr indent="0" marL="0">
              <a:buNone/>
            </a:pPr>
            <a:r>
              <a:rPr lang="en-US" sz="1800" b="1" dirty="0">
                <a:solidFill>
                  <a:srgbClr val="FFFFFF"/>
                </a:solidFill>
                <a:latin typeface="Arial" pitchFamily="34" charset="0"/>
                <a:ea typeface="Arial" pitchFamily="34" charset="-122"/>
                <a:cs typeface="Arial" pitchFamily="34" charset="-120"/>
              </a:rPr>
              <a:t>Accumulation de dossiers</a:t>
            </a:r>
            <a:endParaRPr lang="en-US" sz="1000" dirty="0"/>
          </a:p>
        </p:txBody>
      </p:sp>
      <p:sp>
        <p:nvSpPr>
          <p:cNvPr id="11" name="Text 8"/>
          <p:cNvSpPr/>
          <p:nvPr/>
        </p:nvSpPr>
        <p:spPr>
          <a:xfrm>
            <a:off x="914400" y="3108960"/>
            <a:ext cx="3073298" cy="1371600"/>
          </a:xfrm>
          <a:prstGeom prst="rect">
            <a:avLst/>
          </a:prstGeom>
          <a:noFill/>
          <a:ln/>
        </p:spPr>
        <p:txBody>
          <a:bodyPr wrap="square" rtlCol="0" anchor="t"/>
          <a:lstStyle/>
          <a:p>
            <a:pPr indent="0" marL="0">
              <a:buNone/>
            </a:pPr>
            <a:r>
              <a:rPr lang="en-US" sz="1500" dirty="0">
                <a:solidFill>
                  <a:srgbClr val="111111"/>
                </a:solidFill>
                <a:latin typeface="Arial" pitchFamily="34" charset="0"/>
                <a:ea typeface="Arial" pitchFamily="34" charset="-122"/>
                <a:cs typeface="Arial" pitchFamily="34" charset="-120"/>
              </a:rPr>
              <a:t>→ Le collaborateur est temporairement retiré de la rotation pour résorber son portefeuille.</a:t>
            </a:r>
            <a:endParaRPr lang="en-US" sz="1500" dirty="0"/>
          </a:p>
        </p:txBody>
      </p:sp>
      <p:sp>
        <p:nvSpPr>
          <p:cNvPr id="12" name="Shape 9"/>
          <p:cNvSpPr/>
          <p:nvPr/>
        </p:nvSpPr>
        <p:spPr>
          <a:xfrm>
            <a:off x="4353458" y="2103120"/>
            <a:ext cx="3484778" cy="2468880"/>
          </a:xfrm>
          <a:prstGeom prst="roundRect">
            <a:avLst>
              <a:gd name="adj" fmla="val 4444"/>
            </a:avLst>
          </a:prstGeom>
          <a:solidFill>
            <a:srgbClr val="FFFFFF"/>
          </a:solidFill>
          <a:ln/>
        </p:spPr>
      </p:sp>
      <p:sp>
        <p:nvSpPr>
          <p:cNvPr id="13" name="Shape 10"/>
          <p:cNvSpPr/>
          <p:nvPr/>
        </p:nvSpPr>
        <p:spPr>
          <a:xfrm>
            <a:off x="4353458" y="2103120"/>
            <a:ext cx="3484778" cy="868680"/>
          </a:xfrm>
          <a:prstGeom prst="rect">
            <a:avLst/>
          </a:prstGeom>
          <a:solidFill>
            <a:srgbClr val="111111"/>
          </a:solidFill>
          <a:ln/>
        </p:spPr>
      </p:sp>
      <p:sp>
        <p:nvSpPr>
          <p:cNvPr id="14" name="Text 11"/>
          <p:cNvSpPr/>
          <p:nvPr/>
        </p:nvSpPr>
        <p:spPr>
          <a:xfrm>
            <a:off x="4582058" y="2103120"/>
            <a:ext cx="3119018" cy="86868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EN CAS DE</a:t>
            </a:r>
            <a:endParaRPr lang="en-US" sz="1000" dirty="0"/>
          </a:p>
          <a:p>
            <a:pPr indent="0" marL="0">
              <a:buNone/>
            </a:pPr>
            <a:r>
              <a:rPr lang="en-US" sz="1800" b="1" dirty="0">
                <a:solidFill>
                  <a:srgbClr val="FFFFFF"/>
                </a:solidFill>
                <a:latin typeface="Arial" pitchFamily="34" charset="0"/>
                <a:ea typeface="Arial" pitchFamily="34" charset="-122"/>
                <a:cs typeface="Arial" pitchFamily="34" charset="-120"/>
              </a:rPr>
              <a:t>Retard de traitement</a:t>
            </a:r>
            <a:endParaRPr lang="en-US" sz="1000" dirty="0"/>
          </a:p>
        </p:txBody>
      </p:sp>
      <p:sp>
        <p:nvSpPr>
          <p:cNvPr id="15" name="Text 12"/>
          <p:cNvSpPr/>
          <p:nvPr/>
        </p:nvSpPr>
        <p:spPr>
          <a:xfrm>
            <a:off x="4582058" y="3108960"/>
            <a:ext cx="3073298" cy="1371600"/>
          </a:xfrm>
          <a:prstGeom prst="rect">
            <a:avLst/>
          </a:prstGeom>
          <a:noFill/>
          <a:ln/>
        </p:spPr>
        <p:txBody>
          <a:bodyPr wrap="square" rtlCol="0" anchor="t"/>
          <a:lstStyle/>
          <a:p>
            <a:pPr indent="0" marL="0">
              <a:buNone/>
            </a:pPr>
            <a:r>
              <a:rPr lang="en-US" sz="1500" dirty="0">
                <a:solidFill>
                  <a:srgbClr val="111111"/>
                </a:solidFill>
                <a:latin typeface="Arial" pitchFamily="34" charset="0"/>
                <a:ea typeface="Arial" pitchFamily="34" charset="-122"/>
                <a:cs typeface="Arial" pitchFamily="34" charset="-120"/>
              </a:rPr>
              <a:t>→ Le collaborateur est temporairement retiré de la rotation le temps de rattraper son retard.</a:t>
            </a:r>
            <a:endParaRPr lang="en-US" sz="1500" dirty="0"/>
          </a:p>
        </p:txBody>
      </p:sp>
      <p:sp>
        <p:nvSpPr>
          <p:cNvPr id="16" name="Shape 13"/>
          <p:cNvSpPr/>
          <p:nvPr/>
        </p:nvSpPr>
        <p:spPr>
          <a:xfrm>
            <a:off x="8021117" y="2103120"/>
            <a:ext cx="3484778" cy="2468880"/>
          </a:xfrm>
          <a:prstGeom prst="roundRect">
            <a:avLst>
              <a:gd name="adj" fmla="val 4444"/>
            </a:avLst>
          </a:prstGeom>
          <a:solidFill>
            <a:srgbClr val="FFFFFF"/>
          </a:solidFill>
          <a:ln/>
        </p:spPr>
      </p:sp>
      <p:sp>
        <p:nvSpPr>
          <p:cNvPr id="17" name="Shape 14"/>
          <p:cNvSpPr/>
          <p:nvPr/>
        </p:nvSpPr>
        <p:spPr>
          <a:xfrm>
            <a:off x="8021117" y="2103120"/>
            <a:ext cx="3484778" cy="868680"/>
          </a:xfrm>
          <a:prstGeom prst="rect">
            <a:avLst/>
          </a:prstGeom>
          <a:solidFill>
            <a:srgbClr val="111111"/>
          </a:solidFill>
          <a:ln/>
        </p:spPr>
      </p:sp>
      <p:sp>
        <p:nvSpPr>
          <p:cNvPr id="18" name="Text 15"/>
          <p:cNvSpPr/>
          <p:nvPr/>
        </p:nvSpPr>
        <p:spPr>
          <a:xfrm>
            <a:off x="8249717" y="2103120"/>
            <a:ext cx="3119018" cy="86868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EN CAS DE</a:t>
            </a:r>
            <a:endParaRPr lang="en-US" sz="1000" dirty="0"/>
          </a:p>
          <a:p>
            <a:pPr indent="0" marL="0">
              <a:buNone/>
            </a:pPr>
            <a:r>
              <a:rPr lang="en-US" sz="1800" b="1" dirty="0">
                <a:solidFill>
                  <a:srgbClr val="FFFFFF"/>
                </a:solidFill>
                <a:latin typeface="Arial" pitchFamily="34" charset="0"/>
                <a:ea typeface="Arial" pitchFamily="34" charset="-122"/>
                <a:cs typeface="Arial" pitchFamily="34" charset="-120"/>
              </a:rPr>
              <a:t>No-show récurrent</a:t>
            </a:r>
            <a:endParaRPr lang="en-US" sz="1000" dirty="0"/>
          </a:p>
        </p:txBody>
      </p:sp>
      <p:sp>
        <p:nvSpPr>
          <p:cNvPr id="19" name="Text 16"/>
          <p:cNvSpPr/>
          <p:nvPr/>
        </p:nvSpPr>
        <p:spPr>
          <a:xfrm>
            <a:off x="8249717" y="3108960"/>
            <a:ext cx="3073298" cy="1371600"/>
          </a:xfrm>
          <a:prstGeom prst="rect">
            <a:avLst/>
          </a:prstGeom>
          <a:noFill/>
          <a:ln/>
        </p:spPr>
        <p:txBody>
          <a:bodyPr wrap="square" rtlCol="0" anchor="t"/>
          <a:lstStyle/>
          <a:p>
            <a:pPr indent="0" marL="0">
              <a:buNone/>
            </a:pPr>
            <a:r>
              <a:rPr lang="en-US" sz="1500" dirty="0">
                <a:solidFill>
                  <a:srgbClr val="111111"/>
                </a:solidFill>
                <a:latin typeface="Arial" pitchFamily="34" charset="0"/>
                <a:ea typeface="Arial" pitchFamily="34" charset="-122"/>
                <a:cs typeface="Arial" pitchFamily="34" charset="-120"/>
              </a:rPr>
              <a:t>→ Deux rendez-vous non rappelés entraînent un déménagement attribué en moins.</a:t>
            </a:r>
            <a:endParaRPr lang="en-US" sz="1500" dirty="0"/>
          </a:p>
        </p:txBody>
      </p:sp>
      <p:sp>
        <p:nvSpPr>
          <p:cNvPr id="20" name="Shape 17"/>
          <p:cNvSpPr/>
          <p:nvPr/>
        </p:nvSpPr>
        <p:spPr>
          <a:xfrm>
            <a:off x="685800" y="4892040"/>
            <a:ext cx="10820095" cy="960120"/>
          </a:xfrm>
          <a:prstGeom prst="roundRect">
            <a:avLst>
              <a:gd name="adj" fmla="val 11429"/>
            </a:avLst>
          </a:prstGeom>
          <a:solidFill>
            <a:srgbClr val="111111"/>
          </a:solidFill>
          <a:ln/>
        </p:spPr>
      </p:sp>
      <p:sp>
        <p:nvSpPr>
          <p:cNvPr id="21" name="Text 18"/>
          <p:cNvSpPr/>
          <p:nvPr/>
        </p:nvSpPr>
        <p:spPr>
          <a:xfrm>
            <a:off x="960120" y="4892040"/>
            <a:ext cx="1554480" cy="960120"/>
          </a:xfrm>
          <a:prstGeom prst="rect">
            <a:avLst/>
          </a:prstGeom>
          <a:noFill/>
          <a:ln/>
        </p:spPr>
        <p:txBody>
          <a:bodyPr wrap="square" rtlCol="0" anchor="ctr"/>
          <a:lstStyle/>
          <a:p>
            <a:pPr indent="0" marL="0">
              <a:buNone/>
            </a:pPr>
            <a:r>
              <a:rPr lang="en-US" sz="1200" b="1" spc="200" kern="0" dirty="0">
                <a:solidFill>
                  <a:srgbClr val="E30613"/>
                </a:solidFill>
                <a:latin typeface="Arial" pitchFamily="34" charset="0"/>
                <a:ea typeface="Arial" pitchFamily="34" charset="-122"/>
                <a:cs typeface="Arial" pitchFamily="34" charset="-120"/>
              </a:rPr>
              <a:t>L’OBJECTIF</a:t>
            </a:r>
            <a:endParaRPr lang="en-US" sz="1200" dirty="0"/>
          </a:p>
        </p:txBody>
      </p:sp>
      <p:sp>
        <p:nvSpPr>
          <p:cNvPr id="22" name="Text 19"/>
          <p:cNvSpPr/>
          <p:nvPr/>
        </p:nvSpPr>
        <p:spPr>
          <a:xfrm>
            <a:off x="2514600" y="4892040"/>
            <a:ext cx="2844698" cy="9601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Maintenir une charge de travail maîtrisée</a:t>
            </a:r>
            <a:endParaRPr lang="en-US" sz="1400" dirty="0"/>
          </a:p>
        </p:txBody>
      </p:sp>
      <p:sp>
        <p:nvSpPr>
          <p:cNvPr id="23" name="Text 20"/>
          <p:cNvSpPr/>
          <p:nvPr/>
        </p:nvSpPr>
        <p:spPr>
          <a:xfrm>
            <a:off x="5450738" y="4892040"/>
            <a:ext cx="2844698" cy="9601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Traiter les dossiers dans les délais</a:t>
            </a:r>
            <a:endParaRPr lang="en-US" sz="1400" dirty="0"/>
          </a:p>
        </p:txBody>
      </p:sp>
      <p:sp>
        <p:nvSpPr>
          <p:cNvPr id="24" name="Text 21"/>
          <p:cNvSpPr/>
          <p:nvPr/>
        </p:nvSpPr>
        <p:spPr>
          <a:xfrm>
            <a:off x="8386877" y="4892040"/>
            <a:ext cx="2844698" cy="9601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Limiter les demandes en attente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E30613"/>
          </a:solidFill>
          <a:ln/>
        </p:spPr>
      </p:sp>
      <p:sp>
        <p:nvSpPr>
          <p:cNvPr id="3" name="Text 1"/>
          <p:cNvSpPr/>
          <p:nvPr/>
        </p:nvSpPr>
        <p:spPr>
          <a:xfrm>
            <a:off x="10728655" y="6400800"/>
            <a:ext cx="1188720" cy="274320"/>
          </a:xfrm>
          <a:prstGeom prst="rect">
            <a:avLst/>
          </a:prstGeom>
          <a:noFill/>
          <a:ln/>
        </p:spPr>
        <p:txBody>
          <a:bodyPr wrap="square" rtlCol="0" anchor="ctr"/>
          <a:lstStyle/>
          <a:p>
            <a:pPr algn="r" indent="0" marL="0">
              <a:buNone/>
            </a:pPr>
            <a:r>
              <a:rPr lang="en-US" sz="1100" b="1" dirty="0">
                <a:solidFill>
                  <a:srgbClr val="6B6B6B"/>
                </a:solidFill>
                <a:latin typeface="Arial" pitchFamily="34" charset="0"/>
                <a:ea typeface="Arial" pitchFamily="34" charset="-122"/>
                <a:cs typeface="Arial" pitchFamily="34" charset="-120"/>
              </a:rPr>
              <a:t>11 / 13</a:t>
            </a:r>
            <a:endParaRPr lang="en-US" sz="1100" dirty="0"/>
          </a:p>
        </p:txBody>
      </p:sp>
      <p:sp>
        <p:nvSpPr>
          <p:cNvPr id="5" name="Text 2"/>
          <p:cNvSpPr/>
          <p:nvPr/>
        </p:nvSpPr>
        <p:spPr>
          <a:xfrm>
            <a:off x="685800" y="411480"/>
            <a:ext cx="10820095" cy="274320"/>
          </a:xfrm>
          <a:prstGeom prst="rect">
            <a:avLst/>
          </a:prstGeom>
          <a:noFill/>
          <a:ln/>
        </p:spPr>
        <p:txBody>
          <a:bodyPr wrap="square" rtlCol="0" anchor="ctr"/>
          <a:lstStyle/>
          <a:p>
            <a:pPr indent="0" marL="0">
              <a:buNone/>
            </a:pPr>
            <a:r>
              <a:rPr lang="en-US" sz="1200" b="1" spc="200" kern="0" dirty="0">
                <a:solidFill>
                  <a:srgbClr val="E30613"/>
                </a:solidFill>
                <a:latin typeface="Arial" pitchFamily="34" charset="0"/>
                <a:ea typeface="Arial" pitchFamily="34" charset="-122"/>
                <a:cs typeface="Arial" pitchFamily="34" charset="-120"/>
              </a:rPr>
              <a:t>EN RÉSUMÉ</a:t>
            </a:r>
            <a:endParaRPr lang="en-US" sz="1200" dirty="0"/>
          </a:p>
        </p:txBody>
      </p:sp>
      <p:sp>
        <p:nvSpPr>
          <p:cNvPr id="6" name="Text 3"/>
          <p:cNvSpPr/>
          <p:nvPr/>
        </p:nvSpPr>
        <p:spPr>
          <a:xfrm>
            <a:off x="685800" y="685800"/>
            <a:ext cx="10820095" cy="685800"/>
          </a:xfrm>
          <a:prstGeom prst="rect">
            <a:avLst/>
          </a:prstGeom>
          <a:noFill/>
          <a:ln/>
        </p:spPr>
        <p:txBody>
          <a:bodyPr wrap="square" rtlCol="0" anchor="ctr"/>
          <a:lstStyle/>
          <a:p>
            <a:pPr indent="0" marL="0">
              <a:buNone/>
            </a:pPr>
            <a:r>
              <a:rPr lang="en-US" sz="3200" b="1" dirty="0">
                <a:solidFill>
                  <a:srgbClr val="111111"/>
                </a:solidFill>
                <a:latin typeface="Arial" pitchFamily="34" charset="0"/>
                <a:ea typeface="Arial" pitchFamily="34" charset="-122"/>
                <a:cs typeface="Arial" pitchFamily="34" charset="-120"/>
              </a:rPr>
              <a:t>Ce qui change et ce qui ne change pas</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10820095" cy="914400"/>
        </p:xfrm>
        <a:graphic>
          <a:graphicData uri="http://schemas.openxmlformats.org/drawingml/2006/table">
            <a:tbl>
              <a:tblPr/>
              <a:tblGrid>
                <a:gridCol w="4023360"/>
                <a:gridCol w="3392424"/>
                <a:gridCol w="3401568"/>
              </a:tblGrid>
              <a:tr h="731520">
                <a:tc>
                  <a:txBody>
                    <a:bodyPr/>
                    <a:lstStyle/>
                    <a:p>
                      <a:pPr indent="0" marL="0">
                        <a:buNone/>
                      </a:pPr>
                      <a:r>
                        <a:rPr lang="en-US" sz="1700" b="1" dirty="0">
                          <a:solidFill>
                            <a:srgbClr val="FFFFFF"/>
                          </a:solidFill>
                          <a:latin typeface="Arial" pitchFamily="34" charset="0"/>
                          <a:ea typeface="Arial" pitchFamily="34" charset="-122"/>
                          <a:cs typeface="Arial" pitchFamily="34" charset="-120"/>
                        </a:rPr>
                        <a:t>Ce qui change</a:t>
                      </a:r>
                      <a:endParaRPr lang="en-US" sz="1400" dirty="0">
                        <a:latin typeface="Arial" charset="0"/>
                        <a:ea typeface="Arial" charset="0"/>
                        <a:cs typeface="Arial" charset="0"/>
                      </a:endParaRPr>
                    </a:p>
                    <a:p>
                      <a:pPr indent="0" marL="0">
                        <a:buNone/>
                      </a:pPr>
                      <a:r>
                        <a:rPr lang="en-US" sz="1000" b="1" dirty="0">
                          <a:solidFill>
                            <a:srgbClr val="FFFFFF"/>
                          </a:solidFill>
                          <a:latin typeface="Arial" pitchFamily="34" charset="0"/>
                          <a:ea typeface="Arial" pitchFamily="34" charset="-122"/>
                          <a:cs typeface="Arial" pitchFamily="34" charset="-120"/>
                        </a:rPr>
                        <a:t>DÈS MAINTENANT</a:t>
                      </a: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E30613"/>
                    </a:solidFill>
                  </a:tcPr>
                </a:tc>
                <a:tc>
                  <a:txBody>
                    <a:bodyPr/>
                    <a:lstStyle/>
                    <a:p>
                      <a:pPr indent="0" marL="0">
                        <a:buNone/>
                      </a:pPr>
                      <a:r>
                        <a:rPr lang="en-US" sz="1700" b="1" dirty="0">
                          <a:solidFill>
                            <a:srgbClr val="FFFFFF"/>
                          </a:solidFill>
                          <a:latin typeface="Arial" pitchFamily="34" charset="0"/>
                          <a:ea typeface="Arial" pitchFamily="34" charset="-122"/>
                          <a:cs typeface="Arial" pitchFamily="34" charset="-120"/>
                        </a:rPr>
                        <a:t>Ce qui ne change pas</a:t>
                      </a:r>
                      <a:endParaRPr lang="en-US" sz="1400" dirty="0">
                        <a:latin typeface="Arial" charset="0"/>
                        <a:ea typeface="Arial" charset="0"/>
                        <a:cs typeface="Arial" charset="0"/>
                      </a:endParaRPr>
                    </a:p>
                    <a:p>
                      <a:pPr indent="0" marL="0">
                        <a:buNone/>
                      </a:pPr>
                      <a:r>
                        <a:rPr lang="en-US" sz="1000" b="1" dirty="0">
                          <a:solidFill>
                            <a:srgbClr val="FFFFFF"/>
                          </a:solidFill>
                          <a:latin typeface="Arial" pitchFamily="34" charset="0"/>
                          <a:ea typeface="Arial" pitchFamily="34" charset="-122"/>
                          <a:cs typeface="Arial" pitchFamily="34" charset="-120"/>
                        </a:rPr>
                        <a:t>COMME AVANT</a:t>
                      </a: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111111"/>
                    </a:solidFill>
                  </a:tcPr>
                </a:tc>
                <a:tc>
                  <a:txBody>
                    <a:bodyPr/>
                    <a:lstStyle/>
                    <a:p>
                      <a:pPr indent="0" marL="0">
                        <a:buNone/>
                      </a:pPr>
                      <a:r>
                        <a:rPr lang="en-US" sz="1700" b="1" dirty="0">
                          <a:solidFill>
                            <a:srgbClr val="111111"/>
                          </a:solidFill>
                          <a:latin typeface="Arial" pitchFamily="34" charset="0"/>
                          <a:ea typeface="Arial" pitchFamily="34" charset="-122"/>
                          <a:cs typeface="Arial" pitchFamily="34" charset="-120"/>
                        </a:rPr>
                        <a:t>Ce qui arrivera plus tard</a:t>
                      </a:r>
                      <a:endParaRPr lang="en-US" sz="1400" dirty="0">
                        <a:latin typeface="Arial" charset="0"/>
                        <a:ea typeface="Arial" charset="0"/>
                        <a:cs typeface="Arial" charset="0"/>
                      </a:endParaRPr>
                    </a:p>
                    <a:p>
                      <a:pPr indent="0" marL="0">
                        <a:buNone/>
                      </a:pPr>
                      <a:r>
                        <a:rPr lang="en-US" sz="1000" b="1" dirty="0">
                          <a:solidFill>
                            <a:srgbClr val="111111"/>
                          </a:solidFill>
                          <a:latin typeface="Arial" pitchFamily="34" charset="0"/>
                          <a:ea typeface="Arial" pitchFamily="34" charset="-122"/>
                          <a:cs typeface="Arial" pitchFamily="34" charset="-120"/>
                        </a:rPr>
                        <a:t>ÉVOLUTIONS FUTURES</a:t>
                      </a: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D9D9D9"/>
                    </a:solidFill>
                  </a:tcPr>
                </a:tc>
              </a:tr>
              <a:tr h="566928">
                <a:tc>
                  <a:txBody>
                    <a:bodyPr/>
                    <a:lstStyle/>
                    <a:p>
                      <a:pPr indent="0" marL="0">
                        <a:buNone/>
                      </a:pPr>
                      <a:r>
                        <a:rPr lang="en-US" sz="1400" dirty="0">
                          <a:solidFill>
                            <a:srgbClr val="111111"/>
                          </a:solidFill>
                          <a:latin typeface="Arial" pitchFamily="34" charset="0"/>
                          <a:ea typeface="Arial" pitchFamily="34" charset="-122"/>
                          <a:cs typeface="Arial" pitchFamily="34" charset="-120"/>
                        </a:rPr>
                        <a:t>Une séparation plus claire entre réception et sortant</a:t>
                      </a: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400" dirty="0">
                          <a:solidFill>
                            <a:srgbClr val="111111"/>
                          </a:solidFill>
                          <a:latin typeface="Arial" pitchFamily="34" charset="0"/>
                          <a:ea typeface="Arial" pitchFamily="34" charset="-122"/>
                          <a:cs typeface="Arial" pitchFamily="34" charset="-120"/>
                        </a:rPr>
                        <a:t>Les processus habituels</a:t>
                      </a: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400" i="1" dirty="0">
                          <a:solidFill>
                            <a:srgbClr val="111111"/>
                          </a:solidFill>
                          <a:latin typeface="Arial" pitchFamily="34" charset="0"/>
                          <a:ea typeface="Arial" pitchFamily="34" charset="-122"/>
                          <a:cs typeface="Arial" pitchFamily="34" charset="-120"/>
                        </a:rPr>
                        <a:t>L’automatisation du dispatch</a:t>
                      </a: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7F7F7"/>
                    </a:solidFill>
                  </a:tcPr>
                </a:tc>
              </a:tr>
              <a:tr h="566928">
                <a:tc>
                  <a:txBody>
                    <a:bodyPr/>
                    <a:lstStyle/>
                    <a:p>
                      <a:pPr indent="0" marL="0">
                        <a:buNone/>
                      </a:pPr>
                      <a:r>
                        <a:rPr lang="en-US" sz="1400" dirty="0">
                          <a:solidFill>
                            <a:srgbClr val="111111"/>
                          </a:solidFill>
                          <a:latin typeface="Arial" pitchFamily="34" charset="0"/>
                          <a:ea typeface="Arial" pitchFamily="34" charset="-122"/>
                          <a:cs typeface="Arial" pitchFamily="34" charset="-120"/>
                        </a:rPr>
                        <a:t>Des templates communs</a:t>
                      </a: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400" dirty="0">
                          <a:solidFill>
                            <a:srgbClr val="111111"/>
                          </a:solidFill>
                          <a:latin typeface="Arial" pitchFamily="34" charset="0"/>
                          <a:ea typeface="Arial" pitchFamily="34" charset="-122"/>
                          <a:cs typeface="Arial" pitchFamily="34" charset="-120"/>
                        </a:rPr>
                        <a:t>Les délais de traitement</a:t>
                      </a: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400" i="1" dirty="0">
                          <a:solidFill>
                            <a:srgbClr val="111111"/>
                          </a:solidFill>
                          <a:latin typeface="Arial" pitchFamily="34" charset="0"/>
                          <a:ea typeface="Arial" pitchFamily="34" charset="-122"/>
                          <a:cs typeface="Arial" pitchFamily="34" charset="-120"/>
                        </a:rPr>
                        <a:t>Un agenda connecté pour visualiser les rendez-vous et les disponibilités</a:t>
                      </a: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7F7F7"/>
                    </a:solidFill>
                  </a:tcPr>
                </a:tc>
              </a:tr>
              <a:tr h="566928">
                <a:tc>
                  <a:txBody>
                    <a:bodyPr/>
                    <a:lstStyle/>
                    <a:p>
                      <a:pPr indent="0" marL="0">
                        <a:buNone/>
                      </a:pPr>
                      <a:r>
                        <a:rPr lang="en-US" sz="1400" dirty="0">
                          <a:solidFill>
                            <a:srgbClr val="111111"/>
                          </a:solidFill>
                          <a:latin typeface="Arial" pitchFamily="34" charset="0"/>
                          <a:ea typeface="Arial" pitchFamily="34" charset="-122"/>
                          <a:cs typeface="Arial" pitchFamily="34" charset="-120"/>
                        </a:rPr>
                        <a:t>Une rotation structurée</a:t>
                      </a: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400" dirty="0">
                          <a:solidFill>
                            <a:srgbClr val="111111"/>
                          </a:solidFill>
                          <a:latin typeface="Arial" pitchFamily="34" charset="0"/>
                          <a:ea typeface="Arial" pitchFamily="34" charset="-122"/>
                          <a:cs typeface="Arial" pitchFamily="34" charset="-120"/>
                        </a:rPr>
                        <a:t>Les exigences de qualité</a:t>
                      </a: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FFFFF"/>
                    </a:solidFill>
                  </a:tcPr>
                </a:tc>
                <a:tc>
                  <a:txBody>
                    <a:bodyPr/>
                    <a:lstStyle/>
                    <a:p>
                      <a:pPr indent="0" marL="0">
                        <a:buNone/>
                      </a:pP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7F7F7"/>
                    </a:solidFill>
                  </a:tcPr>
                </a:tc>
              </a:tr>
              <a:tr h="566928">
                <a:tc>
                  <a:txBody>
                    <a:bodyPr/>
                    <a:lstStyle/>
                    <a:p>
                      <a:pPr indent="0" marL="0">
                        <a:buNone/>
                      </a:pPr>
                      <a:r>
                        <a:rPr lang="en-US" sz="1400" dirty="0">
                          <a:solidFill>
                            <a:srgbClr val="111111"/>
                          </a:solidFill>
                          <a:latin typeface="Arial" pitchFamily="34" charset="0"/>
                          <a:ea typeface="Arial" pitchFamily="34" charset="-122"/>
                          <a:cs typeface="Arial" pitchFamily="34" charset="-120"/>
                        </a:rPr>
                        <a:t>Un dispatch centralisé par le référent</a:t>
                      </a: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400" dirty="0">
                          <a:solidFill>
                            <a:srgbClr val="111111"/>
                          </a:solidFill>
                          <a:latin typeface="Arial" pitchFamily="34" charset="0"/>
                          <a:ea typeface="Arial" pitchFamily="34" charset="-122"/>
                          <a:cs typeface="Arial" pitchFamily="34" charset="-120"/>
                        </a:rPr>
                        <a:t>La nécessité d’assurer un suivi rigoureux des dossiers</a:t>
                      </a: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FFFFF"/>
                    </a:solidFill>
                  </a:tcPr>
                </a:tc>
                <a:tc>
                  <a:txBody>
                    <a:bodyPr/>
                    <a:lstStyle/>
                    <a:p>
                      <a:pPr indent="0" marL="0">
                        <a:buNone/>
                      </a:pP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7F7F7"/>
                    </a:solidFill>
                  </a:tcPr>
                </a:tc>
              </a:tr>
              <a:tr h="566928">
                <a:tc>
                  <a:txBody>
                    <a:bodyPr/>
                    <a:lstStyle/>
                    <a:p>
                      <a:pPr indent="0" marL="0">
                        <a:buNone/>
                      </a:pPr>
                      <a:r>
                        <a:rPr lang="en-US" sz="1400" dirty="0">
                          <a:solidFill>
                            <a:srgbClr val="111111"/>
                          </a:solidFill>
                          <a:latin typeface="Arial" pitchFamily="34" charset="0"/>
                          <a:ea typeface="Arial" pitchFamily="34" charset="-122"/>
                          <a:cs typeface="Arial" pitchFamily="34" charset="-120"/>
                        </a:rPr>
                        <a:t>Des règles communes de gestion de la charge</a:t>
                      </a: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FFFFF"/>
                    </a:solidFill>
                  </a:tcPr>
                </a:tc>
                <a:tc>
                  <a:txBody>
                    <a:bodyPr/>
                    <a:lstStyle/>
                    <a:p>
                      <a:pPr indent="0" marL="0">
                        <a:buNone/>
                      </a:pP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FFFFF"/>
                    </a:solidFill>
                  </a:tcPr>
                </a:tc>
                <a:tc>
                  <a:txBody>
                    <a:bodyPr/>
                    <a:lstStyle/>
                    <a:p>
                      <a:pPr indent="0" marL="0">
                        <a:buNone/>
                      </a:pPr>
                      <a:endParaRPr lang="en-US" sz="1400" dirty="0">
                        <a:latin typeface="Arial" charset="0"/>
                        <a:ea typeface="Arial" charset="0"/>
                        <a:cs typeface="Arial" charset="0"/>
                      </a:endParaRPr>
                    </a:p>
                  </a:txBody>
                  <a:tcPr marL="109728" marR="109728" marT="109728" marB="109728" anchor="ctr">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7F7F7"/>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E30613"/>
          </a:solidFill>
          <a:ln/>
        </p:spPr>
      </p:sp>
      <p:sp>
        <p:nvSpPr>
          <p:cNvPr id="3" name="Text 1"/>
          <p:cNvSpPr/>
          <p:nvPr/>
        </p:nvSpPr>
        <p:spPr>
          <a:xfrm>
            <a:off x="10728655" y="6400800"/>
            <a:ext cx="1188720" cy="274320"/>
          </a:xfrm>
          <a:prstGeom prst="rect">
            <a:avLst/>
          </a:prstGeom>
          <a:noFill/>
          <a:ln/>
        </p:spPr>
        <p:txBody>
          <a:bodyPr wrap="square" rtlCol="0" anchor="ctr"/>
          <a:lstStyle/>
          <a:p>
            <a:pPr algn="r" indent="0" marL="0">
              <a:buNone/>
            </a:pPr>
            <a:r>
              <a:rPr lang="en-US" sz="1100" b="1" dirty="0">
                <a:solidFill>
                  <a:srgbClr val="6B6B6B"/>
                </a:solidFill>
                <a:latin typeface="Arial" pitchFamily="34" charset="0"/>
                <a:ea typeface="Arial" pitchFamily="34" charset="-122"/>
                <a:cs typeface="Arial" pitchFamily="34" charset="-120"/>
              </a:rPr>
              <a:t>12 / 13</a:t>
            </a:r>
            <a:endParaRPr lang="en-US" sz="1100" dirty="0"/>
          </a:p>
        </p:txBody>
      </p:sp>
      <p:sp>
        <p:nvSpPr>
          <p:cNvPr id="5" name="Text 2"/>
          <p:cNvSpPr/>
          <p:nvPr/>
        </p:nvSpPr>
        <p:spPr>
          <a:xfrm>
            <a:off x="685800" y="411480"/>
            <a:ext cx="10820095" cy="274320"/>
          </a:xfrm>
          <a:prstGeom prst="rect">
            <a:avLst/>
          </a:prstGeom>
          <a:noFill/>
          <a:ln/>
        </p:spPr>
        <p:txBody>
          <a:bodyPr wrap="square" rtlCol="0" anchor="ctr"/>
          <a:lstStyle/>
          <a:p>
            <a:pPr indent="0" marL="0">
              <a:buNone/>
            </a:pPr>
            <a:r>
              <a:rPr lang="en-US" sz="1200" b="1" spc="200" kern="0" dirty="0">
                <a:solidFill>
                  <a:srgbClr val="E30613"/>
                </a:solidFill>
                <a:latin typeface="Arial" pitchFamily="34" charset="0"/>
                <a:ea typeface="Arial" pitchFamily="34" charset="-122"/>
                <a:cs typeface="Arial" pitchFamily="34" charset="-120"/>
              </a:rPr>
              <a:t>CONCLUSION</a:t>
            </a:r>
            <a:endParaRPr lang="en-US" sz="1200" dirty="0"/>
          </a:p>
        </p:txBody>
      </p:sp>
      <p:sp>
        <p:nvSpPr>
          <p:cNvPr id="6" name="Text 3"/>
          <p:cNvSpPr/>
          <p:nvPr/>
        </p:nvSpPr>
        <p:spPr>
          <a:xfrm>
            <a:off x="685800" y="685800"/>
            <a:ext cx="10820095" cy="6858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On avance ensemble</a:t>
            </a:r>
            <a:endParaRPr lang="en-US" sz="3200" dirty="0"/>
          </a:p>
        </p:txBody>
      </p:sp>
      <p:sp>
        <p:nvSpPr>
          <p:cNvPr id="7" name="Shape 4"/>
          <p:cNvSpPr/>
          <p:nvPr/>
        </p:nvSpPr>
        <p:spPr>
          <a:xfrm>
            <a:off x="685800" y="2011680"/>
            <a:ext cx="64008" cy="3291840"/>
          </a:xfrm>
          <a:prstGeom prst="rect">
            <a:avLst/>
          </a:prstGeom>
          <a:solidFill>
            <a:srgbClr val="E30613"/>
          </a:solidFill>
          <a:ln/>
        </p:spPr>
      </p:sp>
      <p:sp>
        <p:nvSpPr>
          <p:cNvPr id="8" name="Text 5"/>
          <p:cNvSpPr/>
          <p:nvPr/>
        </p:nvSpPr>
        <p:spPr>
          <a:xfrm>
            <a:off x="960120" y="1920240"/>
            <a:ext cx="5760720" cy="3474720"/>
          </a:xfrm>
          <a:prstGeom prst="rect">
            <a:avLst/>
          </a:prstGeom>
          <a:noFill/>
          <a:ln/>
        </p:spPr>
        <p:txBody>
          <a:bodyPr wrap="square" rtlCol="0" anchor="ctr"/>
          <a:lstStyle/>
          <a:p>
            <a:pPr indent="0" marL="0">
              <a:lnSpc>
                <a:spcPct val="120000"/>
              </a:lnSpc>
              <a:buNone/>
            </a:pPr>
            <a:r>
              <a:rPr lang="en-US" sz="1900" dirty="0">
                <a:solidFill>
                  <a:srgbClr val="E6E6E6"/>
                </a:solidFill>
                <a:latin typeface="Arial" pitchFamily="34" charset="0"/>
                <a:ea typeface="Arial" pitchFamily="34" charset="-122"/>
                <a:cs typeface="Arial" pitchFamily="34" charset="-120"/>
              </a:rPr>
              <a:t>Le but de cette organisation est que chacun sache quoi traiter, comment le traiter et où retrouver les bonnes informations. Avec des tâches mieux renseignées et une répartition plus claire, nous pouvons faciliter le travail de tous et améliorer le suivi collectif.</a:t>
            </a:r>
            <a:endParaRPr lang="en-US" sz="1900" dirty="0"/>
          </a:p>
        </p:txBody>
      </p:sp>
      <p:sp>
        <p:nvSpPr>
          <p:cNvPr id="9" name="Text 6"/>
          <p:cNvSpPr/>
          <p:nvPr/>
        </p:nvSpPr>
        <p:spPr>
          <a:xfrm>
            <a:off x="6949440" y="1965960"/>
            <a:ext cx="4556455" cy="320040"/>
          </a:xfrm>
          <a:prstGeom prst="rect">
            <a:avLst/>
          </a:prstGeom>
          <a:noFill/>
          <a:ln/>
        </p:spPr>
        <p:txBody>
          <a:bodyPr wrap="square" rtlCol="0" anchor="ctr"/>
          <a:lstStyle/>
          <a:p>
            <a:pPr indent="0" marL="0">
              <a:buNone/>
            </a:pPr>
            <a:r>
              <a:rPr lang="en-US" sz="1200" b="1" spc="200" kern="0" dirty="0">
                <a:solidFill>
                  <a:srgbClr val="E30613"/>
                </a:solidFill>
                <a:latin typeface="Arial" pitchFamily="34" charset="0"/>
                <a:ea typeface="Arial" pitchFamily="34" charset="-122"/>
                <a:cs typeface="Arial" pitchFamily="34" charset="-120"/>
              </a:rPr>
              <a:t>TROIS RÉFLEXES À RETENIR</a:t>
            </a:r>
            <a:endParaRPr lang="en-US" sz="1200" dirty="0"/>
          </a:p>
        </p:txBody>
      </p:sp>
      <p:sp>
        <p:nvSpPr>
          <p:cNvPr id="10" name="Shape 7"/>
          <p:cNvSpPr/>
          <p:nvPr/>
        </p:nvSpPr>
        <p:spPr>
          <a:xfrm>
            <a:off x="6949440" y="2423160"/>
            <a:ext cx="4556455" cy="841248"/>
          </a:xfrm>
          <a:prstGeom prst="roundRect">
            <a:avLst>
              <a:gd name="adj" fmla="val 13043"/>
            </a:avLst>
          </a:prstGeom>
          <a:solidFill>
            <a:srgbClr val="242424"/>
          </a:solidFill>
          <a:ln/>
        </p:spPr>
      </p:sp>
      <p:sp>
        <p:nvSpPr>
          <p:cNvPr id="11" name="Shape 8"/>
          <p:cNvSpPr/>
          <p:nvPr/>
        </p:nvSpPr>
        <p:spPr>
          <a:xfrm>
            <a:off x="7132320" y="2615184"/>
            <a:ext cx="457200" cy="457200"/>
          </a:xfrm>
          <a:prstGeom prst="ellipse">
            <a:avLst/>
          </a:prstGeom>
          <a:solidFill>
            <a:srgbClr val="E30613"/>
          </a:solidFill>
          <a:ln/>
        </p:spPr>
      </p:sp>
      <p:sp>
        <p:nvSpPr>
          <p:cNvPr id="12" name="Text 9"/>
          <p:cNvSpPr/>
          <p:nvPr/>
        </p:nvSpPr>
        <p:spPr>
          <a:xfrm>
            <a:off x="7132320" y="2615184"/>
            <a:ext cx="457200" cy="457200"/>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13" name="Text 10"/>
          <p:cNvSpPr/>
          <p:nvPr/>
        </p:nvSpPr>
        <p:spPr>
          <a:xfrm>
            <a:off x="7772400" y="2423160"/>
            <a:ext cx="3596335" cy="841248"/>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Utiliser le bon template</a:t>
            </a:r>
            <a:endParaRPr lang="en-US" sz="1600" dirty="0"/>
          </a:p>
        </p:txBody>
      </p:sp>
      <p:sp>
        <p:nvSpPr>
          <p:cNvPr id="14" name="Shape 11"/>
          <p:cNvSpPr/>
          <p:nvPr/>
        </p:nvSpPr>
        <p:spPr>
          <a:xfrm>
            <a:off x="6949440" y="3410712"/>
            <a:ext cx="4556455" cy="841248"/>
          </a:xfrm>
          <a:prstGeom prst="roundRect">
            <a:avLst>
              <a:gd name="adj" fmla="val 13043"/>
            </a:avLst>
          </a:prstGeom>
          <a:solidFill>
            <a:srgbClr val="242424"/>
          </a:solidFill>
          <a:ln/>
        </p:spPr>
      </p:sp>
      <p:sp>
        <p:nvSpPr>
          <p:cNvPr id="15" name="Shape 12"/>
          <p:cNvSpPr/>
          <p:nvPr/>
        </p:nvSpPr>
        <p:spPr>
          <a:xfrm>
            <a:off x="7132320" y="3602736"/>
            <a:ext cx="457200" cy="457200"/>
          </a:xfrm>
          <a:prstGeom prst="ellipse">
            <a:avLst/>
          </a:prstGeom>
          <a:solidFill>
            <a:srgbClr val="E30613"/>
          </a:solidFill>
          <a:ln/>
        </p:spPr>
      </p:sp>
      <p:sp>
        <p:nvSpPr>
          <p:cNvPr id="16" name="Text 13"/>
          <p:cNvSpPr/>
          <p:nvPr/>
        </p:nvSpPr>
        <p:spPr>
          <a:xfrm>
            <a:off x="7132320" y="3602736"/>
            <a:ext cx="457200" cy="457200"/>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7" name="Text 14"/>
          <p:cNvSpPr/>
          <p:nvPr/>
        </p:nvSpPr>
        <p:spPr>
          <a:xfrm>
            <a:off x="7772400" y="3410712"/>
            <a:ext cx="3596335" cy="841248"/>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Renseigner les informations nécessaires</a:t>
            </a:r>
            <a:endParaRPr lang="en-US" sz="1600" dirty="0"/>
          </a:p>
        </p:txBody>
      </p:sp>
      <p:sp>
        <p:nvSpPr>
          <p:cNvPr id="18" name="Shape 15"/>
          <p:cNvSpPr/>
          <p:nvPr/>
        </p:nvSpPr>
        <p:spPr>
          <a:xfrm>
            <a:off x="6949440" y="4398264"/>
            <a:ext cx="4556455" cy="841248"/>
          </a:xfrm>
          <a:prstGeom prst="roundRect">
            <a:avLst>
              <a:gd name="adj" fmla="val 13043"/>
            </a:avLst>
          </a:prstGeom>
          <a:solidFill>
            <a:srgbClr val="242424"/>
          </a:solidFill>
          <a:ln/>
        </p:spPr>
      </p:sp>
      <p:sp>
        <p:nvSpPr>
          <p:cNvPr id="19" name="Shape 16"/>
          <p:cNvSpPr/>
          <p:nvPr/>
        </p:nvSpPr>
        <p:spPr>
          <a:xfrm>
            <a:off x="7132320" y="4590288"/>
            <a:ext cx="457200" cy="457200"/>
          </a:xfrm>
          <a:prstGeom prst="ellipse">
            <a:avLst/>
          </a:prstGeom>
          <a:solidFill>
            <a:srgbClr val="E30613"/>
          </a:solidFill>
          <a:ln/>
        </p:spPr>
      </p:sp>
      <p:sp>
        <p:nvSpPr>
          <p:cNvPr id="20" name="Text 17"/>
          <p:cNvSpPr/>
          <p:nvPr/>
        </p:nvSpPr>
        <p:spPr>
          <a:xfrm>
            <a:off x="7132320" y="4590288"/>
            <a:ext cx="457200" cy="457200"/>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1" name="Text 18"/>
          <p:cNvSpPr/>
          <p:nvPr/>
        </p:nvSpPr>
        <p:spPr>
          <a:xfrm>
            <a:off x="7772400" y="4398264"/>
            <a:ext cx="3596335" cy="841248"/>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Maintenir son portefeuille à jour et signaler les difficultés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E30613"/>
          </a:solidFill>
          <a:ln/>
        </p:spPr>
      </p:sp>
      <p:sp>
        <p:nvSpPr>
          <p:cNvPr id="3" name="Text 1"/>
          <p:cNvSpPr/>
          <p:nvPr/>
        </p:nvSpPr>
        <p:spPr>
          <a:xfrm>
            <a:off x="10728655" y="6400800"/>
            <a:ext cx="1188720" cy="274320"/>
          </a:xfrm>
          <a:prstGeom prst="rect">
            <a:avLst/>
          </a:prstGeom>
          <a:noFill/>
          <a:ln/>
        </p:spPr>
        <p:txBody>
          <a:bodyPr wrap="square" rtlCol="0" anchor="ctr"/>
          <a:lstStyle/>
          <a:p>
            <a:pPr algn="r" indent="0" marL="0">
              <a:buNone/>
            </a:pPr>
            <a:r>
              <a:rPr lang="en-US" sz="1100" b="1" dirty="0">
                <a:solidFill>
                  <a:srgbClr val="6B6B6B"/>
                </a:solidFill>
                <a:latin typeface="Arial" pitchFamily="34" charset="0"/>
                <a:ea typeface="Arial" pitchFamily="34" charset="-122"/>
                <a:cs typeface="Arial" pitchFamily="34" charset="-120"/>
              </a:rPr>
              <a:t>13 / 13</a:t>
            </a:r>
            <a:endParaRPr lang="en-US" sz="1100" dirty="0"/>
          </a:p>
        </p:txBody>
      </p:sp>
      <p:sp>
        <p:nvSpPr>
          <p:cNvPr id="5" name="Shape 2"/>
          <p:cNvSpPr/>
          <p:nvPr/>
        </p:nvSpPr>
        <p:spPr>
          <a:xfrm>
            <a:off x="822960" y="1828800"/>
            <a:ext cx="2926080" cy="2926080"/>
          </a:xfrm>
          <a:prstGeom prst="ellipse">
            <a:avLst/>
          </a:prstGeom>
          <a:solidFill>
            <a:srgbClr val="E30613"/>
          </a:solidFill>
          <a:ln/>
        </p:spPr>
      </p:sp>
      <p:sp>
        <p:nvSpPr>
          <p:cNvPr id="6" name="Text 3"/>
          <p:cNvSpPr/>
          <p:nvPr/>
        </p:nvSpPr>
        <p:spPr>
          <a:xfrm>
            <a:off x="822960" y="1828800"/>
            <a:ext cx="2926080" cy="2926080"/>
          </a:xfrm>
          <a:prstGeom prst="rect">
            <a:avLst/>
          </a:prstGeom>
          <a:noFill/>
          <a:ln/>
        </p:spPr>
        <p:txBody>
          <a:bodyPr wrap="square" rtlCol="0" anchor="ctr"/>
          <a:lstStyle/>
          <a:p>
            <a:pPr algn="ctr" indent="0" marL="0">
              <a:buNone/>
            </a:pPr>
            <a:r>
              <a:rPr lang="en-US" sz="15000" b="1" dirty="0">
                <a:solidFill>
                  <a:srgbClr val="FFFFFF"/>
                </a:solidFill>
                <a:latin typeface="Arial" pitchFamily="34" charset="0"/>
                <a:ea typeface="Arial" pitchFamily="34" charset="-122"/>
                <a:cs typeface="Arial" pitchFamily="34" charset="-120"/>
              </a:rPr>
              <a:t>?</a:t>
            </a:r>
            <a:endParaRPr lang="en-US" sz="15000" dirty="0"/>
          </a:p>
        </p:txBody>
      </p:sp>
      <p:sp>
        <p:nvSpPr>
          <p:cNvPr id="7" name="Text 4"/>
          <p:cNvSpPr/>
          <p:nvPr/>
        </p:nvSpPr>
        <p:spPr>
          <a:xfrm>
            <a:off x="4297680" y="2011680"/>
            <a:ext cx="7315200" cy="1097280"/>
          </a:xfrm>
          <a:prstGeom prst="rect">
            <a:avLst/>
          </a:prstGeom>
          <a:noFill/>
          <a:ln/>
        </p:spPr>
        <p:txBody>
          <a:bodyPr wrap="square" rtlCol="0" anchor="ctr"/>
          <a:lstStyle/>
          <a:p>
            <a:pPr indent="0" marL="0">
              <a:buNone/>
            </a:pPr>
            <a:r>
              <a:rPr lang="en-US" sz="6000" b="1" dirty="0">
                <a:solidFill>
                  <a:srgbClr val="FFFFFF"/>
                </a:solidFill>
                <a:latin typeface="Arial" pitchFamily="34" charset="0"/>
                <a:ea typeface="Arial" pitchFamily="34" charset="-122"/>
                <a:cs typeface="Arial" pitchFamily="34" charset="-120"/>
              </a:rPr>
              <a:t>Vos questions</a:t>
            </a:r>
            <a:endParaRPr lang="en-US" sz="6000" dirty="0"/>
          </a:p>
        </p:txBody>
      </p:sp>
      <p:sp>
        <p:nvSpPr>
          <p:cNvPr id="8" name="Text 5"/>
          <p:cNvSpPr/>
          <p:nvPr/>
        </p:nvSpPr>
        <p:spPr>
          <a:xfrm>
            <a:off x="4297680" y="3154680"/>
            <a:ext cx="7315200" cy="548640"/>
          </a:xfrm>
          <a:prstGeom prst="rect">
            <a:avLst/>
          </a:prstGeom>
          <a:noFill/>
          <a:ln/>
        </p:spPr>
        <p:txBody>
          <a:bodyPr wrap="square" rtlCol="0" anchor="ctr"/>
          <a:lstStyle/>
          <a:p>
            <a:pPr indent="0" marL="0">
              <a:buNone/>
            </a:pPr>
            <a:r>
              <a:rPr lang="en-US" sz="2200" dirty="0">
                <a:solidFill>
                  <a:srgbClr val="CCCCCC"/>
                </a:solidFill>
                <a:latin typeface="Arial" pitchFamily="34" charset="0"/>
                <a:ea typeface="Arial" pitchFamily="34" charset="-122"/>
                <a:cs typeface="Arial" pitchFamily="34" charset="-120"/>
              </a:rPr>
              <a:t>Un point n’est pas clair ? C’est le moment d’en parler.</a:t>
            </a:r>
            <a:endParaRPr lang="en-US" sz="2200" dirty="0"/>
          </a:p>
        </p:txBody>
      </p:sp>
      <p:sp>
        <p:nvSpPr>
          <p:cNvPr id="9" name="Text 6"/>
          <p:cNvSpPr/>
          <p:nvPr/>
        </p:nvSpPr>
        <p:spPr>
          <a:xfrm>
            <a:off x="4297680" y="4023360"/>
            <a:ext cx="7315200" cy="320040"/>
          </a:xfrm>
          <a:prstGeom prst="rect">
            <a:avLst/>
          </a:prstGeom>
          <a:noFill/>
          <a:ln/>
        </p:spPr>
        <p:txBody>
          <a:bodyPr wrap="square" rtlCol="0" anchor="ctr"/>
          <a:lstStyle/>
          <a:p>
            <a:pPr indent="0" marL="0">
              <a:buNone/>
            </a:pPr>
            <a:r>
              <a:rPr lang="en-US" sz="1200" b="1" spc="200" kern="0" dirty="0">
                <a:solidFill>
                  <a:srgbClr val="E30613"/>
                </a:solidFill>
                <a:latin typeface="Arial" pitchFamily="34" charset="0"/>
                <a:ea typeface="Arial" pitchFamily="34" charset="-122"/>
                <a:cs typeface="Arial" pitchFamily="34" charset="-120"/>
              </a:rPr>
              <a:t>TROIS RÉFLEXES À RETENIR</a:t>
            </a:r>
            <a:endParaRPr lang="en-US" sz="1200" dirty="0"/>
          </a:p>
        </p:txBody>
      </p:sp>
      <p:sp>
        <p:nvSpPr>
          <p:cNvPr id="10" name="Text 7"/>
          <p:cNvSpPr/>
          <p:nvPr/>
        </p:nvSpPr>
        <p:spPr>
          <a:xfrm>
            <a:off x="4297680" y="4389120"/>
            <a:ext cx="7315200" cy="1097280"/>
          </a:xfrm>
          <a:prstGeom prst="rect">
            <a:avLst/>
          </a:prstGeom>
          <a:noFill/>
          <a:ln/>
        </p:spPr>
        <p:txBody>
          <a:bodyPr wrap="square" rtlCol="0" anchor="t"/>
          <a:lstStyle/>
          <a:p>
            <a:pPr indent="0" marL="0">
              <a:spcAft>
                <a:spcPts val="400"/>
              </a:spcAft>
              <a:buNone/>
            </a:pPr>
            <a:r>
              <a:rPr lang="en-US" sz="1500" dirty="0">
                <a:solidFill>
                  <a:srgbClr val="FFFFFF"/>
                </a:solidFill>
                <a:latin typeface="Arial" pitchFamily="34" charset="0"/>
                <a:ea typeface="Arial" pitchFamily="34" charset="-122"/>
                <a:cs typeface="Arial" pitchFamily="34" charset="-120"/>
              </a:rPr>
              <a:t>1. Utiliser le bon template</a:t>
            </a:r>
            <a:endParaRPr lang="en-US" sz="1500" dirty="0"/>
          </a:p>
          <a:p>
            <a:pPr indent="0" marL="0">
              <a:spcAft>
                <a:spcPts val="400"/>
              </a:spcAft>
              <a:buNone/>
            </a:pPr>
            <a:r>
              <a:rPr lang="en-US" sz="1500" dirty="0">
                <a:solidFill>
                  <a:srgbClr val="FFFFFF"/>
                </a:solidFill>
                <a:latin typeface="Arial" pitchFamily="34" charset="0"/>
                <a:ea typeface="Arial" pitchFamily="34" charset="-122"/>
                <a:cs typeface="Arial" pitchFamily="34" charset="-120"/>
              </a:rPr>
              <a:t>2. Renseigner les informations nécessaires</a:t>
            </a:r>
            <a:endParaRPr lang="en-US" sz="1500" dirty="0"/>
          </a:p>
          <a:p>
            <a:pPr indent="0" marL="0">
              <a:spcAft>
                <a:spcPts val="400"/>
              </a:spcAft>
              <a:buNone/>
            </a:pPr>
            <a:r>
              <a:rPr lang="en-US" sz="1500" dirty="0">
                <a:solidFill>
                  <a:srgbClr val="FFFFFF"/>
                </a:solidFill>
                <a:latin typeface="Arial" pitchFamily="34" charset="0"/>
                <a:ea typeface="Arial" pitchFamily="34" charset="-122"/>
                <a:cs typeface="Arial" pitchFamily="34" charset="-120"/>
              </a:rPr>
              <a:t>3. Maintenir son portefeuille à jour et signaler les difficultés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Nouvelle organisation Movers</dc:title>
  <dc:subject>Présentation à l’équipe Movers</dc:subject>
  <dc:creator>PptxGenJS</dc:creator>
  <cp:lastModifiedBy>PptxGenJS</cp:lastModifiedBy>
  <cp:revision>1</cp:revision>
  <dcterms:created xsi:type="dcterms:W3CDTF">2026-10-27T14:09:37Z</dcterms:created>
  <dcterms:modified xsi:type="dcterms:W3CDTF">2026-10-27T14:09:37Z</dcterms:modified>
</cp:coreProperties>
</file>